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3" Type="http://schemas.openxmlformats.org/officeDocument/2006/relationships/viewProps" Target="viewProps.xml" /><Relationship Id="rId12" Type="http://schemas.openxmlformats.org/officeDocument/2006/relationships/presProps" Target="presProps.xml" /><Relationship Id="rId1" Type="http://schemas.openxmlformats.org/officeDocument/2006/relationships/slideMaster" Target="slideMasters/slideMaster1.xml" /><Relationship Id="rId15" Type="http://schemas.openxmlformats.org/officeDocument/2006/relationships/tableStyles" Target="tableStyles.xml" /><Relationship Id="rId1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Riverpod Provider Architecture</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Overview</a:t>
            </a:r>
          </a:p>
        </p:txBody>
      </p:sp>
      <p:sp>
        <p:nvSpPr>
          <p:cNvPr id="3" name="Content Placeholder 2"/>
          <p:cNvSpPr>
            <a:spLocks noGrp="1"/>
          </p:cNvSpPr>
          <p:nvPr>
            <p:ph idx="1"/>
          </p:nvPr>
        </p:nvSpPr>
        <p:spPr/>
        <p:txBody>
          <a:bodyPr/>
          <a:lstStyle/>
          <a:p>
            <a:pPr lvl="0" indent="0" marL="0">
              <a:buNone/>
            </a:pPr>
            <a:r>
              <a:rPr/>
              <a:t>This project uses </a:t>
            </a:r>
            <a:r>
              <a:rPr b="1"/>
              <a:t>Riverpod</a:t>
            </a:r>
            <a:r>
              <a:rPr/>
              <a:t> for state management with a layered architecture: Database → Repository → Providers → UI. Providers communicate through dependency watching (</a:t>
            </a:r>
            <a:r>
              <a:rPr>
                <a:latin typeface="Courier"/>
              </a:rPr>
              <a:t>ref.watch</a:t>
            </a:r>
            <a:r>
              <a:rPr/>
              <a:t>) creating a reactive data flow.</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Provider Communication Flow</a:t>
            </a:r>
          </a:p>
        </p:txBody>
      </p:sp>
      <p:sp>
        <p:nvSpPr>
          <p:cNvPr id="4" name="Text Placeholder 3"/>
          <p:cNvSpPr>
            <a:spLocks noGrp="1"/>
          </p:cNvSpPr>
          <p:nvPr>
            <p:ph idx="2" sz="half" type="body"/>
          </p:nvPr>
        </p:nvSpPr>
        <p:spPr/>
        <p:txBody>
          <a:bodyPr/>
          <a:lstStyle/>
          <a:p>
            <a:pPr lvl="0" indent="0" marL="0">
              <a:spcBef>
                <a:spcPts val="3000"/>
              </a:spcBef>
              <a:buNone/>
            </a:pPr>
            <a:r>
              <a:rPr b="1"/>
              <a:t>Architecture Layers</a:t>
            </a:r>
          </a:p>
          <a:p>
            <a:pPr lvl="0" indent="0">
              <a:buNone/>
            </a:pPr>
            <a:r>
              <a:rPr>
                <a:latin typeface="Courier"/>
              </a:rPr>
              <a:t>┌─────────────────────────────────────────────────────────────┐
│                     UI Layer (Widgets)                      │
│  ConsumerWidget - watches providers &amp; displays data         │
└────────────────────┬───────────────────┬────────────────────┘
                     │                   │
          ref.read().notifier.xxx()    ref.watch()
          (mutations &amp; updates)         (reads &amp; listens)
                     │                   │
┌────────────────────▼───────────────────▼────────────────────┐
│          State Management Layer (Providers)                 │
│  ┌──────────────────────────────────────────────────────┐  │
│  │ State Notifiers (NotifierProvider)                   │  │
│  │ - searchQueryProvider, typeFilterProvider           │  │
│  │ - selectedOwnerIdProvider, statusFilterProvider     │  │
│  └─────────┬────────────────────────────────────────────┘  │
│            │ ref.watch() triggers rebuild ↓                 │
│  ┌─────────▼──────────────────────────────────────────┐    │
│  │ Computed Providers (AsyncNotifierProvider)         │    │
│  │ - filteredTodosProvider (watches state notifiers)  │    │
│  │ - Automatically rebuilds when dependencies change  │    │
│  └─────────┬──────────────────────────────────────────┘    │
│            │ ref.watch() to get data source ↓               │
│  ┌─────────▼──────────────────────────────────────────┐    │
│  │ Data Providers (FutureProvider)                    │    │
│  │ - ownersProvider, petsProvider                     │    │
│  │ - petsWithOwnersProvider (database view)          │    │
│  └─────────┬──────────────────────────────────────────┘    │
└────────────┼────────────────────────────────────────────────┘
             │ ref.watch() to get repository ↓
┌────────────▼────────────────────────────────────────────────┐
│              Repository Layer (FutureProvider)              │
│  - todoRepositoryProvider, petRepositoryProvider            │
│  - Business logic &amp; DAO abstraction                         │
└────────────┬────────────────────────────────────────────────┘
             │ ref.watch() to get database ↓
┌────────────▼────────────────────────────────────────────────┐
│              Database Layer (FutureProvider)                │
│  - databaseProvider (singleton, cached)                     │
│  - Provides DAOs to repositories                            │
└─────────────────────────────────────────────────────────────┘</a:t>
            </a:r>
          </a:p>
          <a:p>
            <a:pPr lvl="0" indent="0" marL="0">
              <a:spcBef>
                <a:spcPts val="3000"/>
              </a:spcBef>
              <a:buNone/>
            </a:pPr>
            <a:r>
              <a:rPr b="1"/>
              <a:t>Reactive Data Flow Cycle</a:t>
            </a:r>
          </a:p>
          <a:p>
            <a:pPr lvl="0" indent="0" marL="0">
              <a:spcBef>
                <a:spcPts val="3000"/>
              </a:spcBef>
              <a:buNone/>
            </a:pPr>
            <a:r>
              <a:rPr b="1"/>
              <a:t>1️⃣ User Interaction → State Update</a:t>
            </a:r>
          </a:p>
          <a:p>
            <a:pPr lvl="0" indent="0">
              <a:buNone/>
            </a:pPr>
            <a:r>
              <a:rPr i="1">
                <a:solidFill>
                  <a:srgbClr val="60A0B0"/>
                </a:solidFill>
                <a:latin typeface="Courier"/>
              </a:rPr>
              <a:t>// UI Layer: User types in search bar</a:t>
            </a:r>
            <a:br/>
            <a:r>
              <a:rPr>
                <a:latin typeface="Courier"/>
              </a:rPr>
              <a:t>SearchBar(</a:t>
            </a:r>
            <a:br/>
            <a:r>
              <a:rPr>
                <a:latin typeface="Courier"/>
              </a:rPr>
              <a:t>  onChanged</a:t>
            </a:r>
            <a:r>
              <a:rPr>
                <a:solidFill>
                  <a:srgbClr val="666666"/>
                </a:solidFill>
                <a:latin typeface="Courier"/>
              </a:rPr>
              <a:t>:</a:t>
            </a:r>
            <a:r>
              <a:rPr>
                <a:latin typeface="Courier"/>
              </a:rPr>
              <a:t> (value) </a:t>
            </a:r>
            <a:r>
              <a:rPr>
                <a:solidFill>
                  <a:srgbClr val="666666"/>
                </a:solidFill>
                <a:latin typeface="Courier"/>
              </a:rPr>
              <a:t>=&gt;</a:t>
            </a:r>
            <a:r>
              <a:rPr>
                <a:latin typeface="Courier"/>
              </a:rPr>
              <a:t> </a:t>
            </a:r>
            <a:br/>
            <a:r>
              <a:rPr>
                <a:latin typeface="Courier"/>
              </a:rPr>
              <a:t>    ref</a:t>
            </a:r>
            <a:r>
              <a:rPr>
                <a:solidFill>
                  <a:srgbClr val="666666"/>
                </a:solidFill>
                <a:latin typeface="Courier"/>
              </a:rPr>
              <a:t>.</a:t>
            </a:r>
            <a:r>
              <a:rPr>
                <a:latin typeface="Courier"/>
              </a:rPr>
              <a:t>read(searchQueryProvider</a:t>
            </a:r>
            <a:r>
              <a:rPr>
                <a:solidFill>
                  <a:srgbClr val="666666"/>
                </a:solidFill>
                <a:latin typeface="Courier"/>
              </a:rPr>
              <a:t>.</a:t>
            </a:r>
            <a:r>
              <a:rPr>
                <a:latin typeface="Courier"/>
              </a:rPr>
              <a:t>notifier)</a:t>
            </a:r>
            <a:r>
              <a:rPr>
                <a:solidFill>
                  <a:srgbClr val="666666"/>
                </a:solidFill>
                <a:latin typeface="Courier"/>
              </a:rPr>
              <a:t>.</a:t>
            </a:r>
            <a:r>
              <a:rPr>
                <a:latin typeface="Courier"/>
              </a:rPr>
              <a:t>setQuery(value)</a:t>
            </a:r>
            <a:r>
              <a:rPr>
                <a:solidFill>
                  <a:srgbClr val="666666"/>
                </a:solidFill>
                <a:latin typeface="Courier"/>
              </a:rPr>
              <a:t>,</a:t>
            </a:r>
            <a:br/>
            <a:r>
              <a:rPr>
                <a:latin typeface="Courier"/>
              </a:rPr>
              <a:t>    </a:t>
            </a:r>
            <a:r>
              <a:rPr i="1">
                <a:solidFill>
                  <a:srgbClr val="60A0B0"/>
                </a:solidFill>
                <a:latin typeface="Courier"/>
              </a:rPr>
              <a:t>//    └─ ref.read() gets the notifier</a:t>
            </a:r>
            <a:br/>
            <a:r>
              <a:rPr>
                <a:latin typeface="Courier"/>
              </a:rPr>
              <a:t>    </a:t>
            </a:r>
            <a:r>
              <a:rPr i="1">
                <a:solidFill>
                  <a:srgbClr val="60A0B0"/>
                </a:solidFill>
                <a:latin typeface="Courier"/>
              </a:rPr>
              <a:t>//       └─ .notifier accesses the class methods</a:t>
            </a:r>
            <a:br/>
            <a:r>
              <a:rPr>
                <a:latin typeface="Courier"/>
              </a:rPr>
              <a:t>    </a:t>
            </a:r>
            <a:r>
              <a:rPr i="1">
                <a:solidFill>
                  <a:srgbClr val="60A0B0"/>
                </a:solidFill>
                <a:latin typeface="Courier"/>
              </a:rPr>
              <a:t>//          └─ .setQuery() updates internal state</a:t>
            </a:r>
            <a:br/>
            <a:r>
              <a:rPr>
                <a:latin typeface="Courier"/>
              </a:rPr>
              <a:t>)</a:t>
            </a:r>
          </a:p>
          <a:p>
            <a:pPr lvl="0" indent="0" marL="0">
              <a:buNone/>
            </a:pPr>
            <a:r>
              <a:rPr b="1"/>
              <a:t>Flow:</a:t>
            </a:r>
          </a:p>
          <a:p>
            <a:pPr lvl="0" indent="0">
              <a:buNone/>
            </a:pPr>
            <a:r>
              <a:rPr>
                <a:latin typeface="Courier"/>
              </a:rPr>
              <a:t>User Input → ref.read(provider.notifier).method() → State Updated</a:t>
            </a:r>
          </a:p>
          <a:p>
            <a:pPr lvl="0" indent="0" marL="0">
              <a:spcBef>
                <a:spcPts val="3000"/>
              </a:spcBef>
              <a:buNone/>
            </a:pPr>
            <a:r>
              <a:rPr b="1"/>
              <a:t>2️⃣ State Change → Automatic Rebuild</a:t>
            </a:r>
          </a:p>
          <a:p>
            <a:pPr lvl="0" indent="0">
              <a:buNone/>
            </a:pPr>
            <a:r>
              <a:rPr b="1">
                <a:solidFill>
                  <a:srgbClr val="007020"/>
                </a:solidFill>
                <a:latin typeface="Courier"/>
              </a:rPr>
              <a:t>class</a:t>
            </a:r>
            <a:r>
              <a:rPr>
                <a:latin typeface="Courier"/>
              </a:rPr>
              <a:t> FilteredTodosNotifier </a:t>
            </a:r>
            <a:r>
              <a:rPr b="1">
                <a:solidFill>
                  <a:srgbClr val="007020"/>
                </a:solidFill>
                <a:latin typeface="Courier"/>
              </a:rPr>
              <a:t>extends</a:t>
            </a:r>
            <a:r>
              <a:rPr>
                <a:latin typeface="Courier"/>
              </a:rPr>
              <a:t> AsyncNotifier</a:t>
            </a:r>
            <a:r>
              <a:rPr>
                <a:solidFill>
                  <a:srgbClr val="666666"/>
                </a:solidFill>
                <a:latin typeface="Courier"/>
              </a:rPr>
              <a:t>&lt;</a:t>
            </a:r>
            <a:r>
              <a:rPr>
                <a:solidFill>
                  <a:srgbClr val="902000"/>
                </a:solidFill>
                <a:latin typeface="Courier"/>
              </a:rPr>
              <a:t>List</a:t>
            </a:r>
            <a:r>
              <a:rPr>
                <a:solidFill>
                  <a:srgbClr val="666666"/>
                </a:solidFill>
                <a:latin typeface="Courier"/>
              </a:rPr>
              <a:t>&lt;</a:t>
            </a:r>
            <a:r>
              <a:rPr>
                <a:latin typeface="Courier"/>
              </a:rPr>
              <a:t>Todo</a:t>
            </a:r>
            <a:r>
              <a:rPr>
                <a:solidFill>
                  <a:srgbClr val="666666"/>
                </a:solidFill>
                <a:latin typeface="Courier"/>
              </a:rPr>
              <a:t>&gt;&gt;</a:t>
            </a:r>
            <a:r>
              <a:rPr>
                <a:latin typeface="Courier"/>
              </a:rPr>
              <a:t> </a:t>
            </a:r>
            <a:r>
              <a:rPr>
                <a:solidFill>
                  <a:srgbClr val="666666"/>
                </a:solidFill>
                <a:latin typeface="Courier"/>
              </a:rPr>
              <a:t>{</a:t>
            </a:r>
            <a:br/>
            <a:r>
              <a:rPr>
                <a:latin typeface="Courier"/>
              </a:rPr>
              <a:t>  </a:t>
            </a:r>
            <a:r>
              <a:rPr b="1">
                <a:solidFill>
                  <a:srgbClr val="007020"/>
                </a:solidFill>
                <a:latin typeface="Courier"/>
              </a:rPr>
              <a:t>@override</a:t>
            </a:r>
            <a:br/>
            <a:r>
              <a:rPr>
                <a:latin typeface="Courier"/>
              </a:rPr>
              <a:t>  </a:t>
            </a:r>
            <a:r>
              <a:rPr>
                <a:solidFill>
                  <a:srgbClr val="902000"/>
                </a:solidFill>
                <a:latin typeface="Courier"/>
              </a:rPr>
              <a:t>Future</a:t>
            </a:r>
            <a:r>
              <a:rPr>
                <a:solidFill>
                  <a:srgbClr val="666666"/>
                </a:solidFill>
                <a:latin typeface="Courier"/>
              </a:rPr>
              <a:t>&lt;</a:t>
            </a:r>
            <a:r>
              <a:rPr>
                <a:solidFill>
                  <a:srgbClr val="902000"/>
                </a:solidFill>
                <a:latin typeface="Courier"/>
              </a:rPr>
              <a:t>List</a:t>
            </a:r>
            <a:r>
              <a:rPr>
                <a:solidFill>
                  <a:srgbClr val="666666"/>
                </a:solidFill>
                <a:latin typeface="Courier"/>
              </a:rPr>
              <a:t>&lt;</a:t>
            </a:r>
            <a:r>
              <a:rPr>
                <a:latin typeface="Courier"/>
              </a:rPr>
              <a:t>Todo</a:t>
            </a:r>
            <a:r>
              <a:rPr>
                <a:solidFill>
                  <a:srgbClr val="666666"/>
                </a:solidFill>
                <a:latin typeface="Courier"/>
              </a:rPr>
              <a:t>&gt;&gt;</a:t>
            </a:r>
            <a:r>
              <a:rPr>
                <a:latin typeface="Courier"/>
              </a:rPr>
              <a:t> build() </a:t>
            </a:r>
            <a:r>
              <a:rPr>
                <a:solidFill>
                  <a:srgbClr val="7D9029"/>
                </a:solidFill>
                <a:latin typeface="Courier"/>
              </a:rPr>
              <a:t>async</a:t>
            </a:r>
            <a:r>
              <a:rPr>
                <a:latin typeface="Courier"/>
              </a:rPr>
              <a:t> </a:t>
            </a:r>
            <a:r>
              <a:rPr>
                <a:solidFill>
                  <a:srgbClr val="666666"/>
                </a:solidFill>
                <a:latin typeface="Courier"/>
              </a:rPr>
              <a:t>{</a:t>
            </a:r>
            <a:br/>
            <a:r>
              <a:rPr>
                <a:latin typeface="Courier"/>
              </a:rPr>
              <a:t>    </a:t>
            </a:r>
            <a:r>
              <a:rPr i="1">
                <a:solidFill>
                  <a:srgbClr val="60A0B0"/>
                </a:solidFill>
                <a:latin typeface="Courier"/>
              </a:rPr>
              <a:t>// 👀 Watching state - rebuilds when searchQueryProvider changes</a:t>
            </a:r>
            <a:br/>
            <a:r>
              <a:rPr>
                <a:latin typeface="Courier"/>
              </a:rPr>
              <a:t>    </a:t>
            </a:r>
            <a:r>
              <a:rPr>
                <a:solidFill>
                  <a:srgbClr val="7D9029"/>
                </a:solidFill>
                <a:latin typeface="Courier"/>
              </a:rPr>
              <a:t>final</a:t>
            </a:r>
            <a:r>
              <a:rPr>
                <a:latin typeface="Courier"/>
              </a:rPr>
              <a:t> searchQuery </a:t>
            </a:r>
            <a:r>
              <a:rPr>
                <a:solidFill>
                  <a:srgbClr val="666666"/>
                </a:solidFill>
                <a:latin typeface="Courier"/>
              </a:rPr>
              <a:t>=</a:t>
            </a:r>
            <a:r>
              <a:rPr>
                <a:latin typeface="Courier"/>
              </a:rPr>
              <a:t> ref</a:t>
            </a:r>
            <a:r>
              <a:rPr>
                <a:solidFill>
                  <a:srgbClr val="666666"/>
                </a:solidFill>
                <a:latin typeface="Courier"/>
              </a:rPr>
              <a:t>.</a:t>
            </a:r>
            <a:r>
              <a:rPr>
                <a:latin typeface="Courier"/>
              </a:rPr>
              <a:t>watch(searchQueryProvider);</a:t>
            </a:r>
            <a:br/>
            <a:r>
              <a:rPr>
                <a:latin typeface="Courier"/>
              </a:rPr>
              <a:t>    </a:t>
            </a:r>
            <a:r>
              <a:rPr>
                <a:solidFill>
                  <a:srgbClr val="7D9029"/>
                </a:solidFill>
                <a:latin typeface="Courier"/>
              </a:rPr>
              <a:t>final</a:t>
            </a:r>
            <a:r>
              <a:rPr>
                <a:latin typeface="Courier"/>
              </a:rPr>
              <a:t> typeFilter </a:t>
            </a:r>
            <a:r>
              <a:rPr>
                <a:solidFill>
                  <a:srgbClr val="666666"/>
                </a:solidFill>
                <a:latin typeface="Courier"/>
              </a:rPr>
              <a:t>=</a:t>
            </a:r>
            <a:r>
              <a:rPr>
                <a:latin typeface="Courier"/>
              </a:rPr>
              <a:t> ref</a:t>
            </a:r>
            <a:r>
              <a:rPr>
                <a:solidFill>
                  <a:srgbClr val="666666"/>
                </a:solidFill>
                <a:latin typeface="Courier"/>
              </a:rPr>
              <a:t>.</a:t>
            </a:r>
            <a:r>
              <a:rPr>
                <a:latin typeface="Courier"/>
              </a:rPr>
              <a:t>watch(typeFilterProvider);</a:t>
            </a:r>
            <a:br/>
            <a:r>
              <a:rPr>
                <a:latin typeface="Courier"/>
              </a:rPr>
              <a:t>    </a:t>
            </a:r>
            <a:r>
              <a:rPr>
                <a:solidFill>
                  <a:srgbClr val="7D9029"/>
                </a:solidFill>
                <a:latin typeface="Courier"/>
              </a:rPr>
              <a:t>final</a:t>
            </a:r>
            <a:r>
              <a:rPr>
                <a:latin typeface="Courier"/>
              </a:rPr>
              <a:t> statusFilter </a:t>
            </a:r>
            <a:r>
              <a:rPr>
                <a:solidFill>
                  <a:srgbClr val="666666"/>
                </a:solidFill>
                <a:latin typeface="Courier"/>
              </a:rPr>
              <a:t>=</a:t>
            </a:r>
            <a:r>
              <a:rPr>
                <a:latin typeface="Courier"/>
              </a:rPr>
              <a:t> ref</a:t>
            </a:r>
            <a:r>
              <a:rPr>
                <a:solidFill>
                  <a:srgbClr val="666666"/>
                </a:solidFill>
                <a:latin typeface="Courier"/>
              </a:rPr>
              <a:t>.</a:t>
            </a:r>
            <a:r>
              <a:rPr>
                <a:latin typeface="Courier"/>
              </a:rPr>
              <a:t>watch(statusFilterProvider);</a:t>
            </a:r>
            <a:br/>
            <a:r>
              <a:rPr>
                <a:latin typeface="Courier"/>
              </a:rPr>
              <a:t>    </a:t>
            </a:r>
            <a:br/>
            <a:r>
              <a:rPr>
                <a:latin typeface="Courier"/>
              </a:rPr>
              <a:t>    </a:t>
            </a:r>
            <a:r>
              <a:rPr i="1">
                <a:solidFill>
                  <a:srgbClr val="60A0B0"/>
                </a:solidFill>
                <a:latin typeface="Courier"/>
              </a:rPr>
              <a:t>// Get repository</a:t>
            </a:r>
            <a:br/>
            <a:r>
              <a:rPr>
                <a:latin typeface="Courier"/>
              </a:rPr>
              <a:t>    </a:t>
            </a:r>
            <a:r>
              <a:rPr>
                <a:solidFill>
                  <a:srgbClr val="7D9029"/>
                </a:solidFill>
                <a:latin typeface="Courier"/>
              </a:rPr>
              <a:t>final</a:t>
            </a:r>
            <a:r>
              <a:rPr>
                <a:latin typeface="Courier"/>
              </a:rPr>
              <a:t> repository </a:t>
            </a:r>
            <a:r>
              <a:rPr>
                <a:solidFill>
                  <a:srgbClr val="666666"/>
                </a:solidFill>
                <a:latin typeface="Courier"/>
              </a:rPr>
              <a:t>=</a:t>
            </a:r>
            <a:r>
              <a:rPr>
                <a:latin typeface="Courier"/>
              </a:rPr>
              <a:t> </a:t>
            </a:r>
            <a:r>
              <a:rPr>
                <a:solidFill>
                  <a:srgbClr val="7D9029"/>
                </a:solidFill>
                <a:latin typeface="Courier"/>
              </a:rPr>
              <a:t>await</a:t>
            </a:r>
            <a:r>
              <a:rPr>
                <a:latin typeface="Courier"/>
              </a:rPr>
              <a:t> ref</a:t>
            </a:r>
            <a:r>
              <a:rPr>
                <a:solidFill>
                  <a:srgbClr val="666666"/>
                </a:solidFill>
                <a:latin typeface="Courier"/>
              </a:rPr>
              <a:t>.</a:t>
            </a:r>
            <a:r>
              <a:rPr>
                <a:latin typeface="Courier"/>
              </a:rPr>
              <a:t>watch(todoRepositoryProvider</a:t>
            </a:r>
            <a:r>
              <a:rPr>
                <a:solidFill>
                  <a:srgbClr val="666666"/>
                </a:solidFill>
                <a:latin typeface="Courier"/>
              </a:rPr>
              <a:t>.</a:t>
            </a:r>
            <a:r>
              <a:rPr>
                <a:latin typeface="Courier"/>
              </a:rPr>
              <a:t>future);</a:t>
            </a:r>
            <a:br/>
            <a:r>
              <a:rPr>
                <a:latin typeface="Courier"/>
              </a:rPr>
              <a:t>    </a:t>
            </a:r>
            <a:br/>
            <a:r>
              <a:rPr>
                <a:latin typeface="Courier"/>
              </a:rPr>
              <a:t>    </a:t>
            </a:r>
            <a:r>
              <a:rPr i="1">
                <a:solidFill>
                  <a:srgbClr val="60A0B0"/>
                </a:solidFill>
                <a:latin typeface="Courier"/>
              </a:rPr>
              <a:t>// Query database with current filters</a:t>
            </a:r>
            <a:br/>
            <a:r>
              <a:rPr>
                <a:latin typeface="Courier"/>
              </a:rPr>
              <a:t>    </a:t>
            </a:r>
            <a:r>
              <a:rPr b="1">
                <a:solidFill>
                  <a:srgbClr val="007020"/>
                </a:solidFill>
                <a:latin typeface="Courier"/>
              </a:rPr>
              <a:t>return</a:t>
            </a:r>
            <a:r>
              <a:rPr>
                <a:latin typeface="Courier"/>
              </a:rPr>
              <a:t> </a:t>
            </a:r>
            <a:r>
              <a:rPr>
                <a:solidFill>
                  <a:srgbClr val="7D9029"/>
                </a:solidFill>
                <a:latin typeface="Courier"/>
              </a:rPr>
              <a:t>await</a:t>
            </a:r>
            <a:r>
              <a:rPr>
                <a:latin typeface="Courier"/>
              </a:rPr>
              <a:t> repository</a:t>
            </a:r>
            <a:r>
              <a:rPr>
                <a:solidFill>
                  <a:srgbClr val="666666"/>
                </a:solidFill>
                <a:latin typeface="Courier"/>
              </a:rPr>
              <a:t>.</a:t>
            </a:r>
            <a:r>
              <a:rPr>
                <a:latin typeface="Courier"/>
              </a:rPr>
              <a:t>searchTodos(</a:t>
            </a:r>
            <a:br/>
            <a:r>
              <a:rPr>
                <a:latin typeface="Courier"/>
              </a:rPr>
              <a:t>      searchQuery</a:t>
            </a:r>
            <a:r>
              <a:rPr>
                <a:solidFill>
                  <a:srgbClr val="666666"/>
                </a:solidFill>
                <a:latin typeface="Courier"/>
              </a:rPr>
              <a:t>:</a:t>
            </a:r>
            <a:r>
              <a:rPr>
                <a:latin typeface="Courier"/>
              </a:rPr>
              <a:t> searchQuery</a:t>
            </a:r>
            <a:r>
              <a:rPr>
                <a:solidFill>
                  <a:srgbClr val="666666"/>
                </a:solidFill>
                <a:latin typeface="Courier"/>
              </a:rPr>
              <a:t>,</a:t>
            </a:r>
            <a:br/>
            <a:r>
              <a:rPr>
                <a:latin typeface="Courier"/>
              </a:rPr>
              <a:t>      typeFilter</a:t>
            </a:r>
            <a:r>
              <a:rPr>
                <a:solidFill>
                  <a:srgbClr val="666666"/>
                </a:solidFill>
                <a:latin typeface="Courier"/>
              </a:rPr>
              <a:t>:</a:t>
            </a:r>
            <a:r>
              <a:rPr>
                <a:latin typeface="Courier"/>
              </a:rPr>
              <a:t> typeFilter</a:t>
            </a:r>
            <a:r>
              <a:rPr>
                <a:solidFill>
                  <a:srgbClr val="666666"/>
                </a:solidFill>
                <a:latin typeface="Courier"/>
              </a:rPr>
              <a:t>,</a:t>
            </a:r>
            <a:br/>
            <a:r>
              <a:rPr>
                <a:latin typeface="Courier"/>
              </a:rPr>
              <a:t>      statusFilter</a:t>
            </a:r>
            <a:r>
              <a:rPr>
                <a:solidFill>
                  <a:srgbClr val="666666"/>
                </a:solidFill>
                <a:latin typeface="Courier"/>
              </a:rPr>
              <a:t>:</a:t>
            </a:r>
            <a:r>
              <a:rPr>
                <a:latin typeface="Courier"/>
              </a:rPr>
              <a:t> statusFilter</a:t>
            </a:r>
            <a:r>
              <a:rPr>
                <a:solidFill>
                  <a:srgbClr val="666666"/>
                </a:solidFill>
                <a:latin typeface="Courier"/>
              </a:rPr>
              <a:t>,</a:t>
            </a:r>
            <a:br/>
            <a:r>
              <a:rPr>
                <a:latin typeface="Courier"/>
              </a:rPr>
              <a:t>    );</a:t>
            </a:r>
            <a:br/>
            <a:r>
              <a:rPr>
                <a:latin typeface="Courier"/>
              </a:rPr>
              <a:t>  </a:t>
            </a:r>
            <a:r>
              <a:rPr>
                <a:solidFill>
                  <a:srgbClr val="666666"/>
                </a:solidFill>
                <a:latin typeface="Courier"/>
              </a:rPr>
              <a:t>}</a:t>
            </a:r>
            <a:br/>
            <a:r>
              <a:rPr>
                <a:solidFill>
                  <a:srgbClr val="666666"/>
                </a:solidFill>
                <a:latin typeface="Courier"/>
              </a:rPr>
              <a:t>}</a:t>
            </a:r>
          </a:p>
          <a:p>
            <a:pPr lvl="0" indent="0" marL="0">
              <a:buNone/>
            </a:pPr>
            <a:r>
              <a:rPr b="1"/>
              <a:t>Flow:</a:t>
            </a:r>
          </a:p>
          <a:p>
            <a:pPr lvl="0" indent="0">
              <a:buNone/>
            </a:pPr>
            <a:r>
              <a:rPr>
                <a:latin typeface="Courier"/>
              </a:rPr>
              <a:t>searchQueryProvider state changes
        ↓
ref.watch() detects change
        ↓
filteredTodosProvider.build() called automatically
        ↓
New database query executed
        ↓
AsyncValue&lt;List&lt;Todo&gt;&gt; updated</a:t>
            </a:r>
          </a:p>
          <a:p>
            <a:pPr lvl="0" indent="0" marL="0">
              <a:spcBef>
                <a:spcPts val="3000"/>
              </a:spcBef>
              <a:buNone/>
            </a:pPr>
            <a:r>
              <a:rPr b="1"/>
              <a:t>3️⃣ Computed Provider → Repository → Database</a:t>
            </a:r>
          </a:p>
          <a:p>
            <a:pPr lvl="0" indent="0">
              <a:buNone/>
            </a:pPr>
            <a:r>
              <a:rPr i="1">
                <a:solidFill>
                  <a:srgbClr val="60A0B0"/>
                </a:solidFill>
                <a:latin typeface="Courier"/>
              </a:rPr>
              <a:t>// Computed provider watches repository provider</a:t>
            </a:r>
            <a:br/>
            <a:r>
              <a:rPr>
                <a:solidFill>
                  <a:srgbClr val="7D9029"/>
                </a:solidFill>
                <a:latin typeface="Courier"/>
              </a:rPr>
              <a:t>final</a:t>
            </a:r>
            <a:r>
              <a:rPr>
                <a:latin typeface="Courier"/>
              </a:rPr>
              <a:t> repository </a:t>
            </a:r>
            <a:r>
              <a:rPr>
                <a:solidFill>
                  <a:srgbClr val="666666"/>
                </a:solidFill>
                <a:latin typeface="Courier"/>
              </a:rPr>
              <a:t>=</a:t>
            </a:r>
            <a:r>
              <a:rPr>
                <a:latin typeface="Courier"/>
              </a:rPr>
              <a:t> </a:t>
            </a:r>
            <a:r>
              <a:rPr>
                <a:solidFill>
                  <a:srgbClr val="7D9029"/>
                </a:solidFill>
                <a:latin typeface="Courier"/>
              </a:rPr>
              <a:t>await</a:t>
            </a:r>
            <a:r>
              <a:rPr>
                <a:latin typeface="Courier"/>
              </a:rPr>
              <a:t> ref</a:t>
            </a:r>
            <a:r>
              <a:rPr>
                <a:solidFill>
                  <a:srgbClr val="666666"/>
                </a:solidFill>
                <a:latin typeface="Courier"/>
              </a:rPr>
              <a:t>.</a:t>
            </a:r>
            <a:r>
              <a:rPr>
                <a:latin typeface="Courier"/>
              </a:rPr>
              <a:t>watch(todoRepositoryProvider</a:t>
            </a:r>
            <a:r>
              <a:rPr>
                <a:solidFill>
                  <a:srgbClr val="666666"/>
                </a:solidFill>
                <a:latin typeface="Courier"/>
              </a:rPr>
              <a:t>.</a:t>
            </a:r>
            <a:r>
              <a:rPr>
                <a:latin typeface="Courier"/>
              </a:rPr>
              <a:t>future);</a:t>
            </a:r>
            <a:br/>
            <a:br/>
            <a:r>
              <a:rPr i="1">
                <a:solidFill>
                  <a:srgbClr val="60A0B0"/>
                </a:solidFill>
                <a:latin typeface="Courier"/>
              </a:rPr>
              <a:t>// Repository provider watches database provider</a:t>
            </a:r>
            <a:br/>
            <a:r>
              <a:rPr>
                <a:solidFill>
                  <a:srgbClr val="7D9029"/>
                </a:solidFill>
                <a:latin typeface="Courier"/>
              </a:rPr>
              <a:t>final</a:t>
            </a:r>
            <a:r>
              <a:rPr>
                <a:latin typeface="Courier"/>
              </a:rPr>
              <a:t> database </a:t>
            </a:r>
            <a:r>
              <a:rPr>
                <a:solidFill>
                  <a:srgbClr val="666666"/>
                </a:solidFill>
                <a:latin typeface="Courier"/>
              </a:rPr>
              <a:t>=</a:t>
            </a:r>
            <a:r>
              <a:rPr>
                <a:latin typeface="Courier"/>
              </a:rPr>
              <a:t> </a:t>
            </a:r>
            <a:r>
              <a:rPr>
                <a:solidFill>
                  <a:srgbClr val="7D9029"/>
                </a:solidFill>
                <a:latin typeface="Courier"/>
              </a:rPr>
              <a:t>await</a:t>
            </a:r>
            <a:r>
              <a:rPr>
                <a:latin typeface="Courier"/>
              </a:rPr>
              <a:t> ref</a:t>
            </a:r>
            <a:r>
              <a:rPr>
                <a:solidFill>
                  <a:srgbClr val="666666"/>
                </a:solidFill>
                <a:latin typeface="Courier"/>
              </a:rPr>
              <a:t>.</a:t>
            </a:r>
            <a:r>
              <a:rPr>
                <a:latin typeface="Courier"/>
              </a:rPr>
              <a:t>watch(databaseProvider</a:t>
            </a:r>
            <a:r>
              <a:rPr>
                <a:solidFill>
                  <a:srgbClr val="666666"/>
                </a:solidFill>
                <a:latin typeface="Courier"/>
              </a:rPr>
              <a:t>.</a:t>
            </a:r>
            <a:r>
              <a:rPr>
                <a:latin typeface="Courier"/>
              </a:rPr>
              <a:t>future);</a:t>
            </a:r>
            <a:br/>
            <a:br/>
            <a:r>
              <a:rPr i="1">
                <a:solidFill>
                  <a:srgbClr val="60A0B0"/>
                </a:solidFill>
                <a:latin typeface="Courier"/>
              </a:rPr>
              <a:t>// Repository exposes DAO methods</a:t>
            </a:r>
            <a:br/>
            <a:r>
              <a:rPr b="1">
                <a:solidFill>
                  <a:srgbClr val="007020"/>
                </a:solidFill>
                <a:latin typeface="Courier"/>
              </a:rPr>
              <a:t>return</a:t>
            </a:r>
            <a:r>
              <a:rPr>
                <a:latin typeface="Courier"/>
              </a:rPr>
              <a:t> TodoRepository(database</a:t>
            </a:r>
            <a:r>
              <a:rPr>
                <a:solidFill>
                  <a:srgbClr val="666666"/>
                </a:solidFill>
                <a:latin typeface="Courier"/>
              </a:rPr>
              <a:t>.</a:t>
            </a:r>
            <a:r>
              <a:rPr>
                <a:latin typeface="Courier"/>
              </a:rPr>
              <a:t>todoDao);</a:t>
            </a:r>
          </a:p>
          <a:p>
            <a:pPr lvl="0" indent="0" marL="0">
              <a:buNone/>
            </a:pPr>
            <a:r>
              <a:rPr b="1"/>
              <a:t>Flow:</a:t>
            </a:r>
          </a:p>
          <a:p>
            <a:pPr lvl="0" indent="0">
              <a:buNone/>
            </a:pPr>
            <a:r>
              <a:rPr>
                <a:latin typeface="Courier"/>
              </a:rPr>
              <a:t>filteredTodosProvider
        ↓ ref.watch()
todoRepositoryProvider
        ↓ ref.watch()
databaseProvider
        ↓ provides
TodoDAO → SQL Query → SQLite Database</a:t>
            </a:r>
          </a:p>
          <a:p>
            <a:pPr lvl="0" indent="0" marL="0">
              <a:spcBef>
                <a:spcPts val="3000"/>
              </a:spcBef>
              <a:buNone/>
            </a:pPr>
            <a:r>
              <a:rPr b="1"/>
              <a:t>4️⃣ Data Update → UI Rebuild</a:t>
            </a:r>
          </a:p>
          <a:p>
            <a:pPr lvl="0" indent="0">
              <a:buNone/>
            </a:pPr>
            <a:r>
              <a:rPr i="1">
                <a:solidFill>
                  <a:srgbClr val="60A0B0"/>
                </a:solidFill>
                <a:latin typeface="Courier"/>
              </a:rPr>
              <a:t>// UI watches computed provider</a:t>
            </a:r>
            <a:br/>
            <a:r>
              <a:rPr>
                <a:latin typeface="Courier"/>
              </a:rPr>
              <a:t>Widget build(BuildContext context</a:t>
            </a:r>
            <a:r>
              <a:rPr>
                <a:solidFill>
                  <a:srgbClr val="666666"/>
                </a:solidFill>
                <a:latin typeface="Courier"/>
              </a:rPr>
              <a:t>,</a:t>
            </a:r>
            <a:r>
              <a:rPr>
                <a:latin typeface="Courier"/>
              </a:rPr>
              <a:t> WidgetRef ref) </a:t>
            </a:r>
            <a:r>
              <a:rPr>
                <a:solidFill>
                  <a:srgbClr val="666666"/>
                </a:solidFill>
                <a:latin typeface="Courier"/>
              </a:rPr>
              <a:t>{</a:t>
            </a:r>
            <a:br/>
            <a:r>
              <a:rPr>
                <a:latin typeface="Courier"/>
              </a:rPr>
              <a:t>  </a:t>
            </a:r>
            <a:r>
              <a:rPr>
                <a:solidFill>
                  <a:srgbClr val="7D9029"/>
                </a:solidFill>
                <a:latin typeface="Courier"/>
              </a:rPr>
              <a:t>final</a:t>
            </a:r>
            <a:r>
              <a:rPr>
                <a:latin typeface="Courier"/>
              </a:rPr>
              <a:t> todosAsync </a:t>
            </a:r>
            <a:r>
              <a:rPr>
                <a:solidFill>
                  <a:srgbClr val="666666"/>
                </a:solidFill>
                <a:latin typeface="Courier"/>
              </a:rPr>
              <a:t>=</a:t>
            </a:r>
            <a:r>
              <a:rPr>
                <a:latin typeface="Courier"/>
              </a:rPr>
              <a:t> ref</a:t>
            </a:r>
            <a:r>
              <a:rPr>
                <a:solidFill>
                  <a:srgbClr val="666666"/>
                </a:solidFill>
                <a:latin typeface="Courier"/>
              </a:rPr>
              <a:t>.</a:t>
            </a:r>
            <a:r>
              <a:rPr>
                <a:latin typeface="Courier"/>
              </a:rPr>
              <a:t>watch(filteredTodosProvider);</a:t>
            </a:r>
            <a:br/>
            <a:r>
              <a:rPr>
                <a:latin typeface="Courier"/>
              </a:rPr>
              <a:t>  </a:t>
            </a:r>
            <a:r>
              <a:rPr i="1">
                <a:solidFill>
                  <a:srgbClr val="60A0B0"/>
                </a:solidFill>
                <a:latin typeface="Courier"/>
              </a:rPr>
              <a:t>//                      └─ ref.watch() listens for changes</a:t>
            </a:r>
            <a:br/>
            <a:r>
              <a:rPr>
                <a:latin typeface="Courier"/>
              </a:rPr>
              <a:t>  </a:t>
            </a:r>
            <a:br/>
            <a:r>
              <a:rPr>
                <a:latin typeface="Courier"/>
              </a:rPr>
              <a:t>  </a:t>
            </a:r>
            <a:r>
              <a:rPr b="1">
                <a:solidFill>
                  <a:srgbClr val="007020"/>
                </a:solidFill>
                <a:latin typeface="Courier"/>
              </a:rPr>
              <a:t>return</a:t>
            </a:r>
            <a:r>
              <a:rPr>
                <a:latin typeface="Courier"/>
              </a:rPr>
              <a:t> todosAsync</a:t>
            </a:r>
            <a:r>
              <a:rPr>
                <a:solidFill>
                  <a:srgbClr val="666666"/>
                </a:solidFill>
                <a:latin typeface="Courier"/>
              </a:rPr>
              <a:t>.</a:t>
            </a:r>
            <a:r>
              <a:rPr b="1">
                <a:solidFill>
                  <a:srgbClr val="007020"/>
                </a:solidFill>
                <a:latin typeface="Courier"/>
              </a:rPr>
              <a:t>when</a:t>
            </a:r>
            <a:r>
              <a:rPr>
                <a:latin typeface="Courier"/>
              </a:rPr>
              <a:t>(</a:t>
            </a:r>
            <a:br/>
            <a:r>
              <a:rPr>
                <a:latin typeface="Courier"/>
              </a:rPr>
              <a:t>    loading</a:t>
            </a:r>
            <a:r>
              <a:rPr>
                <a:solidFill>
                  <a:srgbClr val="666666"/>
                </a:solidFill>
                <a:latin typeface="Courier"/>
              </a:rPr>
              <a:t>:</a:t>
            </a:r>
            <a:r>
              <a:rPr>
                <a:latin typeface="Courier"/>
              </a:rPr>
              <a:t> () </a:t>
            </a:r>
            <a:r>
              <a:rPr>
                <a:solidFill>
                  <a:srgbClr val="666666"/>
                </a:solidFill>
                <a:latin typeface="Courier"/>
              </a:rPr>
              <a:t>=&gt;</a:t>
            </a:r>
            <a:r>
              <a:rPr>
                <a:latin typeface="Courier"/>
              </a:rPr>
              <a:t> CircularProgressIndicator()</a:t>
            </a:r>
            <a:r>
              <a:rPr>
                <a:solidFill>
                  <a:srgbClr val="666666"/>
                </a:solidFill>
                <a:latin typeface="Courier"/>
              </a:rPr>
              <a:t>,</a:t>
            </a:r>
            <a:br/>
            <a:r>
              <a:rPr>
                <a:latin typeface="Courier"/>
              </a:rPr>
              <a:t>    error</a:t>
            </a:r>
            <a:r>
              <a:rPr>
                <a:solidFill>
                  <a:srgbClr val="666666"/>
                </a:solidFill>
                <a:latin typeface="Courier"/>
              </a:rPr>
              <a:t>:</a:t>
            </a:r>
            <a:r>
              <a:rPr>
                <a:latin typeface="Courier"/>
              </a:rPr>
              <a:t> (e</a:t>
            </a:r>
            <a:r>
              <a:rPr>
                <a:solidFill>
                  <a:srgbClr val="666666"/>
                </a:solidFill>
                <a:latin typeface="Courier"/>
              </a:rPr>
              <a:t>,</a:t>
            </a:r>
            <a:r>
              <a:rPr>
                <a:latin typeface="Courier"/>
              </a:rPr>
              <a:t> st) </a:t>
            </a:r>
            <a:r>
              <a:rPr>
                <a:solidFill>
                  <a:srgbClr val="666666"/>
                </a:solidFill>
                <a:latin typeface="Courier"/>
              </a:rPr>
              <a:t>=&gt;</a:t>
            </a:r>
            <a:r>
              <a:rPr>
                <a:latin typeface="Courier"/>
              </a:rPr>
              <a:t> Text(</a:t>
            </a:r>
            <a:r>
              <a:rPr>
                <a:solidFill>
                  <a:srgbClr val="4070A0"/>
                </a:solidFill>
                <a:latin typeface="Courier"/>
              </a:rPr>
              <a:t>'Error: $e'</a:t>
            </a:r>
            <a:r>
              <a:rPr>
                <a:latin typeface="Courier"/>
              </a:rPr>
              <a:t>)</a:t>
            </a:r>
            <a:r>
              <a:rPr>
                <a:solidFill>
                  <a:srgbClr val="666666"/>
                </a:solidFill>
                <a:latin typeface="Courier"/>
              </a:rPr>
              <a:t>,</a:t>
            </a:r>
            <a:br/>
            <a:r>
              <a:rPr>
                <a:latin typeface="Courier"/>
              </a:rPr>
              <a:t>    data</a:t>
            </a:r>
            <a:r>
              <a:rPr>
                <a:solidFill>
                  <a:srgbClr val="666666"/>
                </a:solidFill>
                <a:latin typeface="Courier"/>
              </a:rPr>
              <a:t>:</a:t>
            </a:r>
            <a:r>
              <a:rPr>
                <a:latin typeface="Courier"/>
              </a:rPr>
              <a:t> (todos) </a:t>
            </a:r>
            <a:r>
              <a:rPr>
                <a:solidFill>
                  <a:srgbClr val="666666"/>
                </a:solidFill>
                <a:latin typeface="Courier"/>
              </a:rPr>
              <a:t>=&gt;</a:t>
            </a:r>
            <a:r>
              <a:rPr>
                <a:latin typeface="Courier"/>
              </a:rPr>
              <a:t> ListView</a:t>
            </a:r>
            <a:r>
              <a:rPr>
                <a:solidFill>
                  <a:srgbClr val="666666"/>
                </a:solidFill>
                <a:latin typeface="Courier"/>
              </a:rPr>
              <a:t>.</a:t>
            </a:r>
            <a:r>
              <a:rPr>
                <a:latin typeface="Courier"/>
              </a:rPr>
              <a:t>builder(</a:t>
            </a:r>
            <a:br/>
            <a:r>
              <a:rPr>
                <a:latin typeface="Courier"/>
              </a:rPr>
              <a:t>      itemCount</a:t>
            </a:r>
            <a:r>
              <a:rPr>
                <a:solidFill>
                  <a:srgbClr val="666666"/>
                </a:solidFill>
                <a:latin typeface="Courier"/>
              </a:rPr>
              <a:t>:</a:t>
            </a:r>
            <a:r>
              <a:rPr>
                <a:latin typeface="Courier"/>
              </a:rPr>
              <a:t> todos</a:t>
            </a:r>
            <a:r>
              <a:rPr>
                <a:solidFill>
                  <a:srgbClr val="666666"/>
                </a:solidFill>
                <a:latin typeface="Courier"/>
              </a:rPr>
              <a:t>.</a:t>
            </a:r>
            <a:r>
              <a:rPr>
                <a:latin typeface="Courier"/>
              </a:rPr>
              <a:t>length</a:t>
            </a:r>
            <a:r>
              <a:rPr>
                <a:solidFill>
                  <a:srgbClr val="666666"/>
                </a:solidFill>
                <a:latin typeface="Courier"/>
              </a:rPr>
              <a:t>,</a:t>
            </a:r>
            <a:br/>
            <a:r>
              <a:rPr>
                <a:latin typeface="Courier"/>
              </a:rPr>
              <a:t>      itemBuilder</a:t>
            </a:r>
            <a:r>
              <a:rPr>
                <a:solidFill>
                  <a:srgbClr val="666666"/>
                </a:solidFill>
                <a:latin typeface="Courier"/>
              </a:rPr>
              <a:t>:</a:t>
            </a:r>
            <a:r>
              <a:rPr>
                <a:latin typeface="Courier"/>
              </a:rPr>
              <a:t> (_</a:t>
            </a:r>
            <a:r>
              <a:rPr>
                <a:solidFill>
                  <a:srgbClr val="666666"/>
                </a:solidFill>
                <a:latin typeface="Courier"/>
              </a:rPr>
              <a:t>,</a:t>
            </a:r>
            <a:r>
              <a:rPr>
                <a:latin typeface="Courier"/>
              </a:rPr>
              <a:t> i) </a:t>
            </a:r>
            <a:r>
              <a:rPr>
                <a:solidFill>
                  <a:srgbClr val="666666"/>
                </a:solidFill>
                <a:latin typeface="Courier"/>
              </a:rPr>
              <a:t>=&gt;</a:t>
            </a:r>
            <a:r>
              <a:rPr>
                <a:latin typeface="Courier"/>
              </a:rPr>
              <a:t> TodoTile(todos[i])</a:t>
            </a:r>
            <a:r>
              <a:rPr>
                <a:solidFill>
                  <a:srgbClr val="666666"/>
                </a:solidFill>
                <a:latin typeface="Courier"/>
              </a:rPr>
              <a:t>,</a:t>
            </a:r>
            <a:br/>
            <a:r>
              <a:rPr>
                <a:latin typeface="Courier"/>
              </a:rPr>
              <a:t>    )</a:t>
            </a:r>
            <a:r>
              <a:rPr>
                <a:solidFill>
                  <a:srgbClr val="666666"/>
                </a:solidFill>
                <a:latin typeface="Courier"/>
              </a:rPr>
              <a:t>,</a:t>
            </a:r>
            <a:br/>
            <a:r>
              <a:rPr>
                <a:latin typeface="Courier"/>
              </a:rPr>
              <a:t>  );</a:t>
            </a:r>
            <a:br/>
            <a:r>
              <a:rPr>
                <a:solidFill>
                  <a:srgbClr val="666666"/>
                </a:solidFill>
                <a:latin typeface="Courier"/>
              </a:rPr>
              <a:t>}</a:t>
            </a:r>
          </a:p>
          <a:p>
            <a:pPr lvl="0" indent="0" marL="0">
              <a:buNone/>
            </a:pPr>
            <a:r>
              <a:rPr b="1"/>
              <a:t>Flow:</a:t>
            </a:r>
          </a:p>
          <a:p>
            <a:pPr lvl="0" indent="0">
              <a:buNone/>
            </a:pPr>
            <a:r>
              <a:rPr>
                <a:latin typeface="Courier"/>
              </a:rPr>
              <a:t>filteredTodosProvider state changes
        ↓
Widget rebuilds automatically (ref.watch detected change)
        ↓
.when() handles AsyncValue states
        ↓
UI displays new data</a:t>
            </a:r>
          </a:p>
          <a:p>
            <a:pPr lvl="0" indent="0" marL="0">
              <a:spcBef>
                <a:spcPts val="3000"/>
              </a:spcBef>
              <a:buNone/>
            </a:pPr>
            <a:r>
              <a:rPr b="1"/>
              <a:t>5️⃣ Mutation → Manual Refresh Cycle</a:t>
            </a:r>
          </a:p>
          <a:p>
            <a:pPr lvl="0" indent="0">
              <a:buNone/>
            </a:pPr>
            <a:r>
              <a:rPr i="1">
                <a:solidFill>
                  <a:srgbClr val="60A0B0"/>
                </a:solidFill>
                <a:latin typeface="Courier"/>
              </a:rPr>
              <a:t>// User action: Delete todo</a:t>
            </a:r>
            <a:br/>
            <a:r>
              <a:rPr>
                <a:latin typeface="Courier"/>
              </a:rPr>
              <a:t>onPressed</a:t>
            </a:r>
            <a:r>
              <a:rPr>
                <a:solidFill>
                  <a:srgbClr val="666666"/>
                </a:solidFill>
                <a:latin typeface="Courier"/>
              </a:rPr>
              <a:t>:</a:t>
            </a:r>
            <a:r>
              <a:rPr>
                <a:latin typeface="Courier"/>
              </a:rPr>
              <a:t> () </a:t>
            </a:r>
            <a:r>
              <a:rPr>
                <a:solidFill>
                  <a:srgbClr val="7D9029"/>
                </a:solidFill>
                <a:latin typeface="Courier"/>
              </a:rPr>
              <a:t>async</a:t>
            </a:r>
            <a:r>
              <a:rPr>
                <a:latin typeface="Courier"/>
              </a:rPr>
              <a:t> </a:t>
            </a:r>
            <a:r>
              <a:rPr>
                <a:solidFill>
                  <a:srgbClr val="666666"/>
                </a:solidFill>
                <a:latin typeface="Courier"/>
              </a:rPr>
              <a:t>{</a:t>
            </a:r>
            <a:br/>
            <a:r>
              <a:rPr>
                <a:latin typeface="Courier"/>
              </a:rPr>
              <a:t>  </a:t>
            </a:r>
            <a:r>
              <a:rPr i="1">
                <a:solidFill>
                  <a:srgbClr val="60A0B0"/>
                </a:solidFill>
                <a:latin typeface="Courier"/>
              </a:rPr>
              <a:t>// Step 1: Perform mutation via notifier</a:t>
            </a:r>
            <a:br/>
            <a:r>
              <a:rPr>
                <a:latin typeface="Courier"/>
              </a:rPr>
              <a:t>  </a:t>
            </a:r>
            <a:r>
              <a:rPr>
                <a:solidFill>
                  <a:srgbClr val="7D9029"/>
                </a:solidFill>
                <a:latin typeface="Courier"/>
              </a:rPr>
              <a:t>await</a:t>
            </a:r>
            <a:r>
              <a:rPr>
                <a:latin typeface="Courier"/>
              </a:rPr>
              <a:t> ref</a:t>
            </a:r>
            <a:r>
              <a:rPr>
                <a:solidFill>
                  <a:srgbClr val="666666"/>
                </a:solidFill>
                <a:latin typeface="Courier"/>
              </a:rPr>
              <a:t>.</a:t>
            </a:r>
            <a:r>
              <a:rPr>
                <a:latin typeface="Courier"/>
              </a:rPr>
              <a:t>read(todoListProvider</a:t>
            </a:r>
            <a:r>
              <a:rPr>
                <a:solidFill>
                  <a:srgbClr val="666666"/>
                </a:solidFill>
                <a:latin typeface="Courier"/>
              </a:rPr>
              <a:t>.</a:t>
            </a:r>
            <a:r>
              <a:rPr>
                <a:latin typeface="Courier"/>
              </a:rPr>
              <a:t>notifier)</a:t>
            </a:r>
            <a:r>
              <a:rPr>
                <a:solidFill>
                  <a:srgbClr val="666666"/>
                </a:solidFill>
                <a:latin typeface="Courier"/>
              </a:rPr>
              <a:t>.</a:t>
            </a:r>
            <a:r>
              <a:rPr>
                <a:latin typeface="Courier"/>
              </a:rPr>
              <a:t>delete(todoId);</a:t>
            </a:r>
            <a:br/>
            <a:r>
              <a:rPr>
                <a:latin typeface="Courier"/>
              </a:rPr>
              <a:t>  </a:t>
            </a:r>
            <a:r>
              <a:rPr i="1">
                <a:solidFill>
                  <a:srgbClr val="60A0B0"/>
                </a:solidFill>
                <a:latin typeface="Courier"/>
              </a:rPr>
              <a:t>//        └─ ref.read() for one-time action (no listening)</a:t>
            </a:r>
            <a:br/>
            <a:r>
              <a:rPr>
                <a:latin typeface="Courier"/>
              </a:rPr>
              <a:t>  </a:t>
            </a:r>
            <a:br/>
            <a:r>
              <a:rPr>
                <a:latin typeface="Courier"/>
              </a:rPr>
              <a:t>  </a:t>
            </a:r>
            <a:r>
              <a:rPr i="1">
                <a:solidFill>
                  <a:srgbClr val="60A0B0"/>
                </a:solidFill>
                <a:latin typeface="Courier"/>
              </a:rPr>
              <a:t>// Step 2: Manually trigger refresh of filtered data</a:t>
            </a:r>
            <a:br/>
            <a:r>
              <a:rPr>
                <a:latin typeface="Courier"/>
              </a:rPr>
              <a:t>  ref</a:t>
            </a:r>
            <a:r>
              <a:rPr>
                <a:solidFill>
                  <a:srgbClr val="666666"/>
                </a:solidFill>
                <a:latin typeface="Courier"/>
              </a:rPr>
              <a:t>.</a:t>
            </a:r>
            <a:r>
              <a:rPr>
                <a:latin typeface="Courier"/>
              </a:rPr>
              <a:t>read(filteredTodosProvider</a:t>
            </a:r>
            <a:r>
              <a:rPr>
                <a:solidFill>
                  <a:srgbClr val="666666"/>
                </a:solidFill>
                <a:latin typeface="Courier"/>
              </a:rPr>
              <a:t>.</a:t>
            </a:r>
            <a:r>
              <a:rPr>
                <a:latin typeface="Courier"/>
              </a:rPr>
              <a:t>notifier)</a:t>
            </a:r>
            <a:r>
              <a:rPr>
                <a:solidFill>
                  <a:srgbClr val="666666"/>
                </a:solidFill>
                <a:latin typeface="Courier"/>
              </a:rPr>
              <a:t>.</a:t>
            </a:r>
            <a:r>
              <a:rPr>
                <a:latin typeface="Courier"/>
              </a:rPr>
              <a:t>refresh();</a:t>
            </a:r>
            <a:br/>
            <a:r>
              <a:rPr>
                <a:latin typeface="Courier"/>
              </a:rPr>
              <a:t>  </a:t>
            </a:r>
            <a:r>
              <a:rPr i="1">
                <a:solidFill>
                  <a:srgbClr val="60A0B0"/>
                </a:solidFill>
                <a:latin typeface="Courier"/>
              </a:rPr>
              <a:t>//  └─ Calls build() again to fetch fresh data</a:t>
            </a:r>
            <a:br/>
            <a:r>
              <a:rPr>
                <a:solidFill>
                  <a:srgbClr val="666666"/>
                </a:solidFill>
                <a:latin typeface="Courier"/>
              </a:rPr>
              <a:t>}</a:t>
            </a:r>
          </a:p>
          <a:p>
            <a:pPr lvl="0" indent="0" marL="0">
              <a:buNone/>
            </a:pPr>
            <a:r>
              <a:rPr b="1"/>
              <a:t>Flow:</a:t>
            </a:r>
          </a:p>
          <a:p>
            <a:pPr lvl="0" indent="0">
              <a:buNone/>
            </a:pPr>
            <a:r>
              <a:rPr>
                <a:latin typeface="Courier"/>
              </a:rPr>
              <a:t>User Action (Delete)
        ↓
ref.read().notifier.delete()
        ↓
Database mutation (DELETE query)
        ↓
ref.read().notifier.refresh()
        ↓
filteredTodosProvider.build() called
        ↓
New query fetches updated data
        ↓
UI automatically updates via ref.watch()</a:t>
            </a:r>
          </a:p>
          <a:p>
            <a:pPr lvl="0" indent="0" marL="0">
              <a:spcBef>
                <a:spcPts val="3000"/>
              </a:spcBef>
              <a:buNone/>
            </a:pPr>
            <a:r>
              <a:rPr b="1"/>
              <a:t>Complete Example: Todo Search Flow</a:t>
            </a:r>
          </a:p>
          <a:p>
            <a:pPr lvl="0" indent="0">
              <a:buNone/>
            </a:pPr>
            <a:r>
              <a:rPr>
                <a:latin typeface="Courier"/>
              </a:rPr>
              <a:t>┌─────────────────────────────────────────────────────────────┐
│ 1. User types "flutter" in SearchBar                        │
└──────────────────┬──────────────────────────────────────────┘
                   │
┌──────────────────▼──────────────────────────────────────────┐
│ 2. ref.read(searchQueryProvider.notifier).setQuery("flutter") │
│    - SearchQueryNotifier.state = "flutter"                  │
└──────────────────┬──────────────────────────────────────────┘
                   │ State changed!
┌──────────────────▼──────────────────────────────────────────┐
│ 3. filteredTodosProvider.build() triggered automatically    │
│    - ref.watch(searchQueryProvider) detects change          │
│    - Reads new value: "flutter"                             │
└──────────────────┬──────────────────────────────────────────┘
                   │
┌──────────────────▼──────────────────────────────────────────┐
│ 4. Get repository: ref.watch(todoRepositoryProvider.future) │
└──────────────────┬──────────────────────────────────────────┘
                   │
┌──────────────────▼──────────────────────────────────────────┐
│ 5. Execute query: repository.searchTodos(                   │
│      searchQuery: "flutter",                                │
│      typeFilter: null,                                      │
│      statusFilter: TodoStatus.all                           │
│    )                                                        │
└──────────────────┬──────────────────────────────────────────┘
                   │
┌──────────────────▼──────────────────────────────────────────┐
│ 6. SQL Query: SELECT * FROM todo                            │
│    WHERE description LIKE '%flutter%'                       │
└──────────────────┬──────────────────────────────────────────┘
                   │
┌──────────────────▼──────────────────────────────────────────┐
│ 7. Return List&lt;Todo&gt; with matching results                  │
│    - state = AsyncValue.data([todo1, todo2, ...])           │
└──────────────────┬──────────────────────────────────────────┘
                   │
┌──────────────────▼──────────────────────────────────────────┐
│ 8. UI rebuilds automatically                                │
│    - ref.watch(filteredTodosProvider) detected change       │
│    - ListView displays filtered todos                       │
└─────────────────────────────────────────────────────────────┘</a:t>
            </a:r>
          </a:p>
          <a:p>
            <a:pPr lvl="0" indent="0" marL="0">
              <a:spcBef>
                <a:spcPts val="3000"/>
              </a:spcBef>
              <a:buNone/>
            </a:pPr>
            <a:r>
              <a:rPr b="1"/>
              <a:t>Key Differences: ref.watch vs ref.read</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104900"/>
                <a:gridCol w="2070100"/>
                <a:gridCol w="1930400"/>
              </a:tblGrid>
              <a:tr h="0">
                <a:tc>
                  <a:txBody>
                    <a:bodyPr/>
                    <a:lstStyle/>
                    <a:p>
                      <a:pPr lvl="0" indent="0" marL="0">
                        <a:buNone/>
                      </a:pPr>
                      <a:r>
                        <a:rPr/>
                        <a:t>Aspect</a:t>
                      </a:r>
                    </a:p>
                  </a:txBody>
                  <a:tcPr/>
                </a:tc>
                <a:tc>
                  <a:txBody>
                    <a:bodyPr/>
                    <a:lstStyle/>
                    <a:p>
                      <a:pPr lvl="0" indent="0" marL="0">
                        <a:buNone/>
                      </a:pPr>
                      <a:r>
                        <a:rPr>
                          <a:latin typeface="Courier"/>
                        </a:rPr>
                        <a:t>ref.watch()</a:t>
                      </a:r>
                    </a:p>
                  </a:txBody>
                  <a:tcPr/>
                </a:tc>
                <a:tc>
                  <a:txBody>
                    <a:bodyPr/>
                    <a:lstStyle/>
                    <a:p>
                      <a:pPr lvl="0" indent="0" marL="0">
                        <a:buNone/>
                      </a:pPr>
                      <a:r>
                        <a:rPr>
                          <a:latin typeface="Courier"/>
                        </a:rPr>
                        <a:t>ref.read()</a:t>
                      </a:r>
                    </a:p>
                  </a:txBody>
                  <a:tcPr/>
                </a:tc>
              </a:tr>
              <a:tr h="0">
                <a:tc>
                  <a:txBody>
                    <a:bodyPr/>
                    <a:lstStyle/>
                    <a:p>
                      <a:pPr lvl="0" indent="0" marL="0">
                        <a:buNone/>
                      </a:pPr>
                      <a:r>
                        <a:rPr b="1"/>
                        <a:t>Purpose</a:t>
                      </a:r>
                    </a:p>
                  </a:txBody>
                </a:tc>
                <a:tc>
                  <a:txBody>
                    <a:bodyPr/>
                    <a:lstStyle/>
                    <a:p>
                      <a:pPr lvl="0" indent="0" marL="0">
                        <a:buNone/>
                      </a:pPr>
                      <a:r>
                        <a:rPr/>
                        <a:t>Listen to changes</a:t>
                      </a:r>
                    </a:p>
                  </a:txBody>
                </a:tc>
                <a:tc>
                  <a:txBody>
                    <a:bodyPr/>
                    <a:lstStyle/>
                    <a:p>
                      <a:pPr lvl="0" indent="0" marL="0">
                        <a:buNone/>
                      </a:pPr>
                      <a:r>
                        <a:rPr/>
                        <a:t>One-time access</a:t>
                      </a:r>
                    </a:p>
                  </a:txBody>
                </a:tc>
              </a:tr>
              <a:tr h="0">
                <a:tc>
                  <a:txBody>
                    <a:bodyPr/>
                    <a:lstStyle/>
                    <a:p>
                      <a:pPr lvl="0" indent="0" marL="0">
                        <a:buNone/>
                      </a:pPr>
                      <a:r>
                        <a:rPr b="1"/>
                        <a:t>Rebuilds</a:t>
                      </a:r>
                    </a:p>
                  </a:txBody>
                </a:tc>
                <a:tc>
                  <a:txBody>
                    <a:bodyPr/>
                    <a:lstStyle/>
                    <a:p>
                      <a:pPr lvl="0" indent="0" marL="0">
                        <a:buNone/>
                      </a:pPr>
                      <a:r>
                        <a:rPr/>
                        <a:t>✅ Triggers rebuild</a:t>
                      </a:r>
                    </a:p>
                  </a:txBody>
                </a:tc>
                <a:tc>
                  <a:txBody>
                    <a:bodyPr/>
                    <a:lstStyle/>
                    <a:p>
                      <a:pPr lvl="0" indent="0" marL="0">
                        <a:buNone/>
                      </a:pPr>
                      <a:r>
                        <a:rPr/>
                        <a:t>❌ No rebuild</a:t>
                      </a:r>
                    </a:p>
                  </a:txBody>
                </a:tc>
              </a:tr>
              <a:tr h="0">
                <a:tc>
                  <a:txBody>
                    <a:bodyPr/>
                    <a:lstStyle/>
                    <a:p>
                      <a:pPr lvl="0" indent="0" marL="0">
                        <a:buNone/>
                      </a:pPr>
                      <a:r>
                        <a:rPr b="1"/>
                        <a:t>Use in</a:t>
                      </a:r>
                    </a:p>
                  </a:txBody>
                </a:tc>
                <a:tc>
                  <a:txBody>
                    <a:bodyPr/>
                    <a:lstStyle/>
                    <a:p>
                      <a:pPr lvl="0" indent="0" marL="0">
                        <a:buNone/>
                      </a:pPr>
                      <a:r>
                        <a:rPr>
                          <a:latin typeface="Courier"/>
                        </a:rPr>
                        <a:t>build()</a:t>
                      </a:r>
                      <a:r>
                        <a:rPr/>
                        <a:t> methods</a:t>
                      </a:r>
                    </a:p>
                  </a:txBody>
                </a:tc>
                <a:tc>
                  <a:txBody>
                    <a:bodyPr/>
                    <a:lstStyle/>
                    <a:p>
                      <a:pPr lvl="0" indent="0" marL="0">
                        <a:buNone/>
                      </a:pPr>
                      <a:r>
                        <a:rPr/>
                        <a:t>Event handlers, callbacks</a:t>
                      </a:r>
                    </a:p>
                  </a:txBody>
                </a:tc>
              </a:tr>
              <a:tr h="0">
                <a:tc>
                  <a:txBody>
                    <a:bodyPr/>
                    <a:lstStyle/>
                    <a:p>
                      <a:pPr lvl="0" indent="0" marL="0">
                        <a:buNone/>
                      </a:pPr>
                      <a:r>
                        <a:rPr b="1"/>
                        <a:t>Example</a:t>
                      </a:r>
                    </a:p>
                  </a:txBody>
                </a:tc>
                <a:tc>
                  <a:txBody>
                    <a:bodyPr/>
                    <a:lstStyle/>
                    <a:p>
                      <a:pPr lvl="0" indent="0" marL="0">
                        <a:buNone/>
                      </a:pPr>
                      <a:r>
                        <a:rPr>
                          <a:latin typeface="Courier"/>
                        </a:rPr>
                        <a:t>final todos = ref.watch(todosProvider)</a:t>
                      </a:r>
                    </a:p>
                  </a:txBody>
                </a:tc>
                <a:tc>
                  <a:txBody>
                    <a:bodyPr/>
                    <a:lstStyle/>
                    <a:p>
                      <a:pPr lvl="0" indent="0" marL="0">
                        <a:buNone/>
                      </a:pPr>
                      <a:r>
                        <a:rPr>
                          <a:latin typeface="Courier"/>
                        </a:rPr>
                        <a:t>ref.read(provider.notifier).add()</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Rule of Thumb:</a:t>
            </a:r>
            <a:r>
              <a:rPr/>
              <a:t> - Use </a:t>
            </a:r>
            <a:r>
              <a:rPr>
                <a:latin typeface="Courier"/>
              </a:rPr>
              <a:t>ref.watch()</a:t>
            </a:r>
            <a:r>
              <a:rPr/>
              <a:t> when you want to </a:t>
            </a:r>
            <a:r>
              <a:rPr b="1"/>
              <a:t>display</a:t>
            </a:r>
            <a:r>
              <a:rPr/>
              <a:t> data or </a:t>
            </a:r>
            <a:r>
              <a:rPr b="1"/>
              <a:t>react</a:t>
            </a:r>
            <a:r>
              <a:rPr/>
              <a:t> to changes - Use </a:t>
            </a:r>
            <a:r>
              <a:rPr>
                <a:latin typeface="Courier"/>
              </a:rPr>
              <a:t>ref.read()</a:t>
            </a:r>
            <a:r>
              <a:rPr/>
              <a:t> when you want to </a:t>
            </a:r>
            <a:r>
              <a:rPr b="1"/>
              <a:t>perform actions</a:t>
            </a:r>
            <a:r>
              <a:rPr/>
              <a:t> (mutations, one-time operations)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Provider Types Used</a:t>
            </a:r>
          </a:p>
        </p:txBody>
      </p:sp>
      <p:sp>
        <p:nvSpPr>
          <p:cNvPr id="3" name="Content Placeholder 2"/>
          <p:cNvSpPr>
            <a:spLocks noGrp="1"/>
          </p:cNvSpPr>
          <p:nvPr>
            <p:ph idx="1"/>
          </p:nvPr>
        </p:nvSpPr>
        <p:spPr/>
        <p:txBody>
          <a:bodyPr/>
          <a:lstStyle/>
          <a:p>
            <a:pPr lvl="0" indent="0" marL="0">
              <a:spcBef>
                <a:spcPts val="3000"/>
              </a:spcBef>
              <a:buNone/>
            </a:pPr>
            <a:r>
              <a:rPr b="1"/>
              <a:t>1. FutureProvider</a:t>
            </a:r>
          </a:p>
          <a:p>
            <a:pPr lvl="0" indent="0" marL="0">
              <a:buNone/>
            </a:pPr>
            <a:r>
              <a:rPr b="1"/>
              <a:t>Purpose</a:t>
            </a:r>
            <a:r>
              <a:rPr/>
              <a:t>: One-time async data loading, cached result </a:t>
            </a:r>
            <a:r>
              <a:rPr b="1"/>
              <a:t>Example</a:t>
            </a:r>
            <a:r>
              <a:rPr/>
              <a:t>: Database initialization, repository creation</a:t>
            </a:r>
          </a:p>
          <a:p>
            <a:pPr lvl="0" indent="0">
              <a:buNone/>
            </a:pPr>
            <a:r>
              <a:rPr>
                <a:solidFill>
                  <a:srgbClr val="7D9029"/>
                </a:solidFill>
                <a:latin typeface="Courier"/>
              </a:rPr>
              <a:t>final</a:t>
            </a:r>
            <a:r>
              <a:rPr>
                <a:latin typeface="Courier"/>
              </a:rPr>
              <a:t> databaseProvider </a:t>
            </a:r>
            <a:r>
              <a:rPr>
                <a:solidFill>
                  <a:srgbClr val="666666"/>
                </a:solidFill>
                <a:latin typeface="Courier"/>
              </a:rPr>
              <a:t>=</a:t>
            </a:r>
            <a:r>
              <a:rPr>
                <a:latin typeface="Courier"/>
              </a:rPr>
              <a:t> FutureProvider</a:t>
            </a:r>
            <a:r>
              <a:rPr>
                <a:solidFill>
                  <a:srgbClr val="666666"/>
                </a:solidFill>
                <a:latin typeface="Courier"/>
              </a:rPr>
              <a:t>&lt;</a:t>
            </a:r>
            <a:r>
              <a:rPr>
                <a:latin typeface="Courier"/>
              </a:rPr>
              <a:t>AppDatabase</a:t>
            </a:r>
            <a:r>
              <a:rPr>
                <a:solidFill>
                  <a:srgbClr val="666666"/>
                </a:solidFill>
                <a:latin typeface="Courier"/>
              </a:rPr>
              <a:t>&gt;</a:t>
            </a:r>
            <a:r>
              <a:rPr>
                <a:latin typeface="Courier"/>
              </a:rPr>
              <a:t>((ref) </a:t>
            </a:r>
            <a:r>
              <a:rPr>
                <a:solidFill>
                  <a:srgbClr val="7D9029"/>
                </a:solidFill>
                <a:latin typeface="Courier"/>
              </a:rPr>
              <a:t>async</a:t>
            </a:r>
            <a:r>
              <a:rPr>
                <a:latin typeface="Courier"/>
              </a:rPr>
              <a:t> </a:t>
            </a:r>
            <a:r>
              <a:rPr>
                <a:solidFill>
                  <a:srgbClr val="666666"/>
                </a:solidFill>
                <a:latin typeface="Courier"/>
              </a:rPr>
              <a:t>{</a:t>
            </a:r>
            <a:br/>
            <a:r>
              <a:rPr>
                <a:latin typeface="Courier"/>
              </a:rPr>
              <a:t>  </a:t>
            </a:r>
            <a:r>
              <a:rPr i="1">
                <a:solidFill>
                  <a:srgbClr val="60A0B0"/>
                </a:solidFill>
                <a:latin typeface="Courier"/>
              </a:rPr>
              <a:t>// Initialize and return database instance</a:t>
            </a:r>
            <a:br/>
            <a:r>
              <a:rPr>
                <a:latin typeface="Courier"/>
              </a:rPr>
              <a:t>  </a:t>
            </a:r>
            <a:r>
              <a:rPr>
                <a:solidFill>
                  <a:srgbClr val="7D9029"/>
                </a:solidFill>
                <a:latin typeface="Courier"/>
              </a:rPr>
              <a:t>final</a:t>
            </a:r>
            <a:r>
              <a:rPr>
                <a:latin typeface="Courier"/>
              </a:rPr>
              <a:t> database </a:t>
            </a:r>
            <a:r>
              <a:rPr>
                <a:solidFill>
                  <a:srgbClr val="666666"/>
                </a:solidFill>
                <a:latin typeface="Courier"/>
              </a:rPr>
              <a:t>=</a:t>
            </a:r>
            <a:r>
              <a:rPr>
                <a:latin typeface="Courier"/>
              </a:rPr>
              <a:t> </a:t>
            </a:r>
            <a:r>
              <a:rPr>
                <a:solidFill>
                  <a:srgbClr val="7D9029"/>
                </a:solidFill>
                <a:latin typeface="Courier"/>
              </a:rPr>
              <a:t>await</a:t>
            </a:r>
            <a:r>
              <a:rPr>
                <a:latin typeface="Courier"/>
              </a:rPr>
              <a:t> $FloorAppDatabase</a:t>
            </a:r>
            <a:r>
              <a:rPr>
                <a:solidFill>
                  <a:srgbClr val="666666"/>
                </a:solidFill>
                <a:latin typeface="Courier"/>
              </a:rPr>
              <a:t>.</a:t>
            </a:r>
            <a:r>
              <a:rPr>
                <a:latin typeface="Courier"/>
              </a:rPr>
              <a:t>databaseBuilder(</a:t>
            </a:r>
            <a:r>
              <a:rPr>
                <a:solidFill>
                  <a:srgbClr val="666666"/>
                </a:solidFill>
                <a:latin typeface="Courier"/>
              </a:rPr>
              <a:t>...</a:t>
            </a:r>
            <a:r>
              <a:rPr>
                <a:latin typeface="Courier"/>
              </a:rPr>
              <a:t>)</a:t>
            </a:r>
            <a:r>
              <a:rPr>
                <a:solidFill>
                  <a:srgbClr val="666666"/>
                </a:solidFill>
                <a:latin typeface="Courier"/>
              </a:rPr>
              <a:t>.</a:t>
            </a:r>
            <a:r>
              <a:rPr>
                <a:latin typeface="Courier"/>
              </a:rPr>
              <a:t>build();</a:t>
            </a:r>
            <a:br/>
            <a:r>
              <a:rPr>
                <a:latin typeface="Courier"/>
              </a:rPr>
              <a:t>  </a:t>
            </a:r>
            <a:r>
              <a:rPr b="1">
                <a:solidFill>
                  <a:srgbClr val="007020"/>
                </a:solidFill>
                <a:latin typeface="Courier"/>
              </a:rPr>
              <a:t>return</a:t>
            </a:r>
            <a:r>
              <a:rPr>
                <a:latin typeface="Courier"/>
              </a:rPr>
              <a:t> database;</a:t>
            </a:r>
            <a:br/>
            <a:r>
              <a:rPr>
                <a:solidFill>
                  <a:srgbClr val="666666"/>
                </a:solidFill>
                <a:latin typeface="Courier"/>
              </a:rPr>
              <a:t>}</a:t>
            </a:r>
            <a:r>
              <a:rPr>
                <a:latin typeface="Courier"/>
              </a:rPr>
              <a:t>);</a:t>
            </a:r>
            <a:br/>
            <a:br/>
            <a:r>
              <a:rPr>
                <a:solidFill>
                  <a:srgbClr val="7D9029"/>
                </a:solidFill>
                <a:latin typeface="Courier"/>
              </a:rPr>
              <a:t>final</a:t>
            </a:r>
            <a:r>
              <a:rPr>
                <a:latin typeface="Courier"/>
              </a:rPr>
              <a:t> todoRepositoryProvider </a:t>
            </a:r>
            <a:r>
              <a:rPr>
                <a:solidFill>
                  <a:srgbClr val="666666"/>
                </a:solidFill>
                <a:latin typeface="Courier"/>
              </a:rPr>
              <a:t>=</a:t>
            </a:r>
            <a:r>
              <a:rPr>
                <a:latin typeface="Courier"/>
              </a:rPr>
              <a:t> FutureProvider</a:t>
            </a:r>
            <a:r>
              <a:rPr>
                <a:solidFill>
                  <a:srgbClr val="666666"/>
                </a:solidFill>
                <a:latin typeface="Courier"/>
              </a:rPr>
              <a:t>&lt;</a:t>
            </a:r>
            <a:r>
              <a:rPr>
                <a:latin typeface="Courier"/>
              </a:rPr>
              <a:t>TodoRepository</a:t>
            </a:r>
            <a:r>
              <a:rPr>
                <a:solidFill>
                  <a:srgbClr val="666666"/>
                </a:solidFill>
                <a:latin typeface="Courier"/>
              </a:rPr>
              <a:t>&gt;</a:t>
            </a:r>
            <a:r>
              <a:rPr>
                <a:latin typeface="Courier"/>
              </a:rPr>
              <a:t>((ref) </a:t>
            </a:r>
            <a:r>
              <a:rPr>
                <a:solidFill>
                  <a:srgbClr val="7D9029"/>
                </a:solidFill>
                <a:latin typeface="Courier"/>
              </a:rPr>
              <a:t>async</a:t>
            </a:r>
            <a:r>
              <a:rPr>
                <a:latin typeface="Courier"/>
              </a:rPr>
              <a:t> </a:t>
            </a:r>
            <a:r>
              <a:rPr>
                <a:solidFill>
                  <a:srgbClr val="666666"/>
                </a:solidFill>
                <a:latin typeface="Courier"/>
              </a:rPr>
              <a:t>{</a:t>
            </a:r>
            <a:br/>
            <a:r>
              <a:rPr>
                <a:latin typeface="Courier"/>
              </a:rPr>
              <a:t>  </a:t>
            </a:r>
            <a:r>
              <a:rPr>
                <a:solidFill>
                  <a:srgbClr val="7D9029"/>
                </a:solidFill>
                <a:latin typeface="Courier"/>
              </a:rPr>
              <a:t>final</a:t>
            </a:r>
            <a:r>
              <a:rPr>
                <a:latin typeface="Courier"/>
              </a:rPr>
              <a:t> database </a:t>
            </a:r>
            <a:r>
              <a:rPr>
                <a:solidFill>
                  <a:srgbClr val="666666"/>
                </a:solidFill>
                <a:latin typeface="Courier"/>
              </a:rPr>
              <a:t>=</a:t>
            </a:r>
            <a:r>
              <a:rPr>
                <a:latin typeface="Courier"/>
              </a:rPr>
              <a:t> </a:t>
            </a:r>
            <a:r>
              <a:rPr>
                <a:solidFill>
                  <a:srgbClr val="7D9029"/>
                </a:solidFill>
                <a:latin typeface="Courier"/>
              </a:rPr>
              <a:t>await</a:t>
            </a:r>
            <a:r>
              <a:rPr>
                <a:latin typeface="Courier"/>
              </a:rPr>
              <a:t> ref</a:t>
            </a:r>
            <a:r>
              <a:rPr>
                <a:solidFill>
                  <a:srgbClr val="666666"/>
                </a:solidFill>
                <a:latin typeface="Courier"/>
              </a:rPr>
              <a:t>.</a:t>
            </a:r>
            <a:r>
              <a:rPr>
                <a:latin typeface="Courier"/>
              </a:rPr>
              <a:t>watch(databaseProvider</a:t>
            </a:r>
            <a:r>
              <a:rPr>
                <a:solidFill>
                  <a:srgbClr val="666666"/>
                </a:solidFill>
                <a:latin typeface="Courier"/>
              </a:rPr>
              <a:t>.</a:t>
            </a:r>
            <a:r>
              <a:rPr>
                <a:latin typeface="Courier"/>
              </a:rPr>
              <a:t>future);</a:t>
            </a:r>
            <a:br/>
            <a:r>
              <a:rPr>
                <a:latin typeface="Courier"/>
              </a:rPr>
              <a:t>  </a:t>
            </a:r>
            <a:r>
              <a:rPr b="1">
                <a:solidFill>
                  <a:srgbClr val="007020"/>
                </a:solidFill>
                <a:latin typeface="Courier"/>
              </a:rPr>
              <a:t>return</a:t>
            </a:r>
            <a:r>
              <a:rPr>
                <a:latin typeface="Courier"/>
              </a:rPr>
              <a:t> TodoRepository(database</a:t>
            </a:r>
            <a:r>
              <a:rPr>
                <a:solidFill>
                  <a:srgbClr val="666666"/>
                </a:solidFill>
                <a:latin typeface="Courier"/>
              </a:rPr>
              <a:t>.</a:t>
            </a:r>
            <a:r>
              <a:rPr>
                <a:latin typeface="Courier"/>
              </a:rPr>
              <a:t>todoDao);</a:t>
            </a:r>
            <a:br/>
            <a:r>
              <a:rPr>
                <a:solidFill>
                  <a:srgbClr val="666666"/>
                </a:solidFill>
                <a:latin typeface="Courier"/>
              </a:rPr>
              <a:t>}</a:t>
            </a:r>
            <a:r>
              <a:rPr>
                <a:latin typeface="Courier"/>
              </a:rPr>
              <a:t>);</a:t>
            </a:r>
          </a:p>
          <a:p>
            <a:pPr lvl="0" indent="0" marL="0">
              <a:buNone/>
            </a:pPr>
            <a:r>
              <a:rPr b="1"/>
              <a:t>Key Points</a:t>
            </a:r>
            <a:r>
              <a:rPr/>
              <a:t>: - ✅ Result is cached - only runs once - ✅ UI uses </a:t>
            </a:r>
            <a:r>
              <a:rPr>
                <a:latin typeface="Courier"/>
              </a:rPr>
              <a:t>.when()</a:t>
            </a:r>
            <a:r>
              <a:rPr/>
              <a:t> to handle loading/data/error states - ✅ Perfect for database/repository initialization</a:t>
            </a:r>
          </a:p>
          <a:p>
            <a:pPr lvl="0" indent="0" marL="0">
              <a:spcBef>
                <a:spcPts val="3000"/>
              </a:spcBef>
              <a:buNone/>
            </a:pPr>
            <a:r>
              <a:rPr b="1"/>
              <a:t>2. NotifierProvider</a:t>
            </a:r>
          </a:p>
          <a:p>
            <a:pPr lvl="0" indent="0" marL="0">
              <a:buNone/>
            </a:pPr>
            <a:r>
              <a:rPr b="1"/>
              <a:t>Purpose</a:t>
            </a:r>
            <a:r>
              <a:rPr/>
              <a:t>: Mutable state with methods to update it </a:t>
            </a:r>
            <a:r>
              <a:rPr b="1"/>
              <a:t>Example</a:t>
            </a:r>
            <a:r>
              <a:rPr/>
              <a:t>: Search query, filters, selections</a:t>
            </a:r>
          </a:p>
          <a:p>
            <a:pPr lvl="0" indent="0">
              <a:buNone/>
            </a:pPr>
            <a:r>
              <a:rPr b="1">
                <a:solidFill>
                  <a:srgbClr val="007020"/>
                </a:solidFill>
                <a:latin typeface="Courier"/>
              </a:rPr>
              <a:t>class</a:t>
            </a:r>
            <a:r>
              <a:rPr>
                <a:latin typeface="Courier"/>
              </a:rPr>
              <a:t> SearchQueryNotifier </a:t>
            </a:r>
            <a:r>
              <a:rPr b="1">
                <a:solidFill>
                  <a:srgbClr val="007020"/>
                </a:solidFill>
                <a:latin typeface="Courier"/>
              </a:rPr>
              <a:t>extends</a:t>
            </a:r>
            <a:r>
              <a:rPr>
                <a:latin typeface="Courier"/>
              </a:rPr>
              <a:t> Notifier</a:t>
            </a:r>
            <a:r>
              <a:rPr>
                <a:solidFill>
                  <a:srgbClr val="666666"/>
                </a:solidFill>
                <a:latin typeface="Courier"/>
              </a:rPr>
              <a:t>&lt;</a:t>
            </a:r>
            <a:r>
              <a:rPr>
                <a:solidFill>
                  <a:srgbClr val="902000"/>
                </a:solidFill>
                <a:latin typeface="Courier"/>
              </a:rPr>
              <a:t>String</a:t>
            </a:r>
            <a:r>
              <a:rPr>
                <a:solidFill>
                  <a:srgbClr val="666666"/>
                </a:solidFill>
                <a:latin typeface="Courier"/>
              </a:rPr>
              <a:t>&gt;</a:t>
            </a:r>
            <a:r>
              <a:rPr>
                <a:latin typeface="Courier"/>
              </a:rPr>
              <a:t> </a:t>
            </a:r>
            <a:r>
              <a:rPr>
                <a:solidFill>
                  <a:srgbClr val="666666"/>
                </a:solidFill>
                <a:latin typeface="Courier"/>
              </a:rPr>
              <a:t>{</a:t>
            </a:r>
            <a:br/>
            <a:r>
              <a:rPr>
                <a:latin typeface="Courier"/>
              </a:rPr>
              <a:t>  </a:t>
            </a:r>
            <a:r>
              <a:rPr b="1">
                <a:solidFill>
                  <a:srgbClr val="007020"/>
                </a:solidFill>
                <a:latin typeface="Courier"/>
              </a:rPr>
              <a:t>@override</a:t>
            </a:r>
            <a:br/>
            <a:r>
              <a:rPr>
                <a:latin typeface="Courier"/>
              </a:rPr>
              <a:t>  </a:t>
            </a:r>
            <a:r>
              <a:rPr>
                <a:solidFill>
                  <a:srgbClr val="902000"/>
                </a:solidFill>
                <a:latin typeface="Courier"/>
              </a:rPr>
              <a:t>String</a:t>
            </a:r>
            <a:r>
              <a:rPr>
                <a:latin typeface="Courier"/>
              </a:rPr>
              <a:t> build() </a:t>
            </a:r>
            <a:r>
              <a:rPr>
                <a:solidFill>
                  <a:srgbClr val="666666"/>
                </a:solidFill>
                <a:latin typeface="Courier"/>
              </a:rPr>
              <a:t>=&gt;</a:t>
            </a:r>
            <a:r>
              <a:rPr>
                <a:latin typeface="Courier"/>
              </a:rPr>
              <a:t> </a:t>
            </a:r>
            <a:r>
              <a:rPr>
                <a:solidFill>
                  <a:srgbClr val="4070A0"/>
                </a:solidFill>
                <a:latin typeface="Courier"/>
              </a:rPr>
              <a:t>''</a:t>
            </a:r>
            <a:r>
              <a:rPr>
                <a:latin typeface="Courier"/>
              </a:rPr>
              <a:t>;</a:t>
            </a:r>
            <a:br/>
            <a:r>
              <a:rPr>
                <a:latin typeface="Courier"/>
              </a:rPr>
              <a:t>  </a:t>
            </a:r>
            <a:br/>
            <a:r>
              <a:rPr>
                <a:latin typeface="Courier"/>
              </a:rPr>
              <a:t>  </a:t>
            </a:r>
            <a:r>
              <a:rPr>
                <a:solidFill>
                  <a:srgbClr val="902000"/>
                </a:solidFill>
                <a:latin typeface="Courier"/>
              </a:rPr>
              <a:t>void</a:t>
            </a:r>
            <a:r>
              <a:rPr>
                <a:latin typeface="Courier"/>
              </a:rPr>
              <a:t> setQuery(</a:t>
            </a:r>
            <a:r>
              <a:rPr>
                <a:solidFill>
                  <a:srgbClr val="902000"/>
                </a:solidFill>
                <a:latin typeface="Courier"/>
              </a:rPr>
              <a:t>String</a:t>
            </a:r>
            <a:r>
              <a:rPr>
                <a:latin typeface="Courier"/>
              </a:rPr>
              <a:t> query) </a:t>
            </a:r>
            <a:r>
              <a:rPr>
                <a:solidFill>
                  <a:srgbClr val="666666"/>
                </a:solidFill>
                <a:latin typeface="Courier"/>
              </a:rPr>
              <a:t>=&gt;</a:t>
            </a:r>
            <a:r>
              <a:rPr>
                <a:latin typeface="Courier"/>
              </a:rPr>
              <a:t> state </a:t>
            </a:r>
            <a:r>
              <a:rPr>
                <a:solidFill>
                  <a:srgbClr val="666666"/>
                </a:solidFill>
                <a:latin typeface="Courier"/>
              </a:rPr>
              <a:t>=</a:t>
            </a:r>
            <a:r>
              <a:rPr>
                <a:latin typeface="Courier"/>
              </a:rPr>
              <a:t> query;</a:t>
            </a:r>
            <a:br/>
            <a:r>
              <a:rPr>
                <a:latin typeface="Courier"/>
              </a:rPr>
              <a:t>  </a:t>
            </a:r>
            <a:r>
              <a:rPr>
                <a:solidFill>
                  <a:srgbClr val="902000"/>
                </a:solidFill>
                <a:latin typeface="Courier"/>
              </a:rPr>
              <a:t>void</a:t>
            </a:r>
            <a:r>
              <a:rPr>
                <a:latin typeface="Courier"/>
              </a:rPr>
              <a:t> clear() </a:t>
            </a:r>
            <a:r>
              <a:rPr>
                <a:solidFill>
                  <a:srgbClr val="666666"/>
                </a:solidFill>
                <a:latin typeface="Courier"/>
              </a:rPr>
              <a:t>=&gt;</a:t>
            </a:r>
            <a:r>
              <a:rPr>
                <a:latin typeface="Courier"/>
              </a:rPr>
              <a:t> state </a:t>
            </a:r>
            <a:r>
              <a:rPr>
                <a:solidFill>
                  <a:srgbClr val="666666"/>
                </a:solidFill>
                <a:latin typeface="Courier"/>
              </a:rPr>
              <a:t>=</a:t>
            </a:r>
            <a:r>
              <a:rPr>
                <a:latin typeface="Courier"/>
              </a:rPr>
              <a:t> </a:t>
            </a:r>
            <a:r>
              <a:rPr>
                <a:solidFill>
                  <a:srgbClr val="4070A0"/>
                </a:solidFill>
                <a:latin typeface="Courier"/>
              </a:rPr>
              <a:t>''</a:t>
            </a:r>
            <a:r>
              <a:rPr>
                <a:latin typeface="Courier"/>
              </a:rPr>
              <a:t>;</a:t>
            </a:r>
            <a:br/>
            <a:r>
              <a:rPr>
                <a:solidFill>
                  <a:srgbClr val="666666"/>
                </a:solidFill>
                <a:latin typeface="Courier"/>
              </a:rPr>
              <a:t>}</a:t>
            </a:r>
            <a:br/>
            <a:br/>
            <a:r>
              <a:rPr>
                <a:solidFill>
                  <a:srgbClr val="7D9029"/>
                </a:solidFill>
                <a:latin typeface="Courier"/>
              </a:rPr>
              <a:t>final</a:t>
            </a:r>
            <a:r>
              <a:rPr>
                <a:latin typeface="Courier"/>
              </a:rPr>
              <a:t> searchQueryProvider </a:t>
            </a:r>
            <a:r>
              <a:rPr>
                <a:solidFill>
                  <a:srgbClr val="666666"/>
                </a:solidFill>
                <a:latin typeface="Courier"/>
              </a:rPr>
              <a:t>=</a:t>
            </a:r>
            <a:r>
              <a:rPr>
                <a:latin typeface="Courier"/>
              </a:rPr>
              <a:t> NotifierProvider</a:t>
            </a:r>
            <a:r>
              <a:rPr>
                <a:solidFill>
                  <a:srgbClr val="666666"/>
                </a:solidFill>
                <a:latin typeface="Courier"/>
              </a:rPr>
              <a:t>&lt;</a:t>
            </a:r>
            <a:r>
              <a:rPr>
                <a:latin typeface="Courier"/>
              </a:rPr>
              <a:t>SearchQueryNotifier</a:t>
            </a:r>
            <a:r>
              <a:rPr>
                <a:solidFill>
                  <a:srgbClr val="666666"/>
                </a:solidFill>
                <a:latin typeface="Courier"/>
              </a:rPr>
              <a:t>,</a:t>
            </a:r>
            <a:r>
              <a:rPr>
                <a:latin typeface="Courier"/>
              </a:rPr>
              <a:t> </a:t>
            </a:r>
            <a:r>
              <a:rPr>
                <a:solidFill>
                  <a:srgbClr val="902000"/>
                </a:solidFill>
                <a:latin typeface="Courier"/>
              </a:rPr>
              <a:t>String</a:t>
            </a:r>
            <a:r>
              <a:rPr>
                <a:solidFill>
                  <a:srgbClr val="666666"/>
                </a:solidFill>
                <a:latin typeface="Courier"/>
              </a:rPr>
              <a:t>&gt;</a:t>
            </a:r>
            <a:r>
              <a:rPr>
                <a:latin typeface="Courier"/>
              </a:rPr>
              <a:t>(</a:t>
            </a:r>
            <a:br/>
            <a:r>
              <a:rPr>
                <a:latin typeface="Courier"/>
              </a:rPr>
              <a:t>  () </a:t>
            </a:r>
            <a:r>
              <a:rPr>
                <a:solidFill>
                  <a:srgbClr val="666666"/>
                </a:solidFill>
                <a:latin typeface="Courier"/>
              </a:rPr>
              <a:t>=&gt;</a:t>
            </a:r>
            <a:r>
              <a:rPr>
                <a:latin typeface="Courier"/>
              </a:rPr>
              <a:t> SearchQueryNotifier()</a:t>
            </a:r>
            <a:r>
              <a:rPr>
                <a:solidFill>
                  <a:srgbClr val="666666"/>
                </a:solidFill>
                <a:latin typeface="Courier"/>
              </a:rPr>
              <a:t>,</a:t>
            </a:r>
            <a:br/>
            <a:r>
              <a:rPr>
                <a:latin typeface="Courier"/>
              </a:rPr>
              <a:t>);</a:t>
            </a:r>
          </a:p>
          <a:p>
            <a:pPr lvl="0" indent="0" marL="0">
              <a:buNone/>
            </a:pPr>
            <a:r>
              <a:rPr b="1"/>
              <a:t>Key Points</a:t>
            </a:r>
            <a:r>
              <a:rPr/>
              <a:t>: - ✅ Holds simple state (String, int, bool, enums) - ✅ Provides methods to update state - ✅ UI reads state and calls notifier methods - ✅ Other providers watch and react to changes</a:t>
            </a:r>
          </a:p>
          <a:p>
            <a:pPr lvl="0" indent="0" marL="0">
              <a:spcBef>
                <a:spcPts val="3000"/>
              </a:spcBef>
              <a:buNone/>
            </a:pPr>
            <a:r>
              <a:rPr b="1"/>
              <a:t>3. AsyncNotifierProvider</a:t>
            </a:r>
          </a:p>
          <a:p>
            <a:pPr lvl="0" indent="0" marL="0">
              <a:buNone/>
            </a:pPr>
            <a:r>
              <a:rPr b="1"/>
              <a:t>Purpose</a:t>
            </a:r>
            <a:r>
              <a:rPr/>
              <a:t>: Async computed state that rebuilds when dependencies change </a:t>
            </a:r>
            <a:r>
              <a:rPr b="1"/>
              <a:t>Example</a:t>
            </a:r>
            <a:r>
              <a:rPr/>
              <a:t>: Filtered/searched data from database</a:t>
            </a:r>
          </a:p>
          <a:p>
            <a:pPr lvl="0" indent="0">
              <a:buNone/>
            </a:pPr>
            <a:r>
              <a:rPr b="1">
                <a:solidFill>
                  <a:srgbClr val="007020"/>
                </a:solidFill>
                <a:latin typeface="Courier"/>
              </a:rPr>
              <a:t>class</a:t>
            </a:r>
            <a:r>
              <a:rPr>
                <a:latin typeface="Courier"/>
              </a:rPr>
              <a:t> FilteredTodosNotifier </a:t>
            </a:r>
            <a:r>
              <a:rPr b="1">
                <a:solidFill>
                  <a:srgbClr val="007020"/>
                </a:solidFill>
                <a:latin typeface="Courier"/>
              </a:rPr>
              <a:t>extends</a:t>
            </a:r>
            <a:r>
              <a:rPr>
                <a:latin typeface="Courier"/>
              </a:rPr>
              <a:t> AsyncNotifier</a:t>
            </a:r>
            <a:r>
              <a:rPr>
                <a:solidFill>
                  <a:srgbClr val="666666"/>
                </a:solidFill>
                <a:latin typeface="Courier"/>
              </a:rPr>
              <a:t>&lt;</a:t>
            </a:r>
            <a:r>
              <a:rPr>
                <a:solidFill>
                  <a:srgbClr val="902000"/>
                </a:solidFill>
                <a:latin typeface="Courier"/>
              </a:rPr>
              <a:t>List</a:t>
            </a:r>
            <a:r>
              <a:rPr>
                <a:solidFill>
                  <a:srgbClr val="666666"/>
                </a:solidFill>
                <a:latin typeface="Courier"/>
              </a:rPr>
              <a:t>&lt;</a:t>
            </a:r>
            <a:r>
              <a:rPr>
                <a:latin typeface="Courier"/>
              </a:rPr>
              <a:t>Todo</a:t>
            </a:r>
            <a:r>
              <a:rPr>
                <a:solidFill>
                  <a:srgbClr val="666666"/>
                </a:solidFill>
                <a:latin typeface="Courier"/>
              </a:rPr>
              <a:t>&gt;&gt;</a:t>
            </a:r>
            <a:r>
              <a:rPr>
                <a:latin typeface="Courier"/>
              </a:rPr>
              <a:t> </a:t>
            </a:r>
            <a:r>
              <a:rPr>
                <a:solidFill>
                  <a:srgbClr val="666666"/>
                </a:solidFill>
                <a:latin typeface="Courier"/>
              </a:rPr>
              <a:t>{</a:t>
            </a:r>
            <a:br/>
            <a:r>
              <a:rPr>
                <a:latin typeface="Courier"/>
              </a:rPr>
              <a:t>  </a:t>
            </a:r>
            <a:r>
              <a:rPr b="1">
                <a:solidFill>
                  <a:srgbClr val="007020"/>
                </a:solidFill>
                <a:latin typeface="Courier"/>
              </a:rPr>
              <a:t>@override</a:t>
            </a:r>
            <a:br/>
            <a:r>
              <a:rPr>
                <a:latin typeface="Courier"/>
              </a:rPr>
              <a:t>  </a:t>
            </a:r>
            <a:r>
              <a:rPr>
                <a:solidFill>
                  <a:srgbClr val="902000"/>
                </a:solidFill>
                <a:latin typeface="Courier"/>
              </a:rPr>
              <a:t>Future</a:t>
            </a:r>
            <a:r>
              <a:rPr>
                <a:solidFill>
                  <a:srgbClr val="666666"/>
                </a:solidFill>
                <a:latin typeface="Courier"/>
              </a:rPr>
              <a:t>&lt;</a:t>
            </a:r>
            <a:r>
              <a:rPr>
                <a:solidFill>
                  <a:srgbClr val="902000"/>
                </a:solidFill>
                <a:latin typeface="Courier"/>
              </a:rPr>
              <a:t>List</a:t>
            </a:r>
            <a:r>
              <a:rPr>
                <a:solidFill>
                  <a:srgbClr val="666666"/>
                </a:solidFill>
                <a:latin typeface="Courier"/>
              </a:rPr>
              <a:t>&lt;</a:t>
            </a:r>
            <a:r>
              <a:rPr>
                <a:latin typeface="Courier"/>
              </a:rPr>
              <a:t>Todo</a:t>
            </a:r>
            <a:r>
              <a:rPr>
                <a:solidFill>
                  <a:srgbClr val="666666"/>
                </a:solidFill>
                <a:latin typeface="Courier"/>
              </a:rPr>
              <a:t>&gt;&gt;</a:t>
            </a:r>
            <a:r>
              <a:rPr>
                <a:latin typeface="Courier"/>
              </a:rPr>
              <a:t> build() </a:t>
            </a:r>
            <a:r>
              <a:rPr>
                <a:solidFill>
                  <a:srgbClr val="7D9029"/>
                </a:solidFill>
                <a:latin typeface="Courier"/>
              </a:rPr>
              <a:t>async</a:t>
            </a:r>
            <a:r>
              <a:rPr>
                <a:latin typeface="Courier"/>
              </a:rPr>
              <a:t> </a:t>
            </a:r>
            <a:r>
              <a:rPr>
                <a:solidFill>
                  <a:srgbClr val="666666"/>
                </a:solidFill>
                <a:latin typeface="Courier"/>
              </a:rPr>
              <a:t>{</a:t>
            </a:r>
            <a:br/>
            <a:r>
              <a:rPr>
                <a:latin typeface="Courier"/>
              </a:rPr>
              <a:t>    </a:t>
            </a:r>
            <a:r>
              <a:rPr i="1">
                <a:solidFill>
                  <a:srgbClr val="60A0B0"/>
                </a:solidFill>
                <a:latin typeface="Courier"/>
              </a:rPr>
              <a:t>// Watch dependencies - rebuilds when any change</a:t>
            </a:r>
            <a:br/>
            <a:r>
              <a:rPr>
                <a:latin typeface="Courier"/>
              </a:rPr>
              <a:t>    </a:t>
            </a:r>
            <a:r>
              <a:rPr>
                <a:solidFill>
                  <a:srgbClr val="7D9029"/>
                </a:solidFill>
                <a:latin typeface="Courier"/>
              </a:rPr>
              <a:t>final</a:t>
            </a:r>
            <a:r>
              <a:rPr>
                <a:latin typeface="Courier"/>
              </a:rPr>
              <a:t> searchQuery </a:t>
            </a:r>
            <a:r>
              <a:rPr>
                <a:solidFill>
                  <a:srgbClr val="666666"/>
                </a:solidFill>
                <a:latin typeface="Courier"/>
              </a:rPr>
              <a:t>=</a:t>
            </a:r>
            <a:r>
              <a:rPr>
                <a:latin typeface="Courier"/>
              </a:rPr>
              <a:t> ref</a:t>
            </a:r>
            <a:r>
              <a:rPr>
                <a:solidFill>
                  <a:srgbClr val="666666"/>
                </a:solidFill>
                <a:latin typeface="Courier"/>
              </a:rPr>
              <a:t>.</a:t>
            </a:r>
            <a:r>
              <a:rPr>
                <a:latin typeface="Courier"/>
              </a:rPr>
              <a:t>watch(searchQueryProvider);</a:t>
            </a:r>
            <a:br/>
            <a:r>
              <a:rPr>
                <a:latin typeface="Courier"/>
              </a:rPr>
              <a:t>    </a:t>
            </a:r>
            <a:r>
              <a:rPr>
                <a:solidFill>
                  <a:srgbClr val="7D9029"/>
                </a:solidFill>
                <a:latin typeface="Courier"/>
              </a:rPr>
              <a:t>final</a:t>
            </a:r>
            <a:r>
              <a:rPr>
                <a:latin typeface="Courier"/>
              </a:rPr>
              <a:t> typeFilter </a:t>
            </a:r>
            <a:r>
              <a:rPr>
                <a:solidFill>
                  <a:srgbClr val="666666"/>
                </a:solidFill>
                <a:latin typeface="Courier"/>
              </a:rPr>
              <a:t>=</a:t>
            </a:r>
            <a:r>
              <a:rPr>
                <a:latin typeface="Courier"/>
              </a:rPr>
              <a:t> ref</a:t>
            </a:r>
            <a:r>
              <a:rPr>
                <a:solidFill>
                  <a:srgbClr val="666666"/>
                </a:solidFill>
                <a:latin typeface="Courier"/>
              </a:rPr>
              <a:t>.</a:t>
            </a:r>
            <a:r>
              <a:rPr>
                <a:latin typeface="Courier"/>
              </a:rPr>
              <a:t>watch(typeFilterProvider);</a:t>
            </a:r>
            <a:br/>
            <a:r>
              <a:rPr>
                <a:latin typeface="Courier"/>
              </a:rPr>
              <a:t>    </a:t>
            </a:r>
            <a:r>
              <a:rPr>
                <a:solidFill>
                  <a:srgbClr val="7D9029"/>
                </a:solidFill>
                <a:latin typeface="Courier"/>
              </a:rPr>
              <a:t>final</a:t>
            </a:r>
            <a:r>
              <a:rPr>
                <a:latin typeface="Courier"/>
              </a:rPr>
              <a:t> statusFilter </a:t>
            </a:r>
            <a:r>
              <a:rPr>
                <a:solidFill>
                  <a:srgbClr val="666666"/>
                </a:solidFill>
                <a:latin typeface="Courier"/>
              </a:rPr>
              <a:t>=</a:t>
            </a:r>
            <a:r>
              <a:rPr>
                <a:latin typeface="Courier"/>
              </a:rPr>
              <a:t> ref</a:t>
            </a:r>
            <a:r>
              <a:rPr>
                <a:solidFill>
                  <a:srgbClr val="666666"/>
                </a:solidFill>
                <a:latin typeface="Courier"/>
              </a:rPr>
              <a:t>.</a:t>
            </a:r>
            <a:r>
              <a:rPr>
                <a:latin typeface="Courier"/>
              </a:rPr>
              <a:t>watch(statusFilterProvider);</a:t>
            </a:r>
            <a:br/>
            <a:r>
              <a:rPr>
                <a:latin typeface="Courier"/>
              </a:rPr>
              <a:t>    </a:t>
            </a:r>
            <a:br/>
            <a:r>
              <a:rPr>
                <a:latin typeface="Courier"/>
              </a:rPr>
              <a:t>    </a:t>
            </a:r>
            <a:r>
              <a:rPr i="1">
                <a:solidFill>
                  <a:srgbClr val="60A0B0"/>
                </a:solidFill>
                <a:latin typeface="Courier"/>
              </a:rPr>
              <a:t>// Get repository</a:t>
            </a:r>
            <a:br/>
            <a:r>
              <a:rPr>
                <a:latin typeface="Courier"/>
              </a:rPr>
              <a:t>    </a:t>
            </a:r>
            <a:r>
              <a:rPr>
                <a:solidFill>
                  <a:srgbClr val="7D9029"/>
                </a:solidFill>
                <a:latin typeface="Courier"/>
              </a:rPr>
              <a:t>final</a:t>
            </a:r>
            <a:r>
              <a:rPr>
                <a:latin typeface="Courier"/>
              </a:rPr>
              <a:t> repository </a:t>
            </a:r>
            <a:r>
              <a:rPr>
                <a:solidFill>
                  <a:srgbClr val="666666"/>
                </a:solidFill>
                <a:latin typeface="Courier"/>
              </a:rPr>
              <a:t>=</a:t>
            </a:r>
            <a:r>
              <a:rPr>
                <a:latin typeface="Courier"/>
              </a:rPr>
              <a:t> </a:t>
            </a:r>
            <a:r>
              <a:rPr>
                <a:solidFill>
                  <a:srgbClr val="7D9029"/>
                </a:solidFill>
                <a:latin typeface="Courier"/>
              </a:rPr>
              <a:t>await</a:t>
            </a:r>
            <a:r>
              <a:rPr>
                <a:latin typeface="Courier"/>
              </a:rPr>
              <a:t> ref</a:t>
            </a:r>
            <a:r>
              <a:rPr>
                <a:solidFill>
                  <a:srgbClr val="666666"/>
                </a:solidFill>
                <a:latin typeface="Courier"/>
              </a:rPr>
              <a:t>.</a:t>
            </a:r>
            <a:r>
              <a:rPr>
                <a:latin typeface="Courier"/>
              </a:rPr>
              <a:t>watch(todoRepositoryProvider</a:t>
            </a:r>
            <a:r>
              <a:rPr>
                <a:solidFill>
                  <a:srgbClr val="666666"/>
                </a:solidFill>
                <a:latin typeface="Courier"/>
              </a:rPr>
              <a:t>.</a:t>
            </a:r>
            <a:r>
              <a:rPr>
                <a:latin typeface="Courier"/>
              </a:rPr>
              <a:t>future);</a:t>
            </a:r>
            <a:br/>
            <a:r>
              <a:rPr>
                <a:latin typeface="Courier"/>
              </a:rPr>
              <a:t>    </a:t>
            </a:r>
            <a:br/>
            <a:r>
              <a:rPr>
                <a:latin typeface="Courier"/>
              </a:rPr>
              <a:t>    </a:t>
            </a:r>
            <a:r>
              <a:rPr i="1">
                <a:solidFill>
                  <a:srgbClr val="60A0B0"/>
                </a:solidFill>
                <a:latin typeface="Courier"/>
              </a:rPr>
              <a:t>// Perform filtered query</a:t>
            </a:r>
            <a:br/>
            <a:r>
              <a:rPr>
                <a:latin typeface="Courier"/>
              </a:rPr>
              <a:t>    </a:t>
            </a:r>
            <a:r>
              <a:rPr b="1">
                <a:solidFill>
                  <a:srgbClr val="007020"/>
                </a:solidFill>
                <a:latin typeface="Courier"/>
              </a:rPr>
              <a:t>return</a:t>
            </a:r>
            <a:r>
              <a:rPr>
                <a:latin typeface="Courier"/>
              </a:rPr>
              <a:t> </a:t>
            </a:r>
            <a:r>
              <a:rPr>
                <a:solidFill>
                  <a:srgbClr val="7D9029"/>
                </a:solidFill>
                <a:latin typeface="Courier"/>
              </a:rPr>
              <a:t>await</a:t>
            </a:r>
            <a:r>
              <a:rPr>
                <a:latin typeface="Courier"/>
              </a:rPr>
              <a:t> repository</a:t>
            </a:r>
            <a:r>
              <a:rPr>
                <a:solidFill>
                  <a:srgbClr val="666666"/>
                </a:solidFill>
                <a:latin typeface="Courier"/>
              </a:rPr>
              <a:t>.</a:t>
            </a:r>
            <a:r>
              <a:rPr>
                <a:latin typeface="Courier"/>
              </a:rPr>
              <a:t>searchTodos(</a:t>
            </a:r>
            <a:r>
              <a:rPr>
                <a:solidFill>
                  <a:srgbClr val="666666"/>
                </a:solidFill>
                <a:latin typeface="Courier"/>
              </a:rPr>
              <a:t>...</a:t>
            </a:r>
            <a:r>
              <a:rPr>
                <a:latin typeface="Courier"/>
              </a:rPr>
              <a:t>);</a:t>
            </a:r>
            <a:br/>
            <a:r>
              <a:rPr>
                <a:latin typeface="Courier"/>
              </a:rPr>
              <a:t>  </a:t>
            </a:r>
            <a:r>
              <a:rPr>
                <a:solidFill>
                  <a:srgbClr val="666666"/>
                </a:solidFill>
                <a:latin typeface="Courier"/>
              </a:rPr>
              <a:t>}</a:t>
            </a:r>
            <a:br/>
            <a:r>
              <a:rPr>
                <a:latin typeface="Courier"/>
              </a:rPr>
              <a:t>  </a:t>
            </a:r>
            <a:br/>
            <a:r>
              <a:rPr>
                <a:latin typeface="Courier"/>
              </a:rPr>
              <a:t>  </a:t>
            </a:r>
            <a:r>
              <a:rPr>
                <a:solidFill>
                  <a:srgbClr val="902000"/>
                </a:solidFill>
                <a:latin typeface="Courier"/>
              </a:rPr>
              <a:t>Future</a:t>
            </a:r>
            <a:r>
              <a:rPr>
                <a:solidFill>
                  <a:srgbClr val="666666"/>
                </a:solidFill>
                <a:latin typeface="Courier"/>
              </a:rPr>
              <a:t>&lt;</a:t>
            </a:r>
            <a:r>
              <a:rPr>
                <a:solidFill>
                  <a:srgbClr val="902000"/>
                </a:solidFill>
                <a:latin typeface="Courier"/>
              </a:rPr>
              <a:t>void</a:t>
            </a:r>
            <a:r>
              <a:rPr>
                <a:solidFill>
                  <a:srgbClr val="666666"/>
                </a:solidFill>
                <a:latin typeface="Courier"/>
              </a:rPr>
              <a:t>&gt;</a:t>
            </a:r>
            <a:r>
              <a:rPr>
                <a:latin typeface="Courier"/>
              </a:rPr>
              <a:t> refresh() </a:t>
            </a:r>
            <a:r>
              <a:rPr>
                <a:solidFill>
                  <a:srgbClr val="7D9029"/>
                </a:solidFill>
                <a:latin typeface="Courier"/>
              </a:rPr>
              <a:t>async</a:t>
            </a:r>
            <a:r>
              <a:rPr>
                <a:latin typeface="Courier"/>
              </a:rPr>
              <a:t> </a:t>
            </a:r>
            <a:r>
              <a:rPr>
                <a:solidFill>
                  <a:srgbClr val="666666"/>
                </a:solidFill>
                <a:latin typeface="Courier"/>
              </a:rPr>
              <a:t>{</a:t>
            </a:r>
            <a:br/>
            <a:r>
              <a:rPr>
                <a:latin typeface="Courier"/>
              </a:rPr>
              <a:t>    state </a:t>
            </a:r>
            <a:r>
              <a:rPr>
                <a:solidFill>
                  <a:srgbClr val="666666"/>
                </a:solidFill>
                <a:latin typeface="Courier"/>
              </a:rPr>
              <a:t>=</a:t>
            </a:r>
            <a:r>
              <a:rPr>
                <a:latin typeface="Courier"/>
              </a:rPr>
              <a:t> </a:t>
            </a:r>
            <a:r>
              <a:rPr>
                <a:solidFill>
                  <a:srgbClr val="7D9029"/>
                </a:solidFill>
                <a:latin typeface="Courier"/>
              </a:rPr>
              <a:t>const</a:t>
            </a:r>
            <a:r>
              <a:rPr>
                <a:latin typeface="Courier"/>
              </a:rPr>
              <a:t> AsyncValue</a:t>
            </a:r>
            <a:r>
              <a:rPr>
                <a:solidFill>
                  <a:srgbClr val="666666"/>
                </a:solidFill>
                <a:latin typeface="Courier"/>
              </a:rPr>
              <a:t>.</a:t>
            </a:r>
            <a:r>
              <a:rPr>
                <a:latin typeface="Courier"/>
              </a:rPr>
              <a:t>loading();</a:t>
            </a:r>
            <a:br/>
            <a:r>
              <a:rPr>
                <a:latin typeface="Courier"/>
              </a:rPr>
              <a:t>    state </a:t>
            </a:r>
            <a:r>
              <a:rPr>
                <a:solidFill>
                  <a:srgbClr val="666666"/>
                </a:solidFill>
                <a:latin typeface="Courier"/>
              </a:rPr>
              <a:t>=</a:t>
            </a:r>
            <a:r>
              <a:rPr>
                <a:latin typeface="Courier"/>
              </a:rPr>
              <a:t> </a:t>
            </a:r>
            <a:r>
              <a:rPr>
                <a:solidFill>
                  <a:srgbClr val="7D9029"/>
                </a:solidFill>
                <a:latin typeface="Courier"/>
              </a:rPr>
              <a:t>await</a:t>
            </a:r>
            <a:r>
              <a:rPr>
                <a:latin typeface="Courier"/>
              </a:rPr>
              <a:t> AsyncValue</a:t>
            </a:r>
            <a:r>
              <a:rPr>
                <a:solidFill>
                  <a:srgbClr val="666666"/>
                </a:solidFill>
                <a:latin typeface="Courier"/>
              </a:rPr>
              <a:t>.</a:t>
            </a:r>
            <a:r>
              <a:rPr>
                <a:latin typeface="Courier"/>
              </a:rPr>
              <a:t>guard(() </a:t>
            </a:r>
            <a:r>
              <a:rPr>
                <a:solidFill>
                  <a:srgbClr val="666666"/>
                </a:solidFill>
                <a:latin typeface="Courier"/>
              </a:rPr>
              <a:t>=&gt;</a:t>
            </a:r>
            <a:r>
              <a:rPr>
                <a:latin typeface="Courier"/>
              </a:rPr>
              <a:t> build());</a:t>
            </a:r>
            <a:br/>
            <a:r>
              <a:rPr>
                <a:latin typeface="Courier"/>
              </a:rPr>
              <a:t>  </a:t>
            </a:r>
            <a:r>
              <a:rPr>
                <a:solidFill>
                  <a:srgbClr val="666666"/>
                </a:solidFill>
                <a:latin typeface="Courier"/>
              </a:rPr>
              <a:t>}</a:t>
            </a:r>
            <a:br/>
            <a:r>
              <a:rPr>
                <a:solidFill>
                  <a:srgbClr val="666666"/>
                </a:solidFill>
                <a:latin typeface="Courier"/>
              </a:rPr>
              <a:t>}</a:t>
            </a:r>
          </a:p>
          <a:p>
            <a:pPr lvl="0" indent="0" marL="0">
              <a:buNone/>
            </a:pPr>
            <a:r>
              <a:rPr b="1"/>
              <a:t>Key Points</a:t>
            </a:r>
            <a:r>
              <a:rPr/>
              <a:t>: - ✅ Automatically rebuilds when watched providers change - ✅ Returns </a:t>
            </a:r>
            <a:r>
              <a:rPr>
                <a:latin typeface="Courier"/>
              </a:rPr>
              <a:t>AsyncValue&lt;T&gt;</a:t>
            </a:r>
            <a:r>
              <a:rPr/>
              <a:t> with loading/data/error states - ✅ Perfect for database queries with multiple filters - ✅ Can be manually refreshed after mutations</a:t>
            </a:r>
          </a:p>
          <a:p>
            <a:pPr lvl="0" indent="0" marL="0">
              <a:spcBef>
                <a:spcPts val="3000"/>
              </a:spcBef>
              <a:buNone/>
            </a:pPr>
            <a:r>
              <a:rPr b="1"/>
              <a:t>4. StateNotifierProvider (Alternative Pattern)</a:t>
            </a:r>
          </a:p>
          <a:p>
            <a:pPr lvl="0" indent="0" marL="0">
              <a:buNone/>
            </a:pPr>
            <a:r>
              <a:rPr b="1"/>
              <a:t>Purpose</a:t>
            </a:r>
            <a:r>
              <a:rPr/>
              <a:t>: Complex state with immutable updates </a:t>
            </a:r>
            <a:r>
              <a:rPr b="1"/>
              <a:t>Example</a:t>
            </a:r>
            <a:r>
              <a:rPr/>
              <a:t>: List management with CRUD operations</a:t>
            </a:r>
          </a:p>
          <a:p>
            <a:pPr lvl="0" indent="0">
              <a:buNone/>
            </a:pPr>
            <a:r>
              <a:rPr b="1">
                <a:solidFill>
                  <a:srgbClr val="007020"/>
                </a:solidFill>
                <a:latin typeface="Courier"/>
              </a:rPr>
              <a:t>class</a:t>
            </a:r>
            <a:r>
              <a:rPr>
                <a:latin typeface="Courier"/>
              </a:rPr>
              <a:t> TodosNotifier </a:t>
            </a:r>
            <a:r>
              <a:rPr b="1">
                <a:solidFill>
                  <a:srgbClr val="007020"/>
                </a:solidFill>
                <a:latin typeface="Courier"/>
              </a:rPr>
              <a:t>extends</a:t>
            </a:r>
            <a:r>
              <a:rPr>
                <a:latin typeface="Courier"/>
              </a:rPr>
              <a:t> StateNotifier</a:t>
            </a:r>
            <a:r>
              <a:rPr>
                <a:solidFill>
                  <a:srgbClr val="666666"/>
                </a:solidFill>
                <a:latin typeface="Courier"/>
              </a:rPr>
              <a:t>&lt;</a:t>
            </a:r>
            <a:r>
              <a:rPr>
                <a:latin typeface="Courier"/>
              </a:rPr>
              <a:t>AsyncValue</a:t>
            </a:r>
            <a:r>
              <a:rPr>
                <a:solidFill>
                  <a:srgbClr val="666666"/>
                </a:solidFill>
                <a:latin typeface="Courier"/>
              </a:rPr>
              <a:t>&lt;</a:t>
            </a:r>
            <a:r>
              <a:rPr>
                <a:solidFill>
                  <a:srgbClr val="902000"/>
                </a:solidFill>
                <a:latin typeface="Courier"/>
              </a:rPr>
              <a:t>List</a:t>
            </a:r>
            <a:r>
              <a:rPr>
                <a:solidFill>
                  <a:srgbClr val="666666"/>
                </a:solidFill>
                <a:latin typeface="Courier"/>
              </a:rPr>
              <a:t>&lt;</a:t>
            </a:r>
            <a:r>
              <a:rPr>
                <a:latin typeface="Courier"/>
              </a:rPr>
              <a:t>Todo</a:t>
            </a:r>
            <a:r>
              <a:rPr>
                <a:solidFill>
                  <a:srgbClr val="666666"/>
                </a:solidFill>
                <a:latin typeface="Courier"/>
              </a:rPr>
              <a:t>&gt;&gt;&gt;</a:t>
            </a:r>
            <a:r>
              <a:rPr>
                <a:latin typeface="Courier"/>
              </a:rPr>
              <a:t> </a:t>
            </a:r>
            <a:r>
              <a:rPr>
                <a:solidFill>
                  <a:srgbClr val="666666"/>
                </a:solidFill>
                <a:latin typeface="Courier"/>
              </a:rPr>
              <a:t>{</a:t>
            </a:r>
            <a:br/>
            <a:r>
              <a:rPr>
                <a:latin typeface="Courier"/>
              </a:rPr>
              <a:t>  TodosNotifier(</a:t>
            </a:r>
            <a:r>
              <a:rPr b="1">
                <a:solidFill>
                  <a:srgbClr val="007020"/>
                </a:solidFill>
                <a:latin typeface="Courier"/>
              </a:rPr>
              <a:t>this</a:t>
            </a:r>
            <a:r>
              <a:rPr>
                <a:solidFill>
                  <a:srgbClr val="666666"/>
                </a:solidFill>
                <a:latin typeface="Courier"/>
              </a:rPr>
              <a:t>.</a:t>
            </a:r>
            <a:r>
              <a:rPr>
                <a:latin typeface="Courier"/>
              </a:rPr>
              <a:t>_repository) </a:t>
            </a:r>
            <a:r>
              <a:rPr>
                <a:solidFill>
                  <a:srgbClr val="666666"/>
                </a:solidFill>
                <a:latin typeface="Courier"/>
              </a:rPr>
              <a:t>:</a:t>
            </a:r>
            <a:r>
              <a:rPr>
                <a:latin typeface="Courier"/>
              </a:rPr>
              <a:t> </a:t>
            </a:r>
            <a:r>
              <a:rPr b="1">
                <a:solidFill>
                  <a:srgbClr val="007020"/>
                </a:solidFill>
                <a:latin typeface="Courier"/>
              </a:rPr>
              <a:t>super</a:t>
            </a:r>
            <a:r>
              <a:rPr>
                <a:latin typeface="Courier"/>
              </a:rPr>
              <a:t>(</a:t>
            </a:r>
            <a:r>
              <a:rPr>
                <a:solidFill>
                  <a:srgbClr val="7D9029"/>
                </a:solidFill>
                <a:latin typeface="Courier"/>
              </a:rPr>
              <a:t>const</a:t>
            </a:r>
            <a:r>
              <a:rPr>
                <a:latin typeface="Courier"/>
              </a:rPr>
              <a:t> AsyncValue</a:t>
            </a:r>
            <a:r>
              <a:rPr>
                <a:solidFill>
                  <a:srgbClr val="666666"/>
                </a:solidFill>
                <a:latin typeface="Courier"/>
              </a:rPr>
              <a:t>.</a:t>
            </a:r>
            <a:r>
              <a:rPr>
                <a:latin typeface="Courier"/>
              </a:rPr>
              <a:t>loading()) </a:t>
            </a:r>
            <a:r>
              <a:rPr>
                <a:solidFill>
                  <a:srgbClr val="666666"/>
                </a:solidFill>
                <a:latin typeface="Courier"/>
              </a:rPr>
              <a:t>{</a:t>
            </a:r>
            <a:br/>
            <a:r>
              <a:rPr>
                <a:latin typeface="Courier"/>
              </a:rPr>
              <a:t>    _loadTodos();</a:t>
            </a:r>
            <a:br/>
            <a:r>
              <a:rPr>
                <a:latin typeface="Courier"/>
              </a:rPr>
              <a:t>  </a:t>
            </a:r>
            <a:r>
              <a:rPr>
                <a:solidFill>
                  <a:srgbClr val="666666"/>
                </a:solidFill>
                <a:latin typeface="Courier"/>
              </a:rPr>
              <a:t>}</a:t>
            </a:r>
            <a:br/>
            <a:r>
              <a:rPr>
                <a:latin typeface="Courier"/>
              </a:rPr>
              <a:t>  </a:t>
            </a:r>
            <a:br/>
            <a:r>
              <a:rPr>
                <a:latin typeface="Courier"/>
              </a:rPr>
              <a:t>  </a:t>
            </a:r>
            <a:r>
              <a:rPr>
                <a:solidFill>
                  <a:srgbClr val="7D9029"/>
                </a:solidFill>
                <a:latin typeface="Courier"/>
              </a:rPr>
              <a:t>final</a:t>
            </a:r>
            <a:r>
              <a:rPr>
                <a:latin typeface="Courier"/>
              </a:rPr>
              <a:t> TodoRepository _repository;</a:t>
            </a:r>
            <a:br/>
            <a:r>
              <a:rPr>
                <a:latin typeface="Courier"/>
              </a:rPr>
              <a:t>  </a:t>
            </a:r>
            <a:br/>
            <a:r>
              <a:rPr>
                <a:latin typeface="Courier"/>
              </a:rPr>
              <a:t>  </a:t>
            </a:r>
            <a:r>
              <a:rPr>
                <a:solidFill>
                  <a:srgbClr val="902000"/>
                </a:solidFill>
                <a:latin typeface="Courier"/>
              </a:rPr>
              <a:t>Future</a:t>
            </a:r>
            <a:r>
              <a:rPr>
                <a:solidFill>
                  <a:srgbClr val="666666"/>
                </a:solidFill>
                <a:latin typeface="Courier"/>
              </a:rPr>
              <a:t>&lt;</a:t>
            </a:r>
            <a:r>
              <a:rPr>
                <a:solidFill>
                  <a:srgbClr val="902000"/>
                </a:solidFill>
                <a:latin typeface="Courier"/>
              </a:rPr>
              <a:t>void</a:t>
            </a:r>
            <a:r>
              <a:rPr>
                <a:solidFill>
                  <a:srgbClr val="666666"/>
                </a:solidFill>
                <a:latin typeface="Courier"/>
              </a:rPr>
              <a:t>&gt;</a:t>
            </a:r>
            <a:r>
              <a:rPr>
                <a:latin typeface="Courier"/>
              </a:rPr>
              <a:t> addTodo(Todo todo) </a:t>
            </a:r>
            <a:r>
              <a:rPr>
                <a:solidFill>
                  <a:srgbClr val="7D9029"/>
                </a:solidFill>
                <a:latin typeface="Courier"/>
              </a:rPr>
              <a:t>async</a:t>
            </a:r>
            <a:r>
              <a:rPr>
                <a:latin typeface="Courier"/>
              </a:rPr>
              <a:t> </a:t>
            </a:r>
            <a:r>
              <a:rPr>
                <a:solidFill>
                  <a:srgbClr val="666666"/>
                </a:solidFill>
                <a:latin typeface="Courier"/>
              </a:rPr>
              <a:t>{</a:t>
            </a:r>
            <a:br/>
            <a:r>
              <a:rPr>
                <a:latin typeface="Courier"/>
              </a:rPr>
              <a:t>    </a:t>
            </a:r>
            <a:r>
              <a:rPr>
                <a:solidFill>
                  <a:srgbClr val="7D9029"/>
                </a:solidFill>
                <a:latin typeface="Courier"/>
              </a:rPr>
              <a:t>await</a:t>
            </a:r>
            <a:r>
              <a:rPr>
                <a:latin typeface="Courier"/>
              </a:rPr>
              <a:t> _repository</a:t>
            </a:r>
            <a:r>
              <a:rPr>
                <a:solidFill>
                  <a:srgbClr val="666666"/>
                </a:solidFill>
                <a:latin typeface="Courier"/>
              </a:rPr>
              <a:t>.</a:t>
            </a:r>
            <a:r>
              <a:rPr>
                <a:latin typeface="Courier"/>
              </a:rPr>
              <a:t>addTodo(todo);</a:t>
            </a:r>
            <a:br/>
            <a:r>
              <a:rPr>
                <a:latin typeface="Courier"/>
              </a:rPr>
              <a:t>    </a:t>
            </a:r>
            <a:r>
              <a:rPr>
                <a:solidFill>
                  <a:srgbClr val="7D9029"/>
                </a:solidFill>
                <a:latin typeface="Courier"/>
              </a:rPr>
              <a:t>await</a:t>
            </a:r>
            <a:r>
              <a:rPr>
                <a:latin typeface="Courier"/>
              </a:rPr>
              <a:t> _loadTodos(); </a:t>
            </a:r>
            <a:r>
              <a:rPr i="1">
                <a:solidFill>
                  <a:srgbClr val="60A0B0"/>
                </a:solidFill>
                <a:latin typeface="Courier"/>
              </a:rPr>
              <a:t>// Reload after mutation</a:t>
            </a:r>
            <a:br/>
            <a:r>
              <a:rPr>
                <a:latin typeface="Courier"/>
              </a:rPr>
              <a:t>  </a:t>
            </a:r>
            <a:r>
              <a:rPr>
                <a:solidFill>
                  <a:srgbClr val="666666"/>
                </a:solidFill>
                <a:latin typeface="Courier"/>
              </a:rPr>
              <a:t>}</a:t>
            </a:r>
            <a:br/>
            <a:r>
              <a:rPr>
                <a:solidFill>
                  <a:srgbClr val="666666"/>
                </a:solidFill>
                <a:latin typeface="Courier"/>
              </a:rPr>
              <a:t>}</a:t>
            </a:r>
          </a:p>
          <a:p>
            <a:pPr lvl="0" indent="0" marL="0">
              <a:buNone/>
            </a:pPr>
            <a:r>
              <a:rPr b="1"/>
              <a:t>Note</a:t>
            </a:r>
            <a:r>
              <a:rPr/>
              <a:t>: This project uses </a:t>
            </a:r>
            <a:r>
              <a:rPr>
                <a:latin typeface="Courier"/>
              </a:rPr>
              <a:t>AsyncNotifierProvider</a:t>
            </a:r>
            <a:r>
              <a:rPr/>
              <a:t> instead for cleaner syntax.</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Feature-Specific Providers</a:t>
            </a:r>
          </a:p>
        </p:txBody>
      </p:sp>
      <p:sp>
        <p:nvSpPr>
          <p:cNvPr id="3" name="Content Placeholder 2"/>
          <p:cNvSpPr>
            <a:spLocks noGrp="1"/>
          </p:cNvSpPr>
          <p:nvPr>
            <p:ph idx="1"/>
          </p:nvPr>
        </p:nvSpPr>
        <p:spPr/>
        <p:txBody>
          <a:bodyPr/>
          <a:lstStyle/>
          <a:p>
            <a:pPr lvl="0" indent="0" marL="0">
              <a:spcBef>
                <a:spcPts val="3000"/>
              </a:spcBef>
              <a:buNone/>
            </a:pPr>
            <a:r>
              <a:rPr b="1"/>
              <a:t>Todos Feature</a:t>
            </a:r>
          </a:p>
          <a:p>
            <a:pPr lvl="0" indent="0">
              <a:buNone/>
            </a:pPr>
            <a:r>
              <a:rPr i="1">
                <a:solidFill>
                  <a:srgbClr val="60A0B0"/>
                </a:solidFill>
                <a:latin typeface="Courier"/>
              </a:rPr>
              <a:t>// Database layer</a:t>
            </a:r>
            <a:br/>
            <a:r>
              <a:rPr>
                <a:latin typeface="Courier"/>
              </a:rPr>
              <a:t>databaseProvider → todoRepositoryProvider</a:t>
            </a:r>
            <a:br/>
            <a:r>
              <a:rPr>
                <a:latin typeface="Courier"/>
              </a:rPr>
              <a:t>                    ↓</a:t>
            </a:r>
            <a:br/>
            <a:r>
              <a:rPr i="1">
                <a:solidFill>
                  <a:srgbClr val="60A0B0"/>
                </a:solidFill>
                <a:latin typeface="Courier"/>
              </a:rPr>
              <a:t>// State providers (UI filters)</a:t>
            </a:r>
            <a:br/>
            <a:r>
              <a:rPr>
                <a:latin typeface="Courier"/>
              </a:rPr>
              <a:t>searchQueryProvider (NotifierProvider</a:t>
            </a:r>
            <a:r>
              <a:rPr>
                <a:solidFill>
                  <a:srgbClr val="666666"/>
                </a:solidFill>
                <a:latin typeface="Courier"/>
              </a:rPr>
              <a:t>&lt;</a:t>
            </a:r>
            <a:r>
              <a:rPr>
                <a:solidFill>
                  <a:srgbClr val="902000"/>
                </a:solidFill>
                <a:latin typeface="Courier"/>
              </a:rPr>
              <a:t>String</a:t>
            </a:r>
            <a:r>
              <a:rPr>
                <a:solidFill>
                  <a:srgbClr val="666666"/>
                </a:solidFill>
                <a:latin typeface="Courier"/>
              </a:rPr>
              <a:t>&gt;</a:t>
            </a:r>
            <a:r>
              <a:rPr>
                <a:latin typeface="Courier"/>
              </a:rPr>
              <a:t>)</a:t>
            </a:r>
            <a:br/>
            <a:r>
              <a:rPr>
                <a:latin typeface="Courier"/>
              </a:rPr>
              <a:t>typeFilterProvider (NotifierProvider</a:t>
            </a:r>
            <a:r>
              <a:rPr>
                <a:solidFill>
                  <a:srgbClr val="666666"/>
                </a:solidFill>
                <a:latin typeface="Courier"/>
              </a:rPr>
              <a:t>&lt;</a:t>
            </a:r>
            <a:r>
              <a:rPr>
                <a:solidFill>
                  <a:srgbClr val="902000"/>
                </a:solidFill>
                <a:latin typeface="Courier"/>
              </a:rPr>
              <a:t>String</a:t>
            </a:r>
            <a:r>
              <a:rPr>
                <a:solidFill>
                  <a:srgbClr val="666666"/>
                </a:solidFill>
                <a:latin typeface="Courier"/>
              </a:rPr>
              <a:t>?&gt;</a:t>
            </a:r>
            <a:r>
              <a:rPr>
                <a:latin typeface="Courier"/>
              </a:rPr>
              <a:t>)</a:t>
            </a:r>
            <a:br/>
            <a:r>
              <a:rPr>
                <a:latin typeface="Courier"/>
              </a:rPr>
              <a:t>statusFilterProvider (NotifierProvider</a:t>
            </a:r>
            <a:r>
              <a:rPr>
                <a:solidFill>
                  <a:srgbClr val="666666"/>
                </a:solidFill>
                <a:latin typeface="Courier"/>
              </a:rPr>
              <a:t>&lt;</a:t>
            </a:r>
            <a:r>
              <a:rPr>
                <a:latin typeface="Courier"/>
              </a:rPr>
              <a:t>TodoStatus</a:t>
            </a:r>
            <a:r>
              <a:rPr>
                <a:solidFill>
                  <a:srgbClr val="666666"/>
                </a:solidFill>
                <a:latin typeface="Courier"/>
              </a:rPr>
              <a:t>&gt;</a:t>
            </a:r>
            <a:r>
              <a:rPr>
                <a:latin typeface="Courier"/>
              </a:rPr>
              <a:t>)</a:t>
            </a:r>
            <a:br/>
            <a:r>
              <a:rPr>
                <a:latin typeface="Courier"/>
              </a:rPr>
              <a:t>                    ↓</a:t>
            </a:r>
            <a:br/>
            <a:r>
              <a:rPr i="1">
                <a:solidFill>
                  <a:srgbClr val="60A0B0"/>
                </a:solidFill>
                <a:latin typeface="Courier"/>
              </a:rPr>
              <a:t>// Computed providers (filtered data)</a:t>
            </a:r>
            <a:br/>
            <a:r>
              <a:rPr>
                <a:latin typeface="Courier"/>
              </a:rPr>
              <a:t>filteredTodosProvider (AsyncNotifierProvider</a:t>
            </a:r>
            <a:r>
              <a:rPr>
                <a:solidFill>
                  <a:srgbClr val="666666"/>
                </a:solidFill>
                <a:latin typeface="Courier"/>
              </a:rPr>
              <a:t>&lt;</a:t>
            </a:r>
            <a:r>
              <a:rPr>
                <a:solidFill>
                  <a:srgbClr val="902000"/>
                </a:solidFill>
                <a:latin typeface="Courier"/>
              </a:rPr>
              <a:t>List</a:t>
            </a:r>
            <a:r>
              <a:rPr>
                <a:solidFill>
                  <a:srgbClr val="666666"/>
                </a:solidFill>
                <a:latin typeface="Courier"/>
              </a:rPr>
              <a:t>&lt;</a:t>
            </a:r>
            <a:r>
              <a:rPr>
                <a:latin typeface="Courier"/>
              </a:rPr>
              <a:t>Todo</a:t>
            </a:r>
            <a:r>
              <a:rPr>
                <a:solidFill>
                  <a:srgbClr val="666666"/>
                </a:solidFill>
                <a:latin typeface="Courier"/>
              </a:rPr>
              <a:t>&gt;&gt;</a:t>
            </a:r>
            <a:r>
              <a:rPr>
                <a:latin typeface="Courier"/>
              </a:rPr>
              <a:t>)</a:t>
            </a:r>
            <a:br/>
            <a:r>
              <a:rPr>
                <a:latin typeface="Courier"/>
              </a:rPr>
              <a:t>  </a:t>
            </a:r>
            <a:r>
              <a:rPr>
                <a:solidFill>
                  <a:srgbClr val="666666"/>
                </a:solidFill>
                <a:latin typeface="Courier"/>
              </a:rPr>
              <a:t>-</a:t>
            </a:r>
            <a:r>
              <a:rPr>
                <a:latin typeface="Courier"/>
              </a:rPr>
              <a:t> Watches</a:t>
            </a:r>
            <a:r>
              <a:rPr>
                <a:solidFill>
                  <a:srgbClr val="666666"/>
                </a:solidFill>
                <a:latin typeface="Courier"/>
              </a:rPr>
              <a:t>:</a:t>
            </a:r>
            <a:r>
              <a:rPr>
                <a:latin typeface="Courier"/>
              </a:rPr>
              <a:t> searchQuery</a:t>
            </a:r>
            <a:r>
              <a:rPr>
                <a:solidFill>
                  <a:srgbClr val="666666"/>
                </a:solidFill>
                <a:latin typeface="Courier"/>
              </a:rPr>
              <a:t>,</a:t>
            </a:r>
            <a:r>
              <a:rPr>
                <a:latin typeface="Courier"/>
              </a:rPr>
              <a:t> typeFilter</a:t>
            </a:r>
            <a:r>
              <a:rPr>
                <a:solidFill>
                  <a:srgbClr val="666666"/>
                </a:solidFill>
                <a:latin typeface="Courier"/>
              </a:rPr>
              <a:t>,</a:t>
            </a:r>
            <a:r>
              <a:rPr>
                <a:latin typeface="Courier"/>
              </a:rPr>
              <a:t> statusFilter</a:t>
            </a:r>
            <a:r>
              <a:rPr>
                <a:solidFill>
                  <a:srgbClr val="666666"/>
                </a:solidFill>
                <a:latin typeface="Courier"/>
              </a:rPr>
              <a:t>,</a:t>
            </a:r>
            <a:r>
              <a:rPr>
                <a:latin typeface="Courier"/>
              </a:rPr>
              <a:t> repository</a:t>
            </a:r>
            <a:br/>
            <a:r>
              <a:rPr>
                <a:latin typeface="Courier"/>
              </a:rPr>
              <a:t>  </a:t>
            </a:r>
            <a:r>
              <a:rPr>
                <a:solidFill>
                  <a:srgbClr val="666666"/>
                </a:solidFill>
                <a:latin typeface="Courier"/>
              </a:rPr>
              <a:t>-</a:t>
            </a:r>
            <a:r>
              <a:rPr>
                <a:latin typeface="Courier"/>
              </a:rPr>
              <a:t> Returns</a:t>
            </a:r>
            <a:r>
              <a:rPr>
                <a:solidFill>
                  <a:srgbClr val="666666"/>
                </a:solidFill>
                <a:latin typeface="Courier"/>
              </a:rPr>
              <a:t>:</a:t>
            </a:r>
            <a:r>
              <a:rPr>
                <a:latin typeface="Courier"/>
              </a:rPr>
              <a:t> Database</a:t>
            </a:r>
            <a:r>
              <a:rPr>
                <a:solidFill>
                  <a:srgbClr val="666666"/>
                </a:solidFill>
                <a:latin typeface="Courier"/>
              </a:rPr>
              <a:t>-</a:t>
            </a:r>
            <a:r>
              <a:rPr>
                <a:latin typeface="Courier"/>
              </a:rPr>
              <a:t>filtered todos</a:t>
            </a:r>
            <a:br/>
            <a:r>
              <a:rPr>
                <a:latin typeface="Courier"/>
              </a:rPr>
              <a:t>                    ↓</a:t>
            </a:r>
            <a:br/>
            <a:r>
              <a:rPr>
                <a:latin typeface="Courier"/>
              </a:rPr>
              <a:t>todoStatsProvider (Provider</a:t>
            </a:r>
            <a:r>
              <a:rPr>
                <a:solidFill>
                  <a:srgbClr val="666666"/>
                </a:solidFill>
                <a:latin typeface="Courier"/>
              </a:rPr>
              <a:t>&lt;</a:t>
            </a:r>
            <a:r>
              <a:rPr>
                <a:latin typeface="Courier"/>
              </a:rPr>
              <a:t>TodoStats</a:t>
            </a:r>
            <a:r>
              <a:rPr>
                <a:solidFill>
                  <a:srgbClr val="666666"/>
                </a:solidFill>
                <a:latin typeface="Courier"/>
              </a:rPr>
              <a:t>&gt;</a:t>
            </a:r>
            <a:r>
              <a:rPr>
                <a:latin typeface="Courier"/>
              </a:rPr>
              <a:t>)</a:t>
            </a:r>
            <a:br/>
            <a:r>
              <a:rPr>
                <a:latin typeface="Courier"/>
              </a:rPr>
              <a:t>  </a:t>
            </a:r>
            <a:r>
              <a:rPr>
                <a:solidFill>
                  <a:srgbClr val="666666"/>
                </a:solidFill>
                <a:latin typeface="Courier"/>
              </a:rPr>
              <a:t>-</a:t>
            </a:r>
            <a:r>
              <a:rPr>
                <a:latin typeface="Courier"/>
              </a:rPr>
              <a:t> Watches</a:t>
            </a:r>
            <a:r>
              <a:rPr>
                <a:solidFill>
                  <a:srgbClr val="666666"/>
                </a:solidFill>
                <a:latin typeface="Courier"/>
              </a:rPr>
              <a:t>:</a:t>
            </a:r>
            <a:r>
              <a:rPr>
                <a:latin typeface="Courier"/>
              </a:rPr>
              <a:t> filteredTodosProvider</a:t>
            </a:r>
            <a:br/>
            <a:r>
              <a:rPr>
                <a:latin typeface="Courier"/>
              </a:rPr>
              <a:t>  </a:t>
            </a:r>
            <a:r>
              <a:rPr>
                <a:solidFill>
                  <a:srgbClr val="666666"/>
                </a:solidFill>
                <a:latin typeface="Courier"/>
              </a:rPr>
              <a:t>-</a:t>
            </a:r>
            <a:r>
              <a:rPr>
                <a:latin typeface="Courier"/>
              </a:rPr>
              <a:t> Returns</a:t>
            </a:r>
            <a:r>
              <a:rPr>
                <a:solidFill>
                  <a:srgbClr val="666666"/>
                </a:solidFill>
                <a:latin typeface="Courier"/>
              </a:rPr>
              <a:t>:</a:t>
            </a:r>
            <a:r>
              <a:rPr>
                <a:latin typeface="Courier"/>
              </a:rPr>
              <a:t> Computed stats (total</a:t>
            </a:r>
            <a:r>
              <a:rPr>
                <a:solidFill>
                  <a:srgbClr val="666666"/>
                </a:solidFill>
                <a:latin typeface="Courier"/>
              </a:rPr>
              <a:t>,</a:t>
            </a:r>
            <a:r>
              <a:rPr>
                <a:latin typeface="Courier"/>
              </a:rPr>
              <a:t> completed</a:t>
            </a:r>
            <a:r>
              <a:rPr>
                <a:solidFill>
                  <a:srgbClr val="666666"/>
                </a:solidFill>
                <a:latin typeface="Courier"/>
              </a:rPr>
              <a:t>,</a:t>
            </a:r>
            <a:r>
              <a:rPr>
                <a:latin typeface="Courier"/>
              </a:rPr>
              <a:t> pending)</a:t>
            </a:r>
            <a:br/>
            <a:r>
              <a:rPr>
                <a:latin typeface="Courier"/>
              </a:rPr>
              <a:t>                    ↓</a:t>
            </a:r>
            <a:br/>
            <a:r>
              <a:rPr i="1">
                <a:solidFill>
                  <a:srgbClr val="60A0B0"/>
                </a:solidFill>
                <a:latin typeface="Courier"/>
              </a:rPr>
              <a:t>// UI</a:t>
            </a:r>
            <a:br/>
            <a:r>
              <a:rPr>
                <a:latin typeface="Courier"/>
              </a:rPr>
              <a:t>TodoListScreen (ConsumerWidget)</a:t>
            </a:r>
            <a:br/>
            <a:r>
              <a:rPr>
                <a:latin typeface="Courier"/>
              </a:rPr>
              <a:t>  </a:t>
            </a:r>
            <a:r>
              <a:rPr>
                <a:solidFill>
                  <a:srgbClr val="666666"/>
                </a:solidFill>
                <a:latin typeface="Courier"/>
              </a:rPr>
              <a:t>-</a:t>
            </a:r>
            <a:r>
              <a:rPr>
                <a:latin typeface="Courier"/>
              </a:rPr>
              <a:t> Watches</a:t>
            </a:r>
            <a:r>
              <a:rPr>
                <a:solidFill>
                  <a:srgbClr val="666666"/>
                </a:solidFill>
                <a:latin typeface="Courier"/>
              </a:rPr>
              <a:t>:</a:t>
            </a:r>
            <a:r>
              <a:rPr>
                <a:latin typeface="Courier"/>
              </a:rPr>
              <a:t> filteredTodosProvider</a:t>
            </a:r>
            <a:r>
              <a:rPr>
                <a:solidFill>
                  <a:srgbClr val="666666"/>
                </a:solidFill>
                <a:latin typeface="Courier"/>
              </a:rPr>
              <a:t>,</a:t>
            </a:r>
            <a:r>
              <a:rPr>
                <a:latin typeface="Courier"/>
              </a:rPr>
              <a:t> searchQueryProvider</a:t>
            </a:r>
            <a:r>
              <a:rPr>
                <a:solidFill>
                  <a:srgbClr val="666666"/>
                </a:solidFill>
                <a:latin typeface="Courier"/>
              </a:rPr>
              <a:t>,</a:t>
            </a:r>
            <a:r>
              <a:rPr>
                <a:latin typeface="Courier"/>
              </a:rPr>
              <a:t> typeFilterProvider</a:t>
            </a:r>
            <a:br/>
            <a:r>
              <a:rPr>
                <a:latin typeface="Courier"/>
              </a:rPr>
              <a:t>  </a:t>
            </a:r>
            <a:r>
              <a:rPr>
                <a:solidFill>
                  <a:srgbClr val="666666"/>
                </a:solidFill>
                <a:latin typeface="Courier"/>
              </a:rPr>
              <a:t>-</a:t>
            </a:r>
            <a:r>
              <a:rPr>
                <a:latin typeface="Courier"/>
              </a:rPr>
              <a:t> Displays</a:t>
            </a:r>
            <a:r>
              <a:rPr>
                <a:solidFill>
                  <a:srgbClr val="666666"/>
                </a:solidFill>
                <a:latin typeface="Courier"/>
              </a:rPr>
              <a:t>:</a:t>
            </a:r>
            <a:r>
              <a:rPr>
                <a:latin typeface="Courier"/>
              </a:rPr>
              <a:t> Filtered todos </a:t>
            </a:r>
            <a:r>
              <a:rPr b="1">
                <a:solidFill>
                  <a:srgbClr val="007020"/>
                </a:solidFill>
                <a:latin typeface="Courier"/>
              </a:rPr>
              <a:t>with</a:t>
            </a:r>
            <a:r>
              <a:rPr>
                <a:latin typeface="Courier"/>
              </a:rPr>
              <a:t> loading</a:t>
            </a:r>
            <a:r>
              <a:rPr>
                <a:solidFill>
                  <a:srgbClr val="666666"/>
                </a:solidFill>
                <a:latin typeface="Courier"/>
              </a:rPr>
              <a:t>/</a:t>
            </a:r>
            <a:r>
              <a:rPr>
                <a:latin typeface="Courier"/>
              </a:rPr>
              <a:t>error states</a:t>
            </a:r>
          </a:p>
          <a:p>
            <a:pPr lvl="0" indent="0" marL="0">
              <a:spcBef>
                <a:spcPts val="3000"/>
              </a:spcBef>
              <a:buNone/>
            </a:pPr>
            <a:r>
              <a:rPr b="1"/>
              <a:t>Pets Feature</a:t>
            </a:r>
          </a:p>
          <a:p>
            <a:pPr lvl="0" indent="0">
              <a:buNone/>
            </a:pPr>
            <a:r>
              <a:rPr i="1">
                <a:solidFill>
                  <a:srgbClr val="60A0B0"/>
                </a:solidFill>
                <a:latin typeface="Courier"/>
              </a:rPr>
              <a:t>// Database layer</a:t>
            </a:r>
            <a:br/>
            <a:r>
              <a:rPr>
                <a:latin typeface="Courier"/>
              </a:rPr>
              <a:t>databaseProvider → petRepositoryProvider</a:t>
            </a:r>
            <a:br/>
            <a:r>
              <a:rPr>
                <a:latin typeface="Courier"/>
              </a:rPr>
              <a:t>                    ↓</a:t>
            </a:r>
            <a:br/>
            <a:r>
              <a:rPr i="1">
                <a:solidFill>
                  <a:srgbClr val="60A0B0"/>
                </a:solidFill>
                <a:latin typeface="Courier"/>
              </a:rPr>
              <a:t>// State providers</a:t>
            </a:r>
            <a:br/>
            <a:r>
              <a:rPr>
                <a:latin typeface="Courier"/>
              </a:rPr>
              <a:t>selectedOwnerIdProvider (NotifierProvider</a:t>
            </a:r>
            <a:r>
              <a:rPr>
                <a:solidFill>
                  <a:srgbClr val="666666"/>
                </a:solidFill>
                <a:latin typeface="Courier"/>
              </a:rPr>
              <a:t>&lt;</a:t>
            </a:r>
            <a:r>
              <a:rPr>
                <a:solidFill>
                  <a:srgbClr val="902000"/>
                </a:solidFill>
                <a:latin typeface="Courier"/>
              </a:rPr>
              <a:t>int</a:t>
            </a:r>
            <a:r>
              <a:rPr>
                <a:solidFill>
                  <a:srgbClr val="666666"/>
                </a:solidFill>
                <a:latin typeface="Courier"/>
              </a:rPr>
              <a:t>?&gt;</a:t>
            </a:r>
            <a:r>
              <a:rPr>
                <a:latin typeface="Courier"/>
              </a:rPr>
              <a:t>)</a:t>
            </a:r>
            <a:br/>
            <a:r>
              <a:rPr>
                <a:latin typeface="Courier"/>
              </a:rPr>
              <a:t>                    ↓</a:t>
            </a:r>
            <a:br/>
            <a:r>
              <a:rPr i="1">
                <a:solidFill>
                  <a:srgbClr val="60A0B0"/>
                </a:solidFill>
                <a:latin typeface="Courier"/>
              </a:rPr>
              <a:t>// Data providers</a:t>
            </a:r>
            <a:br/>
            <a:r>
              <a:rPr>
                <a:latin typeface="Courier"/>
              </a:rPr>
              <a:t>ownersProvider (FutureProvider</a:t>
            </a:r>
            <a:r>
              <a:rPr>
                <a:solidFill>
                  <a:srgbClr val="666666"/>
                </a:solidFill>
                <a:latin typeface="Courier"/>
              </a:rPr>
              <a:t>&lt;</a:t>
            </a:r>
            <a:r>
              <a:rPr>
                <a:solidFill>
                  <a:srgbClr val="902000"/>
                </a:solidFill>
                <a:latin typeface="Courier"/>
              </a:rPr>
              <a:t>List</a:t>
            </a:r>
            <a:r>
              <a:rPr>
                <a:solidFill>
                  <a:srgbClr val="666666"/>
                </a:solidFill>
                <a:latin typeface="Courier"/>
              </a:rPr>
              <a:t>&lt;</a:t>
            </a:r>
            <a:r>
              <a:rPr>
                <a:latin typeface="Courier"/>
              </a:rPr>
              <a:t>Owner</a:t>
            </a:r>
            <a:r>
              <a:rPr>
                <a:solidFill>
                  <a:srgbClr val="666666"/>
                </a:solidFill>
                <a:latin typeface="Courier"/>
              </a:rPr>
              <a:t>&gt;&gt;</a:t>
            </a:r>
            <a:r>
              <a:rPr>
                <a:latin typeface="Courier"/>
              </a:rPr>
              <a:t>)</a:t>
            </a:r>
            <a:br/>
            <a:r>
              <a:rPr>
                <a:latin typeface="Courier"/>
              </a:rPr>
              <a:t>  </a:t>
            </a:r>
            <a:r>
              <a:rPr>
                <a:solidFill>
                  <a:srgbClr val="666666"/>
                </a:solidFill>
                <a:latin typeface="Courier"/>
              </a:rPr>
              <a:t>-</a:t>
            </a:r>
            <a:r>
              <a:rPr>
                <a:latin typeface="Courier"/>
              </a:rPr>
              <a:t> Watches</a:t>
            </a:r>
            <a:r>
              <a:rPr>
                <a:solidFill>
                  <a:srgbClr val="666666"/>
                </a:solidFill>
                <a:latin typeface="Courier"/>
              </a:rPr>
              <a:t>:</a:t>
            </a:r>
            <a:r>
              <a:rPr>
                <a:latin typeface="Courier"/>
              </a:rPr>
              <a:t> petRepositoryProvider</a:t>
            </a:r>
            <a:br/>
            <a:r>
              <a:rPr>
                <a:latin typeface="Courier"/>
              </a:rPr>
              <a:t>  </a:t>
            </a:r>
            <a:r>
              <a:rPr>
                <a:solidFill>
                  <a:srgbClr val="666666"/>
                </a:solidFill>
                <a:latin typeface="Courier"/>
              </a:rPr>
              <a:t>-</a:t>
            </a:r>
            <a:r>
              <a:rPr>
                <a:latin typeface="Courier"/>
              </a:rPr>
              <a:t> Returns</a:t>
            </a:r>
            <a:r>
              <a:rPr>
                <a:solidFill>
                  <a:srgbClr val="666666"/>
                </a:solidFill>
                <a:latin typeface="Courier"/>
              </a:rPr>
              <a:t>:</a:t>
            </a:r>
            <a:r>
              <a:rPr>
                <a:latin typeface="Courier"/>
              </a:rPr>
              <a:t> All owners</a:t>
            </a:r>
            <a:br/>
            <a:br/>
            <a:r>
              <a:rPr>
                <a:latin typeface="Courier"/>
              </a:rPr>
              <a:t>petsProvider (FutureProvider</a:t>
            </a:r>
            <a:r>
              <a:rPr>
                <a:solidFill>
                  <a:srgbClr val="666666"/>
                </a:solidFill>
                <a:latin typeface="Courier"/>
              </a:rPr>
              <a:t>&lt;</a:t>
            </a:r>
            <a:r>
              <a:rPr>
                <a:solidFill>
                  <a:srgbClr val="902000"/>
                </a:solidFill>
                <a:latin typeface="Courier"/>
              </a:rPr>
              <a:t>List</a:t>
            </a:r>
            <a:r>
              <a:rPr>
                <a:solidFill>
                  <a:srgbClr val="666666"/>
                </a:solidFill>
                <a:latin typeface="Courier"/>
              </a:rPr>
              <a:t>&lt;</a:t>
            </a:r>
            <a:r>
              <a:rPr>
                <a:latin typeface="Courier"/>
              </a:rPr>
              <a:t>Pet</a:t>
            </a:r>
            <a:r>
              <a:rPr>
                <a:solidFill>
                  <a:srgbClr val="666666"/>
                </a:solidFill>
                <a:latin typeface="Courier"/>
              </a:rPr>
              <a:t>&gt;&gt;</a:t>
            </a:r>
            <a:r>
              <a:rPr>
                <a:latin typeface="Courier"/>
              </a:rPr>
              <a:t>)</a:t>
            </a:r>
            <a:br/>
            <a:r>
              <a:rPr>
                <a:latin typeface="Courier"/>
              </a:rPr>
              <a:t>  </a:t>
            </a:r>
            <a:r>
              <a:rPr>
                <a:solidFill>
                  <a:srgbClr val="666666"/>
                </a:solidFill>
                <a:latin typeface="Courier"/>
              </a:rPr>
              <a:t>-</a:t>
            </a:r>
            <a:r>
              <a:rPr>
                <a:latin typeface="Courier"/>
              </a:rPr>
              <a:t> Watches</a:t>
            </a:r>
            <a:r>
              <a:rPr>
                <a:solidFill>
                  <a:srgbClr val="666666"/>
                </a:solidFill>
                <a:latin typeface="Courier"/>
              </a:rPr>
              <a:t>:</a:t>
            </a:r>
            <a:r>
              <a:rPr>
                <a:latin typeface="Courier"/>
              </a:rPr>
              <a:t> selectedOwnerIdProvider</a:t>
            </a:r>
            <a:r>
              <a:rPr>
                <a:solidFill>
                  <a:srgbClr val="666666"/>
                </a:solidFill>
                <a:latin typeface="Courier"/>
              </a:rPr>
              <a:t>,</a:t>
            </a:r>
            <a:r>
              <a:rPr>
                <a:latin typeface="Courier"/>
              </a:rPr>
              <a:t> petRepositoryProvider</a:t>
            </a:r>
            <a:br/>
            <a:r>
              <a:rPr>
                <a:latin typeface="Courier"/>
              </a:rPr>
              <a:t>  </a:t>
            </a:r>
            <a:r>
              <a:rPr>
                <a:solidFill>
                  <a:srgbClr val="666666"/>
                </a:solidFill>
                <a:latin typeface="Courier"/>
              </a:rPr>
              <a:t>-</a:t>
            </a:r>
            <a:r>
              <a:rPr>
                <a:latin typeface="Courier"/>
              </a:rPr>
              <a:t> Returns</a:t>
            </a:r>
            <a:r>
              <a:rPr>
                <a:solidFill>
                  <a:srgbClr val="666666"/>
                </a:solidFill>
                <a:latin typeface="Courier"/>
              </a:rPr>
              <a:t>:</a:t>
            </a:r>
            <a:r>
              <a:rPr>
                <a:latin typeface="Courier"/>
              </a:rPr>
              <a:t> Pets filtered by selected owner</a:t>
            </a:r>
            <a:br/>
            <a:br/>
            <a:r>
              <a:rPr>
                <a:latin typeface="Courier"/>
              </a:rPr>
              <a:t>petsWithOwnersProvider (FutureProvider</a:t>
            </a:r>
            <a:r>
              <a:rPr>
                <a:solidFill>
                  <a:srgbClr val="666666"/>
                </a:solidFill>
                <a:latin typeface="Courier"/>
              </a:rPr>
              <a:t>&lt;</a:t>
            </a:r>
            <a:r>
              <a:rPr>
                <a:solidFill>
                  <a:srgbClr val="902000"/>
                </a:solidFill>
                <a:latin typeface="Courier"/>
              </a:rPr>
              <a:t>List</a:t>
            </a:r>
            <a:r>
              <a:rPr>
                <a:solidFill>
                  <a:srgbClr val="666666"/>
                </a:solidFill>
                <a:latin typeface="Courier"/>
              </a:rPr>
              <a:t>&lt;</a:t>
            </a:r>
            <a:r>
              <a:rPr>
                <a:latin typeface="Courier"/>
              </a:rPr>
              <a:t>PetOwner</a:t>
            </a:r>
            <a:r>
              <a:rPr>
                <a:solidFill>
                  <a:srgbClr val="666666"/>
                </a:solidFill>
                <a:latin typeface="Courier"/>
              </a:rPr>
              <a:t>&gt;&gt;</a:t>
            </a:r>
            <a:r>
              <a:rPr>
                <a:latin typeface="Courier"/>
              </a:rPr>
              <a:t>)</a:t>
            </a:r>
            <a:br/>
            <a:r>
              <a:rPr>
                <a:latin typeface="Courier"/>
              </a:rPr>
              <a:t>  </a:t>
            </a:r>
            <a:r>
              <a:rPr>
                <a:solidFill>
                  <a:srgbClr val="666666"/>
                </a:solidFill>
                <a:latin typeface="Courier"/>
              </a:rPr>
              <a:t>-</a:t>
            </a:r>
            <a:r>
              <a:rPr>
                <a:latin typeface="Courier"/>
              </a:rPr>
              <a:t> Watches</a:t>
            </a:r>
            <a:r>
              <a:rPr>
                <a:solidFill>
                  <a:srgbClr val="666666"/>
                </a:solidFill>
                <a:latin typeface="Courier"/>
              </a:rPr>
              <a:t>:</a:t>
            </a:r>
            <a:r>
              <a:rPr>
                <a:latin typeface="Courier"/>
              </a:rPr>
              <a:t> petRepositoryProvider</a:t>
            </a:r>
            <a:br/>
            <a:r>
              <a:rPr>
                <a:latin typeface="Courier"/>
              </a:rPr>
              <a:t>  </a:t>
            </a:r>
            <a:r>
              <a:rPr>
                <a:solidFill>
                  <a:srgbClr val="666666"/>
                </a:solidFill>
                <a:latin typeface="Courier"/>
              </a:rPr>
              <a:t>-</a:t>
            </a:r>
            <a:r>
              <a:rPr>
                <a:latin typeface="Courier"/>
              </a:rPr>
              <a:t> Returns</a:t>
            </a:r>
            <a:r>
              <a:rPr>
                <a:solidFill>
                  <a:srgbClr val="666666"/>
                </a:solidFill>
                <a:latin typeface="Courier"/>
              </a:rPr>
              <a:t>:</a:t>
            </a:r>
            <a:r>
              <a:rPr>
                <a:latin typeface="Courier"/>
              </a:rPr>
              <a:t> Database view JOIN results</a:t>
            </a:r>
            <a:br/>
            <a:r>
              <a:rPr>
                <a:latin typeface="Courier"/>
              </a:rPr>
              <a:t>                    ↓</a:t>
            </a:r>
            <a:br/>
            <a:r>
              <a:rPr i="1">
                <a:solidFill>
                  <a:srgbClr val="60A0B0"/>
                </a:solidFill>
                <a:latin typeface="Courier"/>
              </a:rPr>
              <a:t>// UI</a:t>
            </a:r>
            <a:br/>
            <a:r>
              <a:rPr>
                <a:latin typeface="Courier"/>
              </a:rPr>
              <a:t>PetsScreen (ConsumerWidget)</a:t>
            </a:r>
            <a:br/>
            <a:r>
              <a:rPr>
                <a:latin typeface="Courier"/>
              </a:rPr>
              <a:t>  </a:t>
            </a:r>
            <a:r>
              <a:rPr>
                <a:solidFill>
                  <a:srgbClr val="666666"/>
                </a:solidFill>
                <a:latin typeface="Courier"/>
              </a:rPr>
              <a:t>-</a:t>
            </a:r>
            <a:r>
              <a:rPr>
                <a:latin typeface="Courier"/>
              </a:rPr>
              <a:t> Watches</a:t>
            </a:r>
            <a:r>
              <a:rPr>
                <a:solidFill>
                  <a:srgbClr val="666666"/>
                </a:solidFill>
                <a:latin typeface="Courier"/>
              </a:rPr>
              <a:t>:</a:t>
            </a:r>
            <a:r>
              <a:rPr>
                <a:latin typeface="Courier"/>
              </a:rPr>
              <a:t> ownersProvider</a:t>
            </a:r>
            <a:r>
              <a:rPr>
                <a:solidFill>
                  <a:srgbClr val="666666"/>
                </a:solidFill>
                <a:latin typeface="Courier"/>
              </a:rPr>
              <a:t>,</a:t>
            </a:r>
            <a:r>
              <a:rPr>
                <a:latin typeface="Courier"/>
              </a:rPr>
              <a:t> petsProvider</a:t>
            </a:r>
            <a:r>
              <a:rPr>
                <a:solidFill>
                  <a:srgbClr val="666666"/>
                </a:solidFill>
                <a:latin typeface="Courier"/>
              </a:rPr>
              <a:t>,</a:t>
            </a:r>
            <a:r>
              <a:rPr>
                <a:latin typeface="Courier"/>
              </a:rPr>
              <a:t> selectedOwnerIdProvider</a:t>
            </a:r>
            <a:br/>
            <a:r>
              <a:rPr>
                <a:latin typeface="Courier"/>
              </a:rPr>
              <a:t>  </a:t>
            </a:r>
            <a:r>
              <a:rPr>
                <a:solidFill>
                  <a:srgbClr val="666666"/>
                </a:solidFill>
                <a:latin typeface="Courier"/>
              </a:rPr>
              <a:t>-</a:t>
            </a:r>
            <a:r>
              <a:rPr>
                <a:latin typeface="Courier"/>
              </a:rPr>
              <a:t> Displays</a:t>
            </a:r>
            <a:r>
              <a:rPr>
                <a:solidFill>
                  <a:srgbClr val="666666"/>
                </a:solidFill>
                <a:latin typeface="Courier"/>
              </a:rPr>
              <a:t>:</a:t>
            </a:r>
            <a:r>
              <a:rPr>
                <a:latin typeface="Courier"/>
              </a:rPr>
              <a:t> Owner list and filtered pet list</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Communication Patterns</a:t>
            </a:r>
          </a:p>
        </p:txBody>
      </p:sp>
      <p:sp>
        <p:nvSpPr>
          <p:cNvPr id="3" name="Content Placeholder 2"/>
          <p:cNvSpPr>
            <a:spLocks noGrp="1"/>
          </p:cNvSpPr>
          <p:nvPr>
            <p:ph idx="1"/>
          </p:nvPr>
        </p:nvSpPr>
        <p:spPr/>
        <p:txBody>
          <a:bodyPr/>
          <a:lstStyle/>
          <a:p>
            <a:pPr lvl="0" indent="0" marL="0">
              <a:spcBef>
                <a:spcPts val="3000"/>
              </a:spcBef>
              <a:buNone/>
            </a:pPr>
            <a:r>
              <a:rPr b="1"/>
              <a:t>Pattern 1: State → Computed → UI</a:t>
            </a:r>
          </a:p>
          <a:p>
            <a:pPr lvl="0" indent="0">
              <a:buNone/>
            </a:pPr>
            <a:r>
              <a:rPr i="1">
                <a:solidFill>
                  <a:srgbClr val="60A0B0"/>
                </a:solidFill>
                <a:latin typeface="Courier"/>
              </a:rPr>
              <a:t>// State provider</a:t>
            </a:r>
            <a:br/>
            <a:r>
              <a:rPr>
                <a:latin typeface="Courier"/>
              </a:rPr>
              <a:t>ref</a:t>
            </a:r>
            <a:r>
              <a:rPr>
                <a:solidFill>
                  <a:srgbClr val="666666"/>
                </a:solidFill>
                <a:latin typeface="Courier"/>
              </a:rPr>
              <a:t>.</a:t>
            </a:r>
            <a:r>
              <a:rPr>
                <a:latin typeface="Courier"/>
              </a:rPr>
              <a:t>read(searchQueryProvider</a:t>
            </a:r>
            <a:r>
              <a:rPr>
                <a:solidFill>
                  <a:srgbClr val="666666"/>
                </a:solidFill>
                <a:latin typeface="Courier"/>
              </a:rPr>
              <a:t>.</a:t>
            </a:r>
            <a:r>
              <a:rPr>
                <a:latin typeface="Courier"/>
              </a:rPr>
              <a:t>notifier)</a:t>
            </a:r>
            <a:r>
              <a:rPr>
                <a:solidFill>
                  <a:srgbClr val="666666"/>
                </a:solidFill>
                <a:latin typeface="Courier"/>
              </a:rPr>
              <a:t>.</a:t>
            </a:r>
            <a:r>
              <a:rPr>
                <a:latin typeface="Courier"/>
              </a:rPr>
              <a:t>setQuery(</a:t>
            </a:r>
            <a:r>
              <a:rPr>
                <a:solidFill>
                  <a:srgbClr val="4070A0"/>
                </a:solidFill>
                <a:latin typeface="Courier"/>
              </a:rPr>
              <a:t>'flutter'</a:t>
            </a:r>
            <a:r>
              <a:rPr>
                <a:latin typeface="Courier"/>
              </a:rPr>
              <a:t>);</a:t>
            </a:r>
            <a:br/>
            <a:r>
              <a:rPr>
                <a:latin typeface="Courier"/>
              </a:rPr>
              <a:t>       ↓</a:t>
            </a:r>
            <a:br/>
            <a:r>
              <a:rPr i="1">
                <a:solidFill>
                  <a:srgbClr val="60A0B0"/>
                </a:solidFill>
                <a:latin typeface="Courier"/>
              </a:rPr>
              <a:t>// Triggers rebuild in computed provider</a:t>
            </a:r>
            <a:br/>
            <a:r>
              <a:rPr>
                <a:latin typeface="Courier"/>
              </a:rPr>
              <a:t>filteredTodosProvider (watches searchQueryProvider)</a:t>
            </a:r>
            <a:br/>
            <a:r>
              <a:rPr>
                <a:latin typeface="Courier"/>
              </a:rPr>
              <a:t>       ↓</a:t>
            </a:r>
            <a:br/>
            <a:r>
              <a:rPr i="1">
                <a:solidFill>
                  <a:srgbClr val="60A0B0"/>
                </a:solidFill>
                <a:latin typeface="Courier"/>
              </a:rPr>
              <a:t>// UI automatically updates</a:t>
            </a:r>
            <a:br/>
            <a:r>
              <a:rPr>
                <a:latin typeface="Courier"/>
              </a:rPr>
              <a:t>ConsumerWidget (watches filteredTodosProvider)</a:t>
            </a:r>
          </a:p>
          <a:p>
            <a:pPr lvl="0" indent="0" marL="0">
              <a:spcBef>
                <a:spcPts val="3000"/>
              </a:spcBef>
              <a:buNone/>
            </a:pPr>
            <a:r>
              <a:rPr b="1"/>
              <a:t>Pattern 2: Mutation → Manual Refresh</a:t>
            </a:r>
          </a:p>
          <a:p>
            <a:pPr lvl="0" indent="0">
              <a:buNone/>
            </a:pPr>
            <a:r>
              <a:rPr i="1">
                <a:solidFill>
                  <a:srgbClr val="60A0B0"/>
                </a:solidFill>
                <a:latin typeface="Courier"/>
              </a:rPr>
              <a:t>// Mutation</a:t>
            </a:r>
            <a:br/>
            <a:r>
              <a:rPr>
                <a:solidFill>
                  <a:srgbClr val="7D9029"/>
                </a:solidFill>
                <a:latin typeface="Courier"/>
              </a:rPr>
              <a:t>await</a:t>
            </a:r>
            <a:r>
              <a:rPr>
                <a:latin typeface="Courier"/>
              </a:rPr>
              <a:t> repository</a:t>
            </a:r>
            <a:r>
              <a:rPr>
                <a:solidFill>
                  <a:srgbClr val="666666"/>
                </a:solidFill>
                <a:latin typeface="Courier"/>
              </a:rPr>
              <a:t>.</a:t>
            </a:r>
            <a:r>
              <a:rPr>
                <a:latin typeface="Courier"/>
              </a:rPr>
              <a:t>addTodo(newTodo);</a:t>
            </a:r>
            <a:br/>
            <a:r>
              <a:rPr>
                <a:latin typeface="Courier"/>
              </a:rPr>
              <a:t>       ↓</a:t>
            </a:r>
            <a:br/>
            <a:r>
              <a:rPr i="1">
                <a:solidFill>
                  <a:srgbClr val="60A0B0"/>
                </a:solidFill>
                <a:latin typeface="Courier"/>
              </a:rPr>
              <a:t>// Manual refresh</a:t>
            </a:r>
            <a:br/>
            <a:r>
              <a:rPr>
                <a:latin typeface="Courier"/>
              </a:rPr>
              <a:t>ref</a:t>
            </a:r>
            <a:r>
              <a:rPr>
                <a:solidFill>
                  <a:srgbClr val="666666"/>
                </a:solidFill>
                <a:latin typeface="Courier"/>
              </a:rPr>
              <a:t>.</a:t>
            </a:r>
            <a:r>
              <a:rPr>
                <a:latin typeface="Courier"/>
              </a:rPr>
              <a:t>read(filteredTodosProvider</a:t>
            </a:r>
            <a:r>
              <a:rPr>
                <a:solidFill>
                  <a:srgbClr val="666666"/>
                </a:solidFill>
                <a:latin typeface="Courier"/>
              </a:rPr>
              <a:t>.</a:t>
            </a:r>
            <a:r>
              <a:rPr>
                <a:latin typeface="Courier"/>
              </a:rPr>
              <a:t>notifier)</a:t>
            </a:r>
            <a:r>
              <a:rPr>
                <a:solidFill>
                  <a:srgbClr val="666666"/>
                </a:solidFill>
                <a:latin typeface="Courier"/>
              </a:rPr>
              <a:t>.</a:t>
            </a:r>
            <a:r>
              <a:rPr>
                <a:latin typeface="Courier"/>
              </a:rPr>
              <a:t>refresh();</a:t>
            </a:r>
            <a:br/>
            <a:r>
              <a:rPr>
                <a:latin typeface="Courier"/>
              </a:rPr>
              <a:t>       ↓</a:t>
            </a:r>
            <a:br/>
            <a:r>
              <a:rPr i="1">
                <a:solidFill>
                  <a:srgbClr val="60A0B0"/>
                </a:solidFill>
                <a:latin typeface="Courier"/>
              </a:rPr>
              <a:t>// Triggers database query</a:t>
            </a:r>
            <a:br/>
            <a:r>
              <a:rPr>
                <a:latin typeface="Courier"/>
              </a:rPr>
              <a:t>filteredTodosProvider</a:t>
            </a:r>
            <a:r>
              <a:rPr>
                <a:solidFill>
                  <a:srgbClr val="666666"/>
                </a:solidFill>
                <a:latin typeface="Courier"/>
              </a:rPr>
              <a:t>.</a:t>
            </a:r>
            <a:r>
              <a:rPr>
                <a:latin typeface="Courier"/>
              </a:rPr>
              <a:t>build() runs again</a:t>
            </a:r>
            <a:br/>
            <a:r>
              <a:rPr>
                <a:latin typeface="Courier"/>
              </a:rPr>
              <a:t>       ↓</a:t>
            </a:r>
            <a:br/>
            <a:r>
              <a:rPr i="1">
                <a:solidFill>
                  <a:srgbClr val="60A0B0"/>
                </a:solidFill>
                <a:latin typeface="Courier"/>
              </a:rPr>
              <a:t>// UI updates</a:t>
            </a:r>
            <a:br/>
            <a:r>
              <a:rPr>
                <a:latin typeface="Courier"/>
              </a:rPr>
              <a:t>ConsumerWidget sees </a:t>
            </a:r>
            <a:r>
              <a:rPr b="1">
                <a:solidFill>
                  <a:srgbClr val="007020"/>
                </a:solidFill>
                <a:latin typeface="Courier"/>
              </a:rPr>
              <a:t>new</a:t>
            </a:r>
            <a:r>
              <a:rPr>
                <a:latin typeface="Courier"/>
              </a:rPr>
              <a:t> AsyncValue</a:t>
            </a:r>
          </a:p>
          <a:p>
            <a:pPr lvl="0" indent="0" marL="0">
              <a:spcBef>
                <a:spcPts val="3000"/>
              </a:spcBef>
              <a:buNone/>
            </a:pPr>
            <a:r>
              <a:rPr b="1"/>
              <a:t>Pattern 3: Invalidation (Cache Clearing)</a:t>
            </a:r>
          </a:p>
          <a:p>
            <a:pPr lvl="0" indent="0">
              <a:buNone/>
            </a:pPr>
            <a:r>
              <a:rPr i="1">
                <a:solidFill>
                  <a:srgbClr val="60A0B0"/>
                </a:solidFill>
                <a:latin typeface="Courier"/>
              </a:rPr>
              <a:t>// Invalidate specific provider</a:t>
            </a:r>
            <a:br/>
            <a:r>
              <a:rPr>
                <a:latin typeface="Courier"/>
              </a:rPr>
              <a:t>ref</a:t>
            </a:r>
            <a:r>
              <a:rPr>
                <a:solidFill>
                  <a:srgbClr val="666666"/>
                </a:solidFill>
                <a:latin typeface="Courier"/>
              </a:rPr>
              <a:t>.</a:t>
            </a:r>
            <a:r>
              <a:rPr>
                <a:latin typeface="Courier"/>
              </a:rPr>
              <a:t>invalidate(petsProvider);</a:t>
            </a:r>
            <a:br/>
            <a:r>
              <a:rPr>
                <a:latin typeface="Courier"/>
              </a:rPr>
              <a:t>       ↓</a:t>
            </a:r>
            <a:br/>
            <a:r>
              <a:rPr i="1">
                <a:solidFill>
                  <a:srgbClr val="60A0B0"/>
                </a:solidFill>
                <a:latin typeface="Courier"/>
              </a:rPr>
              <a:t>// Provider rebuilds from scratch</a:t>
            </a:r>
            <a:br/>
            <a:r>
              <a:rPr>
                <a:latin typeface="Courier"/>
              </a:rPr>
              <a:t>petsProvider</a:t>
            </a:r>
            <a:r>
              <a:rPr>
                <a:solidFill>
                  <a:srgbClr val="666666"/>
                </a:solidFill>
                <a:latin typeface="Courier"/>
              </a:rPr>
              <a:t>.</a:t>
            </a:r>
            <a:r>
              <a:rPr>
                <a:latin typeface="Courier"/>
              </a:rPr>
              <a:t>build() runs again</a:t>
            </a:r>
            <a:br/>
            <a:r>
              <a:rPr>
                <a:latin typeface="Courier"/>
              </a:rPr>
              <a:t>       ↓</a:t>
            </a:r>
            <a:br/>
            <a:r>
              <a:rPr i="1">
                <a:solidFill>
                  <a:srgbClr val="60A0B0"/>
                </a:solidFill>
                <a:latin typeface="Courier"/>
              </a:rPr>
              <a:t>// UI updates with fresh data</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Best Practices</a:t>
            </a:r>
          </a:p>
        </p:txBody>
      </p:sp>
      <p:sp>
        <p:nvSpPr>
          <p:cNvPr id="3" name="Content Placeholder 2"/>
          <p:cNvSpPr>
            <a:spLocks noGrp="1"/>
          </p:cNvSpPr>
          <p:nvPr>
            <p:ph idx="1"/>
          </p:nvPr>
        </p:nvSpPr>
        <p:spPr/>
        <p:txBody>
          <a:bodyPr/>
          <a:lstStyle/>
          <a:p>
            <a:pPr lvl="0" indent="0" marL="0">
              <a:spcBef>
                <a:spcPts val="3000"/>
              </a:spcBef>
              <a:buNone/>
            </a:pPr>
            <a:r>
              <a:rPr b="1"/>
              <a:t>✅ DO:</a:t>
            </a:r>
          </a:p>
          <a:p>
            <a:pPr lvl="0"/>
            <a:r>
              <a:rPr/>
              <a:t>Use </a:t>
            </a:r>
            <a:r>
              <a:rPr>
                <a:latin typeface="Courier"/>
              </a:rPr>
              <a:t>FutureProvider</a:t>
            </a:r>
            <a:r>
              <a:rPr/>
              <a:t> for one-time initialization (database, repositories)</a:t>
            </a:r>
          </a:p>
          <a:p>
            <a:pPr lvl="0"/>
            <a:r>
              <a:rPr/>
              <a:t>Use </a:t>
            </a:r>
            <a:r>
              <a:rPr>
                <a:latin typeface="Courier"/>
              </a:rPr>
              <a:t>NotifierProvider</a:t>
            </a:r>
            <a:r>
              <a:rPr/>
              <a:t> for simple mutable state (search, filters)</a:t>
            </a:r>
          </a:p>
          <a:p>
            <a:pPr lvl="0"/>
            <a:r>
              <a:rPr/>
              <a:t>Use </a:t>
            </a:r>
            <a:r>
              <a:rPr>
                <a:latin typeface="Courier"/>
              </a:rPr>
              <a:t>AsyncNotifierProvider</a:t>
            </a:r>
            <a:r>
              <a:rPr/>
              <a:t> for computed data with dependencies</a:t>
            </a:r>
          </a:p>
          <a:p>
            <a:pPr lvl="0"/>
            <a:r>
              <a:rPr/>
              <a:t>Watch only what you need - avoid unnecessary rebuilds</a:t>
            </a:r>
          </a:p>
          <a:p>
            <a:pPr lvl="0"/>
            <a:r>
              <a:rPr/>
              <a:t>Use </a:t>
            </a:r>
            <a:r>
              <a:rPr>
                <a:latin typeface="Courier"/>
              </a:rPr>
              <a:t>.future</a:t>
            </a:r>
            <a:r>
              <a:rPr/>
              <a:t> when awaiting FutureProvider in async context</a:t>
            </a:r>
          </a:p>
          <a:p>
            <a:pPr lvl="0"/>
            <a:r>
              <a:rPr/>
              <a:t>Call </a:t>
            </a:r>
            <a:r>
              <a:rPr>
                <a:latin typeface="Courier"/>
              </a:rPr>
              <a:t>.notifier</a:t>
            </a:r>
            <a:r>
              <a:rPr/>
              <a:t> when updating state from UI</a:t>
            </a:r>
          </a:p>
          <a:p>
            <a:pPr lvl="0"/>
            <a:r>
              <a:rPr/>
              <a:t>Use </a:t>
            </a:r>
            <a:r>
              <a:rPr>
                <a:latin typeface="Courier"/>
              </a:rPr>
              <a:t>ref.invalidate()</a:t>
            </a:r>
            <a:r>
              <a:rPr/>
              <a:t> to force provider rebuild</a:t>
            </a:r>
          </a:p>
          <a:p>
            <a:pPr lvl="0"/>
            <a:r>
              <a:rPr/>
              <a:t>Handle </a:t>
            </a:r>
            <a:r>
              <a:rPr>
                <a:latin typeface="Courier"/>
              </a:rPr>
              <a:t>AsyncValue</a:t>
            </a:r>
            <a:r>
              <a:rPr/>
              <a:t> states in UI (.when, .maybeWhen)</a:t>
            </a:r>
          </a:p>
          <a:p>
            <a:pPr lvl="0" indent="0" marL="0">
              <a:spcBef>
                <a:spcPts val="3000"/>
              </a:spcBef>
              <a:buNone/>
            </a:pPr>
            <a:r>
              <a:rPr b="1"/>
              <a:t>❌ DON’T:</a:t>
            </a:r>
          </a:p>
          <a:p>
            <a:pPr lvl="0"/>
            <a:r>
              <a:rPr/>
              <a:t>Don’t use StreamProvider on Windows (sqflite_ffi doesn’t support reactive queries)</a:t>
            </a:r>
          </a:p>
          <a:p>
            <a:pPr lvl="0"/>
            <a:r>
              <a:rPr/>
              <a:t>Don’t watch providers in build() that aren’t used for rendering</a:t>
            </a:r>
          </a:p>
          <a:p>
            <a:pPr lvl="0"/>
            <a:r>
              <a:rPr/>
              <a:t>Don’t mutate state directly - use notifier methods</a:t>
            </a:r>
          </a:p>
          <a:p>
            <a:pPr lvl="0"/>
            <a:r>
              <a:rPr/>
              <a:t>Don’t forget to refresh/invalidate after database mutations</a:t>
            </a:r>
          </a:p>
          <a:p>
            <a:pPr lvl="0"/>
            <a:r>
              <a:rPr/>
              <a:t>Don’t create circular dependencies between providers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Debugging Tips</a:t>
            </a:r>
          </a:p>
        </p:txBody>
      </p:sp>
      <p:sp>
        <p:nvSpPr>
          <p:cNvPr id="3" name="Content Placeholder 2"/>
          <p:cNvSpPr>
            <a:spLocks noGrp="1"/>
          </p:cNvSpPr>
          <p:nvPr>
            <p:ph idx="1"/>
          </p:nvPr>
        </p:nvSpPr>
        <p:spPr/>
        <p:txBody>
          <a:bodyPr/>
          <a:lstStyle/>
          <a:p>
            <a:pPr lvl="0" indent="0">
              <a:buNone/>
            </a:pPr>
            <a:r>
              <a:rPr i="1">
                <a:solidFill>
                  <a:srgbClr val="60A0B0"/>
                </a:solidFill>
                <a:latin typeface="Courier"/>
              </a:rPr>
              <a:t>// Print when provider rebuilds</a:t>
            </a:r>
            <a:br/>
            <a:r>
              <a:rPr b="1">
                <a:solidFill>
                  <a:srgbClr val="007020"/>
                </a:solidFill>
                <a:latin typeface="Courier"/>
              </a:rPr>
              <a:t>@override</a:t>
            </a:r>
            <a:br/>
            <a:r>
              <a:rPr>
                <a:solidFill>
                  <a:srgbClr val="902000"/>
                </a:solidFill>
                <a:latin typeface="Courier"/>
              </a:rPr>
              <a:t>Future</a:t>
            </a:r>
            <a:r>
              <a:rPr>
                <a:solidFill>
                  <a:srgbClr val="666666"/>
                </a:solidFill>
                <a:latin typeface="Courier"/>
              </a:rPr>
              <a:t>&lt;</a:t>
            </a:r>
            <a:r>
              <a:rPr>
                <a:solidFill>
                  <a:srgbClr val="902000"/>
                </a:solidFill>
                <a:latin typeface="Courier"/>
              </a:rPr>
              <a:t>List</a:t>
            </a:r>
            <a:r>
              <a:rPr>
                <a:solidFill>
                  <a:srgbClr val="666666"/>
                </a:solidFill>
                <a:latin typeface="Courier"/>
              </a:rPr>
              <a:t>&lt;</a:t>
            </a:r>
            <a:r>
              <a:rPr>
                <a:latin typeface="Courier"/>
              </a:rPr>
              <a:t>Todo</a:t>
            </a:r>
            <a:r>
              <a:rPr>
                <a:solidFill>
                  <a:srgbClr val="666666"/>
                </a:solidFill>
                <a:latin typeface="Courier"/>
              </a:rPr>
              <a:t>&gt;&gt;</a:t>
            </a:r>
            <a:r>
              <a:rPr>
                <a:latin typeface="Courier"/>
              </a:rPr>
              <a:t> build() </a:t>
            </a:r>
            <a:r>
              <a:rPr>
                <a:solidFill>
                  <a:srgbClr val="7D9029"/>
                </a:solidFill>
                <a:latin typeface="Courier"/>
              </a:rPr>
              <a:t>async</a:t>
            </a:r>
            <a:r>
              <a:rPr>
                <a:latin typeface="Courier"/>
              </a:rPr>
              <a:t> </a:t>
            </a:r>
            <a:r>
              <a:rPr>
                <a:solidFill>
                  <a:srgbClr val="666666"/>
                </a:solidFill>
                <a:latin typeface="Courier"/>
              </a:rPr>
              <a:t>{</a:t>
            </a:r>
            <a:br/>
            <a:r>
              <a:rPr>
                <a:latin typeface="Courier"/>
              </a:rPr>
              <a:t>  print(</a:t>
            </a:r>
            <a:r>
              <a:rPr>
                <a:solidFill>
                  <a:srgbClr val="4070A0"/>
                </a:solidFill>
                <a:latin typeface="Courier"/>
              </a:rPr>
              <a:t>'filteredTodosProvider rebuilding'</a:t>
            </a:r>
            <a:r>
              <a:rPr>
                <a:latin typeface="Courier"/>
              </a:rPr>
              <a:t>);</a:t>
            </a:r>
            <a:br/>
            <a:r>
              <a:rPr>
                <a:latin typeface="Courier"/>
              </a:rPr>
              <a:t>  </a:t>
            </a:r>
            <a:r>
              <a:rPr i="1">
                <a:solidFill>
                  <a:srgbClr val="60A0B0"/>
                </a:solidFill>
                <a:latin typeface="Courier"/>
              </a:rPr>
              <a:t>// ... rest of build</a:t>
            </a:r>
            <a:br/>
            <a:r>
              <a:rPr>
                <a:solidFill>
                  <a:srgbClr val="666666"/>
                </a:solidFill>
                <a:latin typeface="Courier"/>
              </a:rPr>
              <a:t>}</a:t>
            </a:r>
            <a:br/>
            <a:br/>
            <a:r>
              <a:rPr i="1">
                <a:solidFill>
                  <a:srgbClr val="60A0B0"/>
                </a:solidFill>
                <a:latin typeface="Courier"/>
              </a:rPr>
              <a:t>// Check provider state</a:t>
            </a:r>
            <a:br/>
            <a:r>
              <a:rPr>
                <a:solidFill>
                  <a:srgbClr val="7D9029"/>
                </a:solidFill>
                <a:latin typeface="Courier"/>
              </a:rPr>
              <a:t>final</a:t>
            </a:r>
            <a:r>
              <a:rPr>
                <a:latin typeface="Courier"/>
              </a:rPr>
              <a:t> state </a:t>
            </a:r>
            <a:r>
              <a:rPr>
                <a:solidFill>
                  <a:srgbClr val="666666"/>
                </a:solidFill>
                <a:latin typeface="Courier"/>
              </a:rPr>
              <a:t>=</a:t>
            </a:r>
            <a:r>
              <a:rPr>
                <a:latin typeface="Courier"/>
              </a:rPr>
              <a:t> ref</a:t>
            </a:r>
            <a:r>
              <a:rPr>
                <a:solidFill>
                  <a:srgbClr val="666666"/>
                </a:solidFill>
                <a:latin typeface="Courier"/>
              </a:rPr>
              <a:t>.</a:t>
            </a:r>
            <a:r>
              <a:rPr>
                <a:latin typeface="Courier"/>
              </a:rPr>
              <a:t>read(filteredTodosProvider);</a:t>
            </a:r>
            <a:br/>
            <a:r>
              <a:rPr>
                <a:latin typeface="Courier"/>
              </a:rPr>
              <a:t>print(state); </a:t>
            </a:r>
            <a:r>
              <a:rPr i="1">
                <a:solidFill>
                  <a:srgbClr val="60A0B0"/>
                </a:solidFill>
                <a:latin typeface="Courier"/>
              </a:rPr>
              <a:t>// AsyncValue.loading() / AsyncValue.data() / AsyncValue.error()</a:t>
            </a:r>
            <a:br/>
            <a:br/>
            <a:r>
              <a:rPr i="1">
                <a:solidFill>
                  <a:srgbClr val="60A0B0"/>
                </a:solidFill>
                <a:latin typeface="Courier"/>
              </a:rPr>
              <a:t>// Monitor provider changes</a:t>
            </a:r>
            <a:br/>
            <a:r>
              <a:rPr>
                <a:latin typeface="Courier"/>
              </a:rPr>
              <a:t>ref</a:t>
            </a:r>
            <a:r>
              <a:rPr>
                <a:solidFill>
                  <a:srgbClr val="666666"/>
                </a:solidFill>
                <a:latin typeface="Courier"/>
              </a:rPr>
              <a:t>.</a:t>
            </a:r>
            <a:r>
              <a:rPr>
                <a:latin typeface="Courier"/>
              </a:rPr>
              <a:t>listen(searchQueryProvider</a:t>
            </a:r>
            <a:r>
              <a:rPr>
                <a:solidFill>
                  <a:srgbClr val="666666"/>
                </a:solidFill>
                <a:latin typeface="Courier"/>
              </a:rPr>
              <a:t>,</a:t>
            </a:r>
            <a:r>
              <a:rPr>
                <a:latin typeface="Courier"/>
              </a:rPr>
              <a:t> (prev</a:t>
            </a:r>
            <a:r>
              <a:rPr>
                <a:solidFill>
                  <a:srgbClr val="666666"/>
                </a:solidFill>
                <a:latin typeface="Courier"/>
              </a:rPr>
              <a:t>,</a:t>
            </a:r>
            <a:r>
              <a:rPr>
                <a:latin typeface="Courier"/>
              </a:rPr>
              <a:t> next) </a:t>
            </a:r>
            <a:r>
              <a:rPr>
                <a:solidFill>
                  <a:srgbClr val="666666"/>
                </a:solidFill>
                <a:latin typeface="Courier"/>
              </a:rPr>
              <a:t>{</a:t>
            </a:r>
            <a:br/>
            <a:r>
              <a:rPr>
                <a:latin typeface="Courier"/>
              </a:rPr>
              <a:t>  print(</a:t>
            </a:r>
            <a:r>
              <a:rPr>
                <a:solidFill>
                  <a:srgbClr val="4070A0"/>
                </a:solidFill>
                <a:latin typeface="Courier"/>
              </a:rPr>
              <a:t>'Search changed: $prev → $next'</a:t>
            </a:r>
            <a:r>
              <a:rPr>
                <a:latin typeface="Courier"/>
              </a:rPr>
              <a:t>);</a:t>
            </a:r>
            <a:br/>
            <a:r>
              <a:rPr>
                <a:solidFill>
                  <a:srgbClr val="666666"/>
                </a:solidFill>
                <a:latin typeface="Courier"/>
              </a:rPr>
              <a:t>}</a:t>
            </a:r>
            <a:r>
              <a:rPr>
                <a:latin typeface="Courier"/>
              </a:rPr>
              <a:t>);</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Summary</a:t>
            </a:r>
          </a:p>
        </p:txBody>
      </p:sp>
      <p:sp>
        <p:nvSpPr>
          <p:cNvPr id="3" name="Content Placeholder 2"/>
          <p:cNvSpPr>
            <a:spLocks noGrp="1"/>
          </p:cNvSpPr>
          <p:nvPr>
            <p:ph idx="1"/>
          </p:nvPr>
        </p:nvSpPr>
        <p:spPr/>
        <p:txBody>
          <a:bodyPr/>
          <a:lstStyle/>
          <a:p>
            <a:pPr lvl="0" indent="0" marL="0">
              <a:buNone/>
            </a:pPr>
            <a:r>
              <a:rPr/>
              <a:t>The provider architecture creates a </a:t>
            </a:r>
            <a:r>
              <a:rPr b="1"/>
              <a:t>reactive data flow</a:t>
            </a:r>
            <a:r>
              <a:rPr/>
              <a:t> where: 1. UI updates state providers (search, filters) 2. State changes trigger computed providers to rebuild 3. Computed providers fetch fresh data from repositories 4. UI automatically updates with new AsyncValue states 5. Mutations trigger manual refresh/invalidate cycles</a:t>
            </a:r>
          </a:p>
          <a:p>
            <a:pPr lvl="0" indent="0" marL="0">
              <a:buNone/>
            </a:pPr>
            <a:r>
              <a:rPr/>
              <a:t>This architecture provides </a:t>
            </a:r>
            <a:r>
              <a:rPr b="1"/>
              <a:t>type-safe</a:t>
            </a:r>
            <a:r>
              <a:rPr/>
              <a:t>, </a:t>
            </a:r>
            <a:r>
              <a:rPr b="1"/>
              <a:t>reactive</a:t>
            </a:r>
            <a:r>
              <a:rPr/>
              <a:t>, and </a:t>
            </a:r>
            <a:r>
              <a:rPr b="1"/>
              <a:t>testable</a:t>
            </a:r>
            <a:r>
              <a:rPr/>
              <a:t> state management with clear separation of concerns.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2025-11-09T19:56:05Z</dcterms:created>
  <dcterms:modified xsi:type="dcterms:W3CDTF">2025-11-09T19:56:05Z</dcterms:modified>
</cp:coreProperties>
</file>

<file path=docProps/custom.xml><?xml version="1.0" encoding="utf-8"?>
<Properties xmlns="http://schemas.openxmlformats.org/officeDocument/2006/custom-properties" xmlns:vt="http://schemas.openxmlformats.org/officeDocument/2006/docPropsVTypes"/>
</file>