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7" Type="http://schemas.openxmlformats.org/officeDocument/2006/relationships/viewProps" Target="viewProps.xml" /><Relationship Id="rId5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9" Type="http://schemas.openxmlformats.org/officeDocument/2006/relationships/tableStyles" Target="tableStyles.xml" /><Relationship Id="rId5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8.xml" /><Relationship Id="rId4" Type="http://schemas.openxmlformats.org/officeDocument/2006/relationships/slide" Target="slide12.xml" /><Relationship Id="rId5" Type="http://schemas.openxmlformats.org/officeDocument/2006/relationships/slide" Target="slide17.xml" /><Relationship Id="rId6" Type="http://schemas.openxmlformats.org/officeDocument/2006/relationships/slide" Target="slide22.xml" /><Relationship Id="rId7" Type="http://schemas.openxmlformats.org/officeDocument/2006/relationships/slide" Target="slide27.xml" /><Relationship Id="rId8" Type="http://schemas.openxmlformats.org/officeDocument/2006/relationships/slide" Target="slide32.xml" /><Relationship Id="rId9" Type="http://schemas.openxmlformats.org/officeDocument/2006/relationships/slide" Target="slide38.xml" /><Relationship Id="rId10" Type="http://schemas.openxmlformats.org/officeDocument/2006/relationships/slide" Target="slide4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iverpod.dev" TargetMode="External" /><Relationship Id="rId3" Type="http://schemas.openxmlformats.org/officeDocument/2006/relationships/hyperlink" Target="https://flutter.dev" TargetMode="External" /><Relationship Id="rId4" Type="http://schemas.openxmlformats.org/officeDocument/2006/relationships/hyperlink" Target="https://github.com/rrousselGit/riverpod" TargetMode="Externa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Riverpod Providers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Comprehensive Guide to State Management in Flutter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📚 Table of Contents</a:t>
            </a:r>
          </a:p>
          <a:p>
            <a:pPr lvl="0" indent="-342900" marL="342900">
              <a:buAutoNum type="arabicPeriod"/>
            </a:pPr>
            <a:r>
              <a:rPr>
                <a:hlinkClick r:id="rId2" action="ppaction://hlinksldjump"/>
              </a:rPr>
              <a:t>Provider - Immutable Values</a:t>
            </a:r>
          </a:p>
          <a:p>
            <a:pPr lvl="0" indent="-342900" marL="342900">
              <a:buAutoNum type="arabicPeriod"/>
            </a:pPr>
            <a:r>
              <a:rPr>
                <a:hlinkClick r:id="rId3" action="ppaction://hlinksldjump"/>
              </a:rPr>
              <a:t>Provider - Computed Values</a:t>
            </a:r>
          </a:p>
          <a:p>
            <a:pPr lvl="0" indent="-342900" marL="342900">
              <a:buAutoNum type="arabicPeriod"/>
            </a:pPr>
            <a:r>
              <a:rPr>
                <a:hlinkClick r:id="rId4" action="ppaction://hlinksldjump"/>
              </a:rPr>
              <a:t>NotifierProvider</a:t>
            </a:r>
          </a:p>
          <a:p>
            <a:pPr lvl="0" indent="-342900" marL="342900">
              <a:buAutoNum type="arabicPeriod"/>
            </a:pPr>
            <a:r>
              <a:rPr>
                <a:hlinkClick r:id="rId5" action="ppaction://hlinksldjump"/>
              </a:rPr>
              <a:t>FutureProvider</a:t>
            </a:r>
          </a:p>
          <a:p>
            <a:pPr lvl="0" indent="-342900" marL="342900">
              <a:buAutoNum type="arabicPeriod"/>
            </a:pPr>
            <a:r>
              <a:rPr>
                <a:hlinkClick r:id="rId6" action="ppaction://hlinksldjump"/>
              </a:rPr>
              <a:t>StreamProvider</a:t>
            </a:r>
          </a:p>
          <a:p>
            <a:pPr lvl="0" indent="-342900" marL="342900">
              <a:buAutoNum type="arabicPeriod"/>
            </a:pPr>
            <a:r>
              <a:rPr>
                <a:hlinkClick r:id="rId7" action="ppaction://hlinksldjump"/>
              </a:rPr>
              <a:t>AsyncNotifierProvider</a:t>
            </a:r>
          </a:p>
          <a:p>
            <a:pPr lvl="0" indent="-342900" marL="342900">
              <a:buAutoNum type="arabicPeriod"/>
            </a:pPr>
            <a:r>
              <a:rPr>
                <a:hlinkClick r:id="rId8" action="ppaction://hlinksldjump"/>
              </a:rPr>
              <a:t>Decision Framework</a:t>
            </a:r>
          </a:p>
          <a:p>
            <a:pPr lvl="0" indent="-342900" marL="342900">
              <a:buAutoNum type="arabicPeriod"/>
            </a:pPr>
            <a:r>
              <a:rPr>
                <a:hlinkClick r:id="rId9" action="ppaction://hlinksldjump"/>
              </a:rPr>
              <a:t>Consuming Providers</a:t>
            </a:r>
          </a:p>
          <a:p>
            <a:pPr lvl="0" indent="-342900" marL="342900">
              <a:buAutoNum type="arabicPeriod"/>
            </a:pPr>
            <a:r>
              <a:rPr>
                <a:hlinkClick r:id="rId10" action="ppaction://hlinksldjump"/>
              </a:rPr>
              <a:t>Summary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1️⃣ Provider - Immutable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📌 </a:t>
            </a:r>
            <a:r>
              <a:rPr sz="2000" b="1"/>
              <a:t>For values that never change during app lifecycle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What is Provider?</a:t>
            </a:r>
          </a:p>
          <a:p>
            <a:pPr lvl="0" indent="0" marL="0">
              <a:buNone/>
            </a:pPr>
            <a:r>
              <a:rPr b="1"/>
              <a:t>Provider</a:t>
            </a:r>
            <a:r>
              <a:rPr/>
              <a:t> is the most basic Riverpod provider for exposing </a:t>
            </a:r>
            <a:r>
              <a:rPr b="1"/>
              <a:t>immutable, read-only values</a:t>
            </a:r>
            <a:r>
              <a:rPr/>
              <a:t> that remain constant throughout the app lifecycle.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When to Use</a:t>
            </a:r>
          </a:p>
          <a:p>
            <a:pPr lvl="0"/>
            <a:r>
              <a:rPr/>
              <a:t>✅ </a:t>
            </a:r>
            <a:r>
              <a:rPr b="1"/>
              <a:t>Global configuration</a:t>
            </a:r>
            <a:r>
              <a:rPr/>
              <a:t> (API endpoints, timeouts)</a:t>
            </a:r>
          </a:p>
          <a:p>
            <a:pPr lvl="0"/>
            <a:r>
              <a:rPr/>
              <a:t>✅ </a:t>
            </a:r>
            <a:r>
              <a:rPr b="1"/>
              <a:t>Application constants</a:t>
            </a:r>
            <a:r>
              <a:rPr/>
              <a:t> (app version, feature flags)</a:t>
            </a:r>
          </a:p>
          <a:p>
            <a:pPr lvl="0"/>
            <a:r>
              <a:rPr/>
              <a:t>✅ </a:t>
            </a:r>
            <a:r>
              <a:rPr b="1"/>
              <a:t>Dependency injection</a:t>
            </a:r>
            <a:r>
              <a:rPr/>
              <a:t> (repositories, services)</a:t>
            </a:r>
          </a:p>
          <a:p>
            <a:pPr lvl="0"/>
            <a:r>
              <a:rPr/>
              <a:t>✅ </a:t>
            </a:r>
            <a:r>
              <a:rPr b="1"/>
              <a:t>Theme configuration</a:t>
            </a:r>
            <a:r>
              <a:rPr/>
              <a:t> (colors, text styles)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Real-World Scenarios</a:t>
            </a:r>
          </a:p>
          <a:p>
            <a:pPr lvl="0"/>
            <a:r>
              <a:rPr/>
              <a:t>API base URL and authentication keys</a:t>
            </a:r>
          </a:p>
          <a:p>
            <a:pPr lvl="0"/>
            <a:r>
              <a:rPr/>
              <a:t>App-wide settings (max items per page, default locale)</a:t>
            </a:r>
          </a:p>
          <a:p>
            <a:pPr lvl="0"/>
            <a:r>
              <a:rPr/>
              <a:t>Shared utilities (date formatters, validators)</a:t>
            </a:r>
          </a:p>
          <a:p>
            <a:pPr lvl="0"/>
            <a:r>
              <a:rPr/>
              <a:t>Environment configuration (dev/staging/prod)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Emphasize that Provider is NOT for state that changes. If you need to modify values, use NotifierProvider instead.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Basic Syntax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value; </a:t>
            </a:r>
            <a:r>
              <a:rPr i="1">
                <a:solidFill>
                  <a:srgbClr val="60A0B0"/>
                </a:solidFill>
                <a:latin typeface="Courier"/>
              </a:rPr>
              <a:t>// Return your immutable value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API Configuration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'package:flutter_riverpod/flutter_riverpod.dart'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Immutable configuration model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ApiConfig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baseUrl;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Duration timeout;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apiKey;</a:t>
            </a:r>
            <a:br/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ApiConfig(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required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baseUrl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required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timeout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required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apiKey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Provider for immutable config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apiConfigProvider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ApiConfig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ApiConfig(</a:t>
            </a:r>
            <a:br/>
            <a:r>
              <a:rPr>
                <a:latin typeface="Courier"/>
              </a:rPr>
              <a:t>    baseUrl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'https://api.example.com/v1'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timeout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Duration(seconds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apiKey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'demo_key_12345'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Simple constant providers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maxItemsPerPageProvider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);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themeModeProvider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'light'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Consuming the Provider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In a widget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config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watch(apiConfigProvider);</a:t>
            </a:r>
            <a:br/>
            <a:r>
              <a:rPr>
                <a:latin typeface="Courier"/>
              </a:rPr>
              <a:t>print(config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baseUrl); </a:t>
            </a:r>
            <a:r>
              <a:rPr i="1">
                <a:solidFill>
                  <a:srgbClr val="60A0B0"/>
                </a:solidFill>
                <a:latin typeface="Courier"/>
              </a:rPr>
              <a:t>// Access immutable values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Point out that the Provider callback runs once and caches the result. Perfect for expensive-to-create immutable objects.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Do’s</a:t>
            </a:r>
          </a:p>
          <a:p>
            <a:pPr lvl="0"/>
            <a:r>
              <a:rPr/>
              <a:t>✅ Use for </a:t>
            </a:r>
            <a:r>
              <a:rPr b="1"/>
              <a:t>truly immutable</a:t>
            </a:r>
            <a:r>
              <a:rPr/>
              <a:t> configuration</a:t>
            </a:r>
          </a:p>
          <a:p>
            <a:pPr lvl="0"/>
            <a:r>
              <a:rPr/>
              <a:t>✅ Keep values </a:t>
            </a:r>
            <a:r>
              <a:rPr b="1"/>
              <a:t>simple and cacheable</a:t>
            </a:r>
          </a:p>
          <a:p>
            <a:pPr lvl="0"/>
            <a:r>
              <a:rPr/>
              <a:t>✅ Use </a:t>
            </a:r>
            <a:r>
              <a:rPr>
                <a:latin typeface="Courier"/>
              </a:rPr>
              <a:t>const</a:t>
            </a:r>
            <a:r>
              <a:rPr/>
              <a:t> constructors when possible</a:t>
            </a:r>
          </a:p>
          <a:p>
            <a:pPr lvl="0"/>
            <a:r>
              <a:rPr/>
              <a:t>✅ Document why values don’t change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Don’ts</a:t>
            </a:r>
          </a:p>
          <a:p>
            <a:pPr lvl="0"/>
            <a:r>
              <a:rPr/>
              <a:t>❌ </a:t>
            </a:r>
            <a:r>
              <a:rPr b="1"/>
              <a:t>Never</a:t>
            </a:r>
            <a:r>
              <a:rPr/>
              <a:t> use for state that changes</a:t>
            </a:r>
          </a:p>
          <a:p>
            <a:pPr lvl="0"/>
            <a:r>
              <a:rPr/>
              <a:t>❌ Don’t perform side effects in provider</a:t>
            </a:r>
          </a:p>
          <a:p>
            <a:pPr lvl="0"/>
            <a:r>
              <a:rPr/>
              <a:t>❌ Avoid complex computations (use computed providers)</a:t>
            </a:r>
          </a:p>
          <a:p>
            <a:pPr lvl="0"/>
            <a:r>
              <a:rPr/>
              <a:t>❌ Don’t fetch data here (use FutureProvider)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Comparison with Alternatives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NotifierProvider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Mutability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Immutable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Constants, config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Changing 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(state mutations)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Rebuilds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state changes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Key Takeaway</a:t>
            </a:r>
          </a:p>
          <a:p>
            <a:pPr lvl="0" indent="0" marL="1270000">
              <a:buNone/>
            </a:pPr>
            <a:r>
              <a:rPr sz="2000" b="1"/>
              <a:t>Provider is for “set it and forget it” values. If it changes, it’s not a Provider!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Common mistake - using Provider for state. If you’re tempted to recreate the provider to change values, you need NotifierProvider instead.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2️⃣ Provider - Computed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🔗 </a:t>
            </a:r>
            <a:r>
              <a:rPr sz="2000" b="1"/>
              <a:t>Combining multiple providers into derived state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What are Computed Providers?</a:t>
            </a:r>
          </a:p>
          <a:p>
            <a:pPr lvl="0" indent="0" marL="0">
              <a:buNone/>
            </a:pPr>
            <a:r>
              <a:rPr b="1"/>
              <a:t>Computed Providers</a:t>
            </a:r>
            <a:r>
              <a:rPr/>
              <a:t> combine or transform data from other providers, automatically recalculating when dependencies change.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When to Use</a:t>
            </a:r>
          </a:p>
          <a:p>
            <a:pPr lvl="0"/>
            <a:r>
              <a:rPr/>
              <a:t>✅ </a:t>
            </a:r>
            <a:r>
              <a:rPr b="1"/>
              <a:t>Filtering/sorting</a:t>
            </a:r>
            <a:r>
              <a:rPr/>
              <a:t> data from other providers</a:t>
            </a:r>
          </a:p>
          <a:p>
            <a:pPr lvl="0"/>
            <a:r>
              <a:rPr/>
              <a:t>✅ </a:t>
            </a:r>
            <a:r>
              <a:rPr b="1"/>
              <a:t>Combining</a:t>
            </a:r>
            <a:r>
              <a:rPr/>
              <a:t> multiple providers into one</a:t>
            </a:r>
          </a:p>
          <a:p>
            <a:pPr lvl="0"/>
            <a:r>
              <a:rPr/>
              <a:t>✅ </a:t>
            </a:r>
            <a:r>
              <a:rPr b="1"/>
              <a:t>Transforming</a:t>
            </a:r>
            <a:r>
              <a:rPr/>
              <a:t> data for UI consumption</a:t>
            </a:r>
          </a:p>
          <a:p>
            <a:pPr lvl="0"/>
            <a:r>
              <a:rPr/>
              <a:t>✅ </a:t>
            </a:r>
            <a:r>
              <a:rPr b="1"/>
              <a:t>Deriving</a:t>
            </a:r>
            <a:r>
              <a:rPr/>
              <a:t> statistics or aggregations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Real-World Scenarios</a:t>
            </a:r>
          </a:p>
          <a:p>
            <a:pPr lvl="0"/>
            <a:r>
              <a:rPr/>
              <a:t>Filtering products by selected category</a:t>
            </a:r>
          </a:p>
          <a:p>
            <a:pPr lvl="0"/>
            <a:r>
              <a:rPr/>
              <a:t>Calculating cart total from items and discounts</a:t>
            </a:r>
          </a:p>
          <a:p>
            <a:pPr lvl="0"/>
            <a:r>
              <a:rPr/>
              <a:t>Combining user profile + settings</a:t>
            </a:r>
          </a:p>
          <a:p>
            <a:pPr lvl="0"/>
            <a:r>
              <a:rPr/>
              <a:t>Deriving todo statistics (active, completed counts)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Computed providers are the backbone of reactive UIs - they automatically update when any dependency changes, keeping your UI in sync.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Pattern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computedProvider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ref.watch() creates reactive dependencies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data1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watch(provider1);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data2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watch(provider2);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Transform/combine data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computedResult;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Filtered Products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Source providers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selectedCategoryProvider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SelectedCategoryNotifier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SelectedCategoryNotifier()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ProductRepository()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getProducts()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Computed provider - combines &amp; filters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filteredProductsProvider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Watch dependencies (rebuilds when these change)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watch(productsProvider);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selectedCategory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watch(selectedCategoryProvider);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Handle AsyncValue states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products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(productList)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selectedCategory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'All'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productList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productList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where((p)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category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selectedCategory)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toList();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data(filtered);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loading()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(err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stack)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error(err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stack)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Todo Statistics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todoListProvider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TodoListNotifier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TodoListNotifier()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Computed providers for statistics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activeTodosCountProvider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watch(todoListProvider)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where((todo)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completed)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completedTodosCountProvider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watch(todoListProvider)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where((todo)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completed)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totalTodosCountProvider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watch(todoListProvider)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Notice how statistics providers depend only on todoListProvider. This is efficient - widgets watching only activeTodosCountProvider won’t rebuild when unrelated state changes.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Do’s</a:t>
            </a:r>
          </a:p>
          <a:p>
            <a:pPr lvl="0"/>
            <a:r>
              <a:rPr/>
              <a:t>✅ Keep computations </a:t>
            </a:r>
            <a:r>
              <a:rPr b="1"/>
              <a:t>pure</a:t>
            </a:r>
            <a:r>
              <a:rPr/>
              <a:t> (no side effects)</a:t>
            </a:r>
          </a:p>
          <a:p>
            <a:pPr lvl="0"/>
            <a:r>
              <a:rPr/>
              <a:t>✅ Use </a:t>
            </a:r>
            <a:r>
              <a:rPr>
                <a:latin typeface="Courier"/>
              </a:rPr>
              <a:t>ref.watch()</a:t>
            </a:r>
            <a:r>
              <a:rPr/>
              <a:t> for reactive dependencies</a:t>
            </a:r>
          </a:p>
          <a:p>
            <a:pPr lvl="0"/>
            <a:r>
              <a:rPr/>
              <a:t>✅ Create </a:t>
            </a:r>
            <a:r>
              <a:rPr b="1"/>
              <a:t>granular</a:t>
            </a:r>
            <a:r>
              <a:rPr/>
              <a:t> computed providers (better performance)</a:t>
            </a:r>
          </a:p>
          <a:p>
            <a:pPr lvl="0"/>
            <a:r>
              <a:rPr/>
              <a:t>✅ Memoization is automatic (no manual caching needed)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Don’ts</a:t>
            </a:r>
          </a:p>
          <a:p>
            <a:pPr lvl="0"/>
            <a:r>
              <a:rPr/>
              <a:t>❌ Don’t perform </a:t>
            </a:r>
            <a:r>
              <a:rPr b="1"/>
              <a:t>heavy computations</a:t>
            </a:r>
            <a:r>
              <a:rPr/>
              <a:t> synchronously</a:t>
            </a:r>
          </a:p>
          <a:p>
            <a:pPr lvl="0"/>
            <a:r>
              <a:rPr/>
              <a:t>❌ Avoid </a:t>
            </a:r>
            <a:r>
              <a:rPr b="1"/>
              <a:t>too many</a:t>
            </a:r>
            <a:r>
              <a:rPr/>
              <a:t> dependencies (splits into smaller providers)</a:t>
            </a:r>
          </a:p>
          <a:p>
            <a:pPr lvl="0"/>
            <a:r>
              <a:rPr/>
              <a:t>❌ Don’t use </a:t>
            </a:r>
            <a:r>
              <a:rPr>
                <a:latin typeface="Courier"/>
              </a:rPr>
              <a:t>ref.read()</a:t>
            </a:r>
            <a:r>
              <a:rPr/>
              <a:t> in computed providers</a:t>
            </a:r>
          </a:p>
          <a:p>
            <a:pPr lvl="0"/>
            <a:r>
              <a:rPr/>
              <a:t>❌ Never modify state in computed providers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Dependency Graph Example</a:t>
            </a:r>
          </a:p>
          <a:p>
            <a:pPr lvl="0" indent="0">
              <a:buNone/>
            </a:pPr>
            <a:r>
              <a:rPr>
                <a:latin typeface="Courier"/>
              </a:rPr>
              <a:t>todoListProvider (source)
    ├─&gt; activeTodosCountProvider (computed)
    ├─&gt; completedTodosCountProvider (computed)
    └─&gt; totalTodosCountProvider (computed)
selectedCategoryProvider (source)
    └─&gt; filteredProductsProvider (computed)
            ↑
productsProvider (source) 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Performance Tip</a:t>
            </a:r>
          </a:p>
          <a:p>
            <a:pPr lvl="0" indent="0" marL="1270000">
              <a:buNone/>
            </a:pPr>
            <a:r>
              <a:rPr sz="2000" b="1"/>
              <a:t>Computed providers only rebuild when dependencies change. Creating multiple small computed providers is better than one large one!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Riverpod’s dependency tracking is smart. If a widget watches filteredProductsProvider, it only rebuilds when products or selectedCategory changes, not on other state changes.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3️⃣ NotifierProvider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🔄 </a:t>
            </a:r>
            <a:r>
              <a:rPr sz="2000" b="1"/>
              <a:t>Mutable state with custom methods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What is NotifierProvider?</a:t>
            </a:r>
          </a:p>
          <a:p>
            <a:pPr lvl="0" indent="0" marL="0">
              <a:buNone/>
            </a:pPr>
            <a:r>
              <a:rPr b="1"/>
              <a:t>NotifierProvider</a:t>
            </a:r>
            <a:r>
              <a:rPr/>
              <a:t> manages </a:t>
            </a:r>
            <a:r>
              <a:rPr b="1"/>
              <a:t>mutable state</a:t>
            </a:r>
            <a:r>
              <a:rPr/>
              <a:t> with custom methods for state updates. It’s the go-to choice for interactive, changeable state.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When to Use</a:t>
            </a:r>
          </a:p>
          <a:p>
            <a:pPr lvl="0"/>
            <a:r>
              <a:rPr/>
              <a:t>✅ </a:t>
            </a:r>
            <a:r>
              <a:rPr b="1"/>
              <a:t>Simple mutable state</a:t>
            </a:r>
            <a:r>
              <a:rPr/>
              <a:t> (counters, toggles, selections)</a:t>
            </a:r>
          </a:p>
          <a:p>
            <a:pPr lvl="0"/>
            <a:r>
              <a:rPr/>
              <a:t>✅ </a:t>
            </a:r>
            <a:r>
              <a:rPr b="1"/>
              <a:t>Form state</a:t>
            </a:r>
            <a:r>
              <a:rPr/>
              <a:t> with validation</a:t>
            </a:r>
          </a:p>
          <a:p>
            <a:pPr lvl="0"/>
            <a:r>
              <a:rPr/>
              <a:t>✅ </a:t>
            </a:r>
            <a:r>
              <a:rPr b="1"/>
              <a:t>Filter/sort preferences</a:t>
            </a:r>
          </a:p>
          <a:p>
            <a:pPr lvl="0"/>
            <a:r>
              <a:rPr/>
              <a:t>✅ </a:t>
            </a:r>
            <a:r>
              <a:rPr b="1"/>
              <a:t>CRUD operations</a:t>
            </a:r>
            <a:r>
              <a:rPr/>
              <a:t> on local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Real-World Scenarios</a:t>
            </a:r>
          </a:p>
          <a:p>
            <a:pPr lvl="0"/>
            <a:r>
              <a:rPr/>
              <a:t>Counter with increment/decrement</a:t>
            </a:r>
          </a:p>
          <a:p>
            <a:pPr lvl="0"/>
            <a:r>
              <a:rPr/>
              <a:t>Selected category/filter in UI</a:t>
            </a:r>
          </a:p>
          <a:p>
            <a:pPr lvl="0"/>
            <a:r>
              <a:rPr/>
              <a:t>Todo list with add/remove/toggle</a:t>
            </a:r>
          </a:p>
          <a:p>
            <a:pPr lvl="0"/>
            <a:r>
              <a:rPr/>
              <a:t>Form fields with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vs StateProvider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NotifierProvider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StateProvider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 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Strong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Weaker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Excellent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logic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state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NotifierProvider is the modern replacement for StateProvider. It provides better structure, testability, and type safety.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Basic Pattern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1. Define Notifier class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StateType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StateType build()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initialValue;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updateMethod()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newValue; </a:t>
            </a:r>
            <a:r>
              <a:rPr i="1">
                <a:solidFill>
                  <a:srgbClr val="60A0B0"/>
                </a:solidFill>
                <a:latin typeface="Courier"/>
              </a:rPr>
              <a:t>// Updating state triggers rebuild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2. Create provider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MyNotifier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StateType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MyNotifier()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Counter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CounterNotifier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; </a:t>
            </a:r>
            <a:r>
              <a:rPr i="1">
                <a:solidFill>
                  <a:srgbClr val="60A0B0"/>
                </a:solidFill>
                <a:latin typeface="Courier"/>
              </a:rPr>
              <a:t>// Initial state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increment()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decrement()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(state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state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; </a:t>
            </a:r>
            <a:r>
              <a:rPr i="1">
                <a:solidFill>
                  <a:srgbClr val="60A0B0"/>
                </a:solidFill>
                <a:latin typeface="Courier"/>
              </a:rPr>
              <a:t>// Guard against negative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reset()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counterProvider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CounterNotifier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CounterNotifier()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Todo List with CRUD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TodoListNotifier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TodoRepository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getTodos();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add(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description)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Immutable update - create new list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state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Todo(id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uuid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v4()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description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description)];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toggle(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state)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id)</a:t>
            </a:r>
            <a:br/>
            <a:r>
              <a:rPr>
                <a:latin typeface="Courier"/>
              </a:rPr>
              <a:t>          Todo(id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completed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completed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description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description)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      todo</a:t>
            </a:r>
            <a:br/>
            <a:r>
              <a:rPr>
                <a:latin typeface="Courier"/>
              </a:rPr>
              <a:t>    ];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remove(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where((todo)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id)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todoListProvider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TodoListNotifier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TodoListNotifier()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Usage in Widget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CounterScreen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watch(counterProvider); </a:t>
            </a:r>
            <a:r>
              <a:rPr i="1">
                <a:solidFill>
                  <a:srgbClr val="60A0B0"/>
                </a:solidFill>
                <a:latin typeface="Courier"/>
              </a:rPr>
              <a:t>// Watch state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Column(</a:t>
            </a:r>
            <a:br/>
            <a:r>
              <a:rPr>
                <a:latin typeface="Courier"/>
              </a:rPr>
              <a:t>      children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Text(</a:t>
            </a:r>
            <a:r>
              <a:rPr>
                <a:solidFill>
                  <a:srgbClr val="4070A0"/>
                </a:solidFill>
                <a:latin typeface="Courier"/>
              </a:rPr>
              <a:t>'Count: $count'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ElevatedButton(</a:t>
            </a:r>
            <a:br/>
            <a:r>
              <a:rPr>
                <a:latin typeface="Courier"/>
              </a:rPr>
              <a:t>      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Call methods via .notifier</a:t>
            </a:r>
            <a:br/>
            <a:r>
              <a:rPr>
                <a:latin typeface="Courier"/>
              </a:rPr>
              <a:t>          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increment();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'Increment'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]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Key pattern - </a:t>
            </a:r>
            <a:r>
              <a:rPr sz="2000">
                <a:latin typeface="Courier"/>
              </a:rPr>
              <a:t>ref.watch(provider)</a:t>
            </a:r>
            <a:r>
              <a:rPr sz="2000"/>
              <a:t> for state, </a:t>
            </a:r>
            <a:r>
              <a:rPr sz="2000">
                <a:latin typeface="Courier"/>
              </a:rPr>
              <a:t>ref.read(provider.notifier)</a:t>
            </a:r>
            <a:r>
              <a:rPr sz="2000"/>
              <a:t> for methods. This keeps UI reactive while allowing imperative updates.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Do’s</a:t>
            </a:r>
          </a:p>
          <a:p>
            <a:pPr lvl="0"/>
            <a:r>
              <a:rPr/>
              <a:t>✅ Keep state </a:t>
            </a:r>
            <a:r>
              <a:rPr b="1"/>
              <a:t>immutable</a:t>
            </a:r>
            <a:r>
              <a:rPr/>
              <a:t> (create new objects, don’t modify)</a:t>
            </a:r>
          </a:p>
          <a:p>
            <a:pPr lvl="0"/>
            <a:r>
              <a:rPr/>
              <a:t>✅ Use </a:t>
            </a:r>
            <a:r>
              <a:rPr b="1"/>
              <a:t>meaningful method names</a:t>
            </a:r>
            <a:r>
              <a:rPr/>
              <a:t> (toggle, not setState)</a:t>
            </a:r>
          </a:p>
          <a:p>
            <a:pPr lvl="0"/>
            <a:r>
              <a:rPr/>
              <a:t>✅ Validate state </a:t>
            </a:r>
            <a:r>
              <a:rPr b="1"/>
              <a:t>before</a:t>
            </a:r>
            <a:r>
              <a:rPr/>
              <a:t> updating</a:t>
            </a:r>
          </a:p>
          <a:p>
            <a:pPr lvl="0"/>
            <a:r>
              <a:rPr/>
              <a:t>✅ Keep notifiers </a:t>
            </a:r>
            <a:r>
              <a:rPr b="1"/>
              <a:t>focused</a:t>
            </a:r>
            <a:r>
              <a:rPr/>
              <a:t> (single responsibility)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Don’ts</a:t>
            </a:r>
          </a:p>
          <a:p>
            <a:pPr lvl="0"/>
            <a:r>
              <a:rPr/>
              <a:t>❌ Don’t </a:t>
            </a:r>
            <a:r>
              <a:rPr b="1"/>
              <a:t>mutate</a:t>
            </a:r>
            <a:r>
              <a:rPr/>
              <a:t> state directly (breaks reactivity)</a:t>
            </a:r>
          </a:p>
          <a:p>
            <a:pPr lvl="0"/>
            <a:r>
              <a:rPr/>
              <a:t>❌ Avoid </a:t>
            </a:r>
            <a:r>
              <a:rPr b="1"/>
              <a:t>async operations</a:t>
            </a:r>
            <a:r>
              <a:rPr/>
              <a:t> in methods (use AsyncNotifierProvider)</a:t>
            </a:r>
          </a:p>
          <a:p>
            <a:pPr lvl="0"/>
            <a:r>
              <a:rPr/>
              <a:t>❌ Don’t perform </a:t>
            </a:r>
            <a:r>
              <a:rPr b="1"/>
              <a:t>UI logic</a:t>
            </a:r>
            <a:r>
              <a:rPr/>
              <a:t> in notifiers</a:t>
            </a:r>
          </a:p>
          <a:p>
            <a:pPr lvl="0"/>
            <a:r>
              <a:rPr/>
              <a:t>❌ Never call </a:t>
            </a:r>
            <a:r>
              <a:rPr>
                <a:latin typeface="Courier"/>
              </a:rPr>
              <a:t>ref.watch()</a:t>
            </a:r>
            <a:r>
              <a:rPr/>
              <a:t> inside methods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Immutability Pattern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BAD - Mutates state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badToggle(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firstWhere((t)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id);</a:t>
            </a:r>
            <a:br/>
            <a:r>
              <a:rPr>
                <a:latin typeface="Courier"/>
              </a:rPr>
              <a:t> 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completed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completed; </a:t>
            </a:r>
            <a:r>
              <a:rPr i="1">
                <a:solidFill>
                  <a:srgbClr val="60A0B0"/>
                </a:solidFill>
                <a:latin typeface="Courier"/>
              </a:rPr>
              <a:t>// MUTATION!</a:t>
            </a:r>
            <a:br/>
            <a:r>
              <a:rPr>
                <a:latin typeface="Courier"/>
              </a:rPr>
              <a:t>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state; </a:t>
            </a:r>
            <a:r>
              <a:rPr i="1">
                <a:solidFill>
                  <a:srgbClr val="60A0B0"/>
                </a:solidFill>
                <a:latin typeface="Courier"/>
              </a:rPr>
              <a:t>// Won't trigger rebuild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GOOD - Creates new state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goodToggle(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state)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id)</a:t>
            </a:r>
            <a:br/>
            <a:r>
              <a:rPr>
                <a:latin typeface="Courier"/>
              </a:rPr>
              <a:t>       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copyWith(completed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completed) </a:t>
            </a:r>
            <a:r>
              <a:rPr i="1">
                <a:solidFill>
                  <a:srgbClr val="60A0B0"/>
                </a:solidFill>
                <a:latin typeface="Courier"/>
              </a:rPr>
              <a:t>// New object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    todo</a:t>
            </a:r>
            <a:br/>
            <a:r>
              <a:rPr>
                <a:latin typeface="Courier"/>
              </a:rPr>
              <a:t>  ];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Testing Tip</a:t>
            </a:r>
          </a:p>
          <a:p>
            <a:pPr lvl="0" indent="0">
              <a:buNone/>
            </a:pPr>
            <a:r>
              <a:rPr>
                <a:latin typeface="Courier"/>
              </a:rPr>
              <a:t>test(</a:t>
            </a:r>
            <a:r>
              <a:rPr>
                <a:solidFill>
                  <a:srgbClr val="4070A0"/>
                </a:solidFill>
                <a:latin typeface="Courier"/>
              </a:rPr>
              <a:t>'counter increments'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container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ProviderContainer();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notifier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container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expect(container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notifier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increment();</a:t>
            </a:r>
            <a:br/>
            <a:r>
              <a:rPr>
                <a:latin typeface="Courier"/>
              </a:rPr>
              <a:t>  expect(container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NotifierProvider’s explicit structure makes testing straightforward. You can test notifier logic in isolation from UI.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4️⃣ FutureProvider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⏳ </a:t>
            </a:r>
            <a:r>
              <a:rPr sz="2000" b="1"/>
              <a:t>One-time async data fetching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What is FutureProvider?</a:t>
            </a:r>
          </a:p>
          <a:p>
            <a:pPr lvl="0" indent="0" marL="0">
              <a:buNone/>
            </a:pPr>
            <a:r>
              <a:rPr b="1"/>
              <a:t>FutureProvider</a:t>
            </a:r>
            <a:r>
              <a:rPr/>
              <a:t> handles </a:t>
            </a:r>
            <a:r>
              <a:rPr b="1"/>
              <a:t>asynchronous data loading</a:t>
            </a:r>
            <a:r>
              <a:rPr/>
              <a:t> with automatic loading/error/data state management.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When to Use</a:t>
            </a:r>
          </a:p>
          <a:p>
            <a:pPr lvl="0"/>
            <a:r>
              <a:rPr/>
              <a:t>✅ </a:t>
            </a:r>
            <a:r>
              <a:rPr b="1"/>
              <a:t>One-time</a:t>
            </a:r>
            <a:r>
              <a:rPr/>
              <a:t> API calls (fetch and cache)</a:t>
            </a:r>
          </a:p>
          <a:p>
            <a:pPr lvl="0"/>
            <a:r>
              <a:rPr/>
              <a:t>✅ </a:t>
            </a:r>
            <a:r>
              <a:rPr b="1"/>
              <a:t>Initial data loading</a:t>
            </a:r>
            <a:r>
              <a:rPr/>
              <a:t> for screens</a:t>
            </a:r>
          </a:p>
          <a:p>
            <a:pPr lvl="0"/>
            <a:r>
              <a:rPr/>
              <a:t>✅ </a:t>
            </a:r>
            <a:r>
              <a:rPr b="1"/>
              <a:t>Read-only</a:t>
            </a:r>
            <a:r>
              <a:rPr/>
              <a:t> remote data</a:t>
            </a:r>
          </a:p>
          <a:p>
            <a:pPr lvl="0"/>
            <a:r>
              <a:rPr/>
              <a:t>✅ </a:t>
            </a:r>
            <a:r>
              <a:rPr b="1"/>
              <a:t>File operations</a:t>
            </a:r>
            <a:r>
              <a:rPr/>
              <a:t> or database queries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Real-World Scenarios</a:t>
            </a:r>
          </a:p>
          <a:p>
            <a:pPr lvl="0"/>
            <a:r>
              <a:rPr/>
              <a:t>Loading user profile on app start</a:t>
            </a:r>
          </a:p>
          <a:p>
            <a:pPr lvl="0"/>
            <a:r>
              <a:rPr/>
              <a:t>Fetching product catalog</a:t>
            </a:r>
          </a:p>
          <a:p>
            <a:pPr lvl="0"/>
            <a:r>
              <a:rPr/>
              <a:t>Reading configuration from file</a:t>
            </a:r>
          </a:p>
          <a:p>
            <a:pPr lvl="0"/>
            <a:r>
              <a:rPr/>
              <a:t>Getting weather data for selected city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🎁 What You Get</a:t>
            </a:r>
          </a:p>
          <a:p>
            <a:pPr lvl="0"/>
            <a:r>
              <a:rPr/>
              <a:t>✅ </a:t>
            </a:r>
            <a:r>
              <a:rPr b="1"/>
              <a:t>AsyncValue</a:t>
            </a:r>
            <a:r>
              <a:rPr/>
              <a:t> wrapper (loading, data, error states)</a:t>
            </a:r>
          </a:p>
          <a:p>
            <a:pPr lvl="0"/>
            <a:r>
              <a:rPr/>
              <a:t>✅ </a:t>
            </a:r>
            <a:r>
              <a:rPr b="1"/>
              <a:t>Automatic caching</a:t>
            </a:r>
            <a:r>
              <a:rPr/>
              <a:t> (runs once, caches result)</a:t>
            </a:r>
          </a:p>
          <a:p>
            <a:pPr lvl="0"/>
            <a:r>
              <a:rPr/>
              <a:t>✅ </a:t>
            </a:r>
            <a:r>
              <a:rPr b="1"/>
              <a:t>Refresh support</a:t>
            </a:r>
            <a:r>
              <a:rPr/>
              <a:t> via </a:t>
            </a:r>
            <a:r>
              <a:rPr>
                <a:latin typeface="Courier"/>
              </a:rPr>
              <a:t>ref.refresh()</a:t>
            </a:r>
          </a:p>
          <a:p>
            <a:pPr lvl="0"/>
            <a:r>
              <a:rPr/>
              <a:t>✅ </a:t>
            </a:r>
            <a:r>
              <a:rPr b="1"/>
              <a:t>Auto-dispose</a:t>
            </a:r>
            <a:r>
              <a:rPr/>
              <a:t> option for memory management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FutureProvider is perfect for “fetch once, use many times” scenarios. Unlike StreamProvider, it doesn’t continuously update.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Basic Pattern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myFutureProvider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Async operation (API call, file read, etc.)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fetchData();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Loading Products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ProductRepository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getProducts()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http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(Uri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parse(</a:t>
            </a:r>
            <a:r>
              <a:rPr>
                <a:solidFill>
                  <a:srgbClr val="4070A0"/>
                </a:solidFill>
                <a:latin typeface="Courier"/>
              </a:rPr>
              <a:t>'$baseUrl/products'</a:t>
            </a:r>
            <a:r>
              <a:rPr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statusCode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json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jsonDecode(response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body);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json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map((e)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fromJson(e))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Exception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'Failed to load products'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FutureProvider - fetches once, caches result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ProductRepository()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getProducts()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Weather with Auto-Dispose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selectedCityProvider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SelectedCityNotifier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SelectedCityNotifier()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.autoDispose() cleans up when widget unmounts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weatherProvider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Weather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watch(selectedCityProvider); </a:t>
            </a:r>
            <a:r>
              <a:rPr i="1">
                <a:solidFill>
                  <a:srgbClr val="60A0B0"/>
                </a:solidFill>
                <a:latin typeface="Courier"/>
              </a:rPr>
              <a:t>// Re-fetch when city changes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coordinates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cityCoordinates[city]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Uri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parse(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'https://api.open-meteo.com/v1/forecast?'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'latitude=${coordinates.$1}&amp;longitude=${coordinates.$2}&amp;'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'current=temperature_2m,relative_humidity_2m'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http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(url);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statusCode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Exception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'Failed to load weather'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Weather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fromJson(jsonDecode(response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body)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city);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Consuming with AsyncValue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ProductsScreen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productsAsync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watch(productsProvider);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(products)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ListView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builder(</a:t>
            </a:r>
            <a:br/>
            <a:r>
              <a:rPr>
                <a:latin typeface="Courier"/>
              </a:rPr>
              <a:t>        itemCount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itemBuilder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index)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ProductTile(product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products[index])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Center(child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CircularProgressIndicator())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(error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stack)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Center(child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'Error: $error'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Refreshing Data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Pull to refresh</a:t>
            </a:r>
            <a:br/>
            <a:r>
              <a:rPr>
                <a:latin typeface="Courier"/>
              </a:rPr>
              <a:t>RefreshIndicator(</a:t>
            </a:r>
            <a:br/>
            <a:r>
              <a:rPr>
                <a:latin typeface="Courier"/>
              </a:rPr>
              <a:t>  onRefresh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refresh(productsProvider); </a:t>
            </a:r>
            <a:r>
              <a:rPr i="1">
                <a:solidFill>
                  <a:srgbClr val="60A0B0"/>
                </a:solidFill>
                <a:latin typeface="Courier"/>
              </a:rPr>
              <a:t>// Re-runs the future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ProductsList()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Manual refresh button</a:t>
            </a:r>
            <a:br/>
            <a:r>
              <a:rPr>
                <a:latin typeface="Courier"/>
              </a:rPr>
              <a:t>IconButton(</a:t>
            </a:r>
            <a:br/>
            <a:r>
              <a:rPr>
                <a:latin typeface="Courier"/>
              </a:rPr>
              <a:t>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refresh(weatherProvider)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icon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Icon(Icons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The .when() method is your friend - it forces you to handle all states. Use .whenData() if you only care about the data state.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Do’s</a:t>
            </a:r>
          </a:p>
          <a:p>
            <a:pPr lvl="0"/>
            <a:r>
              <a:rPr/>
              <a:t>✅ Use </a:t>
            </a:r>
            <a:r>
              <a:rPr b="1">
                <a:latin typeface="Courier"/>
              </a:rPr>
              <a:t>.autoDispose()</a:t>
            </a:r>
            <a:r>
              <a:rPr/>
              <a:t> for screen-level data</a:t>
            </a:r>
          </a:p>
          <a:p>
            <a:pPr lvl="0"/>
            <a:r>
              <a:rPr/>
              <a:t>✅ Handle all </a:t>
            </a:r>
            <a:r>
              <a:rPr b="1"/>
              <a:t>AsyncValue states</a:t>
            </a:r>
            <a:r>
              <a:rPr/>
              <a:t> (loading, error, data)</a:t>
            </a:r>
          </a:p>
          <a:p>
            <a:pPr lvl="0"/>
            <a:r>
              <a:rPr/>
              <a:t>✅ Use </a:t>
            </a:r>
            <a:r>
              <a:rPr b="1">
                <a:latin typeface="Courier"/>
              </a:rPr>
              <a:t>ref.watch()</a:t>
            </a:r>
            <a:r>
              <a:rPr/>
              <a:t> to re-fetch on dependency changes</a:t>
            </a:r>
          </a:p>
          <a:p>
            <a:pPr lvl="0"/>
            <a:r>
              <a:rPr/>
              <a:t>✅ Implement </a:t>
            </a:r>
            <a:r>
              <a:rPr b="1"/>
              <a:t>retry logic</a:t>
            </a:r>
            <a:r>
              <a:rPr/>
              <a:t> for failed requests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Don’ts</a:t>
            </a:r>
          </a:p>
          <a:p>
            <a:pPr lvl="0"/>
            <a:r>
              <a:rPr/>
              <a:t>❌ Don’t use for </a:t>
            </a:r>
            <a:r>
              <a:rPr b="1"/>
              <a:t>continuous updates</a:t>
            </a:r>
            <a:r>
              <a:rPr/>
              <a:t> (use StreamProvider)</a:t>
            </a:r>
          </a:p>
          <a:p>
            <a:pPr lvl="0"/>
            <a:r>
              <a:rPr/>
              <a:t>❌ Avoid </a:t>
            </a:r>
            <a:r>
              <a:rPr b="1"/>
              <a:t>heavy computations</a:t>
            </a:r>
            <a:r>
              <a:rPr/>
              <a:t> (move to isolates)</a:t>
            </a:r>
          </a:p>
          <a:p>
            <a:pPr lvl="0"/>
            <a:r>
              <a:rPr/>
              <a:t>❌ Don’t ignore </a:t>
            </a:r>
            <a:r>
              <a:rPr b="1"/>
              <a:t>error states</a:t>
            </a:r>
            <a:r>
              <a:rPr/>
              <a:t> (always handle)</a:t>
            </a:r>
          </a:p>
          <a:p>
            <a:pPr lvl="0"/>
            <a:r>
              <a:rPr/>
              <a:t>❌ Never directly modify returned data (it’s cached)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Auto-Dispose Decision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Use autoDispose for screen-level data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screenDataProvider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Keep alive for app-level data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appConfigProvider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Error Handling Pattern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robustProvider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fetchData();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NetworkException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'Network error: ${e.message}'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TimeoutException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'Request timed out. Please try again.'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'Unexpected error: $e'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FutureProvider vs AsyncNotifierProvider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AsyncNotifierProvider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 complex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Read-only fetch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operations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When to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mutations needed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to refresh/update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Rule of thumb - if you just need to fetch and display data, FutureProvider is simpler. If you need to refresh, update, or mutate the data, use AsyncNotifierProvider.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5️⃣ StreamProvider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🌊 </a:t>
            </a:r>
            <a:r>
              <a:rPr sz="2000" b="1"/>
              <a:t>Continuous real-time data updates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What is StreamProvider?</a:t>
            </a:r>
          </a:p>
          <a:p>
            <a:pPr lvl="0" indent="0" marL="0">
              <a:buNone/>
            </a:pPr>
            <a:r>
              <a:rPr b="1"/>
              <a:t>StreamProvider</a:t>
            </a:r>
            <a:r>
              <a:rPr/>
              <a:t> listens to a </a:t>
            </a:r>
            <a:r>
              <a:rPr b="1"/>
              <a:t>Stream</a:t>
            </a:r>
            <a:r>
              <a:rPr/>
              <a:t> and exposes its values as they arrive, perfect for real-time, continuously updating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When to Use</a:t>
            </a:r>
          </a:p>
          <a:p>
            <a:pPr lvl="0"/>
            <a:r>
              <a:rPr/>
              <a:t>✅ </a:t>
            </a:r>
            <a:r>
              <a:rPr b="1"/>
              <a:t>Real-time updates</a:t>
            </a:r>
            <a:r>
              <a:rPr/>
              <a:t> (WebSocket, Firebase)</a:t>
            </a:r>
          </a:p>
          <a:p>
            <a:pPr lvl="0"/>
            <a:r>
              <a:rPr/>
              <a:t>✅ </a:t>
            </a:r>
            <a:r>
              <a:rPr b="1"/>
              <a:t>Periodic refreshes</a:t>
            </a:r>
            <a:r>
              <a:rPr/>
              <a:t> (news feed, stock prices)</a:t>
            </a:r>
          </a:p>
          <a:p>
            <a:pPr lvl="0"/>
            <a:r>
              <a:rPr/>
              <a:t>✅ </a:t>
            </a:r>
            <a:r>
              <a:rPr b="1"/>
              <a:t>Event streams</a:t>
            </a:r>
            <a:r>
              <a:rPr/>
              <a:t> (user actions, notifications)</a:t>
            </a:r>
          </a:p>
          <a:p>
            <a:pPr lvl="0"/>
            <a:r>
              <a:rPr/>
              <a:t>✅ </a:t>
            </a:r>
            <a:r>
              <a:rPr b="1"/>
              <a:t>Live data</a:t>
            </a:r>
            <a:r>
              <a:rPr/>
              <a:t> (chat messages, location updates)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Real-World Scenarios</a:t>
            </a:r>
          </a:p>
          <a:p>
            <a:pPr lvl="0"/>
            <a:r>
              <a:rPr/>
              <a:t>Live news feed that updates every 20 seconds</a:t>
            </a:r>
          </a:p>
          <a:p>
            <a:pPr lvl="0"/>
            <a:r>
              <a:rPr/>
              <a:t>Stock price ticker</a:t>
            </a:r>
          </a:p>
          <a:p>
            <a:pPr lvl="0"/>
            <a:r>
              <a:rPr/>
              <a:t>Chat application messages</a:t>
            </a:r>
          </a:p>
          <a:p>
            <a:pPr lvl="0"/>
            <a:r>
              <a:rPr/>
              <a:t>Firebase Firestore real-time queries</a:t>
            </a:r>
          </a:p>
          <a:p>
            <a:pPr lvl="0"/>
            <a:r>
              <a:rPr/>
              <a:t>IoT sensor data streams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🎁 What You Get</a:t>
            </a:r>
          </a:p>
          <a:p>
            <a:pPr lvl="0"/>
            <a:r>
              <a:rPr/>
              <a:t>✅ </a:t>
            </a:r>
            <a:r>
              <a:rPr b="1"/>
              <a:t>AsyncValue</a:t>
            </a:r>
            <a:r>
              <a:rPr/>
              <a:t> wrapper (like FutureProvider)</a:t>
            </a:r>
          </a:p>
          <a:p>
            <a:pPr lvl="0"/>
            <a:r>
              <a:rPr/>
              <a:t>✅ </a:t>
            </a:r>
            <a:r>
              <a:rPr b="1"/>
              <a:t>Automatic subscription</a:t>
            </a:r>
            <a:r>
              <a:rPr/>
              <a:t> management</a:t>
            </a:r>
          </a:p>
          <a:p>
            <a:pPr lvl="0"/>
            <a:r>
              <a:rPr/>
              <a:t>✅ </a:t>
            </a:r>
            <a:r>
              <a:rPr b="1"/>
              <a:t>Auto-dispose</a:t>
            </a:r>
            <a:r>
              <a:rPr/>
              <a:t> to prevent memory leaks</a:t>
            </a:r>
          </a:p>
          <a:p>
            <a:pPr lvl="0"/>
            <a:r>
              <a:rPr/>
              <a:t>✅ </a:t>
            </a:r>
            <a:r>
              <a:rPr b="1"/>
              <a:t>Latest value</a:t>
            </a:r>
            <a:r>
              <a:rPr/>
              <a:t> always available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StreamProvider is your go-to for anything that updates continuously. It handles subscription lifecycle automatically - no manual listen/cancel needed.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Basic Pattern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myStreamProvider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myStream; </a:t>
            </a:r>
            <a:r>
              <a:rPr i="1">
                <a:solidFill>
                  <a:srgbClr val="60A0B0"/>
                </a:solidFill>
                <a:latin typeface="Courier"/>
              </a:rPr>
              <a:t>// Return a Stream&lt;T&gt;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With auto-dispose (recommended)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myStreamProvider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Generator function for streams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myStream;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News Feed with Periodic Updates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newsProvider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NewsArticle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Infinite loop for periodic updates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http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  Uri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parse(</a:t>
            </a:r>
            <a:r>
              <a:rPr>
                <a:solidFill>
                  <a:srgbClr val="4070A0"/>
                </a:solidFill>
                <a:latin typeface="Courier"/>
              </a:rPr>
              <a:t>'https://newsapi.org/v2/top-headlines?country=us&amp;pageSize=3'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);</a:t>
            </a:r>
            <a:br/>
            <a:r>
              <a:rPr>
                <a:latin typeface="Courier"/>
              </a:rPr>
              <a:t>      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statusCode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jsonDecode(response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body);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articles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(data[</a:t>
            </a:r>
            <a:r>
              <a:rPr>
                <a:solidFill>
                  <a:srgbClr val="4070A0"/>
                </a:solidFill>
                <a:latin typeface="Courier"/>
              </a:rPr>
              <a:t>'articles'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map((article)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NewsArticle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fromJson(article))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latin typeface="Courier"/>
              </a:rPr>
              <a:t> articles; </a:t>
            </a:r>
            <a:r>
              <a:rPr i="1">
                <a:solidFill>
                  <a:srgbClr val="60A0B0"/>
                </a:solidFill>
                <a:latin typeface="Courier"/>
              </a:rPr>
              <a:t>// Emit data to stream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latin typeface="Courier"/>
              </a:rPr>
              <a:t> _getSampleNews(); </a:t>
            </a:r>
            <a:r>
              <a:rPr i="1">
                <a:solidFill>
                  <a:srgbClr val="60A0B0"/>
                </a:solidFill>
                <a:latin typeface="Courier"/>
              </a:rPr>
              <a:t>// Fallback data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latin typeface="Courier"/>
              </a:rPr>
              <a:t> _getSampleNews(); </a:t>
            </a:r>
            <a:r>
              <a:rPr i="1">
                <a:solidFill>
                  <a:srgbClr val="60A0B0"/>
                </a:solidFill>
                <a:latin typeface="Courier"/>
              </a:rPr>
              <a:t>// Error fallback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delayed(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Duration(seconds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)); </a:t>
            </a:r>
            <a:r>
              <a:rPr i="1">
                <a:solidFill>
                  <a:srgbClr val="60A0B0"/>
                </a:solidFill>
                <a:latin typeface="Courier"/>
              </a:rPr>
              <a:t>// Wait before next fetch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br/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NewsArticle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_getSampleNews()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NewsArticle(</a:t>
            </a:r>
            <a:br/>
            <a:r>
              <a:rPr>
                <a:latin typeface="Courier"/>
              </a:rPr>
              <a:t>      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'Breaking: Tech Advances Continue'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source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'Tech News'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publishedAt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now()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toIso8601String()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... more sample articles</a:t>
            </a:r>
            <a:br/>
            <a:r>
              <a:rPr>
                <a:latin typeface="Courier"/>
              </a:rPr>
              <a:t>  ];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Firebase Firestore Stream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messagesStreamProvider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Message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chatId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watch(selectedChatProvider);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Firestore real-time listener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FirebaseFirestore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instance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collection(</a:t>
            </a:r>
            <a:r>
              <a:rPr>
                <a:solidFill>
                  <a:srgbClr val="4070A0"/>
                </a:solidFill>
                <a:latin typeface="Courier"/>
              </a:rPr>
              <a:t>'chats'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doc(chatId)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collection(</a:t>
            </a:r>
            <a:r>
              <a:rPr>
                <a:solidFill>
                  <a:srgbClr val="4070A0"/>
                </a:solidFill>
                <a:latin typeface="Courier"/>
              </a:rPr>
              <a:t>'messages'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orderBy(</a:t>
            </a:r>
            <a:r>
              <a:rPr>
                <a:solidFill>
                  <a:srgbClr val="4070A0"/>
                </a:solidFill>
                <a:latin typeface="Courier"/>
              </a:rPr>
              <a:t>'timestamp'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descending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snapshots()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map((snapshot)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snapshot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docs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map((doc)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Message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fromFirestore(doc))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WebSocket Stream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liveDataProvider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LiveData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channel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WebSocketChannel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connect(</a:t>
            </a:r>
            <a:br/>
            <a:r>
              <a:rPr>
                <a:latin typeface="Courier"/>
              </a:rPr>
              <a:t>    Uri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parse(</a:t>
            </a:r>
            <a:r>
              <a:rPr>
                <a:solidFill>
                  <a:srgbClr val="4070A0"/>
                </a:solidFill>
                <a:latin typeface="Courier"/>
              </a:rPr>
              <a:t>'wss://example.com/live'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message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channel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latin typeface="Courier"/>
              </a:rPr>
              <a:t> LiveData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fromJson(jsonDecode(message));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finally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channel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sink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close(); </a:t>
            </a:r>
            <a:r>
              <a:rPr i="1">
                <a:solidFill>
                  <a:srgbClr val="60A0B0"/>
                </a:solidFill>
                <a:latin typeface="Courier"/>
              </a:rPr>
              <a:t>// Cleanup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Consuming in Widget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NewsScreen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newsAsync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watch(newsProvider);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newsAsync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(articles)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ListView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builder(</a:t>
            </a:r>
            <a:br/>
            <a:r>
              <a:rPr>
                <a:latin typeface="Courier"/>
              </a:rPr>
              <a:t>        itemCount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articles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itemBuilder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index)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NewsCard(article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articles[index])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Center(</a:t>
            </a:r>
            <a:br/>
            <a:r>
              <a:rPr>
                <a:latin typeface="Courier"/>
              </a:rPr>
              <a:t>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Column(</a:t>
            </a:r>
            <a:br/>
            <a:r>
              <a:rPr>
                <a:latin typeface="Courier"/>
              </a:rPr>
              <a:t>          mainAxisAlignment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MainAxisAlignment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center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children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    CircularProgressIndicator()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SizedBox(height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Text(</a:t>
            </a:r>
            <a:r>
              <a:rPr>
                <a:solidFill>
                  <a:srgbClr val="4070A0"/>
                </a:solidFill>
                <a:latin typeface="Courier"/>
              </a:rPr>
              <a:t>'Loading latest news...'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]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(error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stack)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ErrorWidget(error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error)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Notice the async* and yield keywords - these create a generator function for streams. The while(true) loop keeps emitting new values periodically.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Do’s</a:t>
            </a:r>
          </a:p>
          <a:p>
            <a:pPr lvl="0"/>
            <a:r>
              <a:rPr/>
              <a:t>✅ </a:t>
            </a:r>
            <a:r>
              <a:rPr b="1"/>
              <a:t>Always</a:t>
            </a:r>
            <a:r>
              <a:rPr/>
              <a:t> use </a:t>
            </a:r>
            <a:r>
              <a:rPr>
                <a:latin typeface="Courier"/>
              </a:rPr>
              <a:t>.autoDispose()</a:t>
            </a:r>
            <a:r>
              <a:rPr/>
              <a:t> for streams</a:t>
            </a:r>
          </a:p>
          <a:p>
            <a:pPr lvl="0"/>
            <a:r>
              <a:rPr/>
              <a:t>✅ Handle </a:t>
            </a:r>
            <a:r>
              <a:rPr b="1"/>
              <a:t>cleanup</a:t>
            </a:r>
            <a:r>
              <a:rPr/>
              <a:t> in finally blocks (WebSocket, timers)</a:t>
            </a:r>
          </a:p>
          <a:p>
            <a:pPr lvl="0"/>
            <a:r>
              <a:rPr/>
              <a:t>✅ Provide </a:t>
            </a:r>
            <a:r>
              <a:rPr b="1"/>
              <a:t>fallback data</a:t>
            </a:r>
            <a:r>
              <a:rPr/>
              <a:t> for errors</a:t>
            </a:r>
          </a:p>
          <a:p>
            <a:pPr lvl="0"/>
            <a:r>
              <a:rPr/>
              <a:t>✅ Use </a:t>
            </a:r>
            <a:r>
              <a:rPr b="1"/>
              <a:t>debouncing</a:t>
            </a:r>
            <a:r>
              <a:rPr/>
              <a:t> for high-frequency streams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Don’ts</a:t>
            </a:r>
          </a:p>
          <a:p>
            <a:pPr lvl="0"/>
            <a:r>
              <a:rPr/>
              <a:t>❌ Don’t forget </a:t>
            </a:r>
            <a:r>
              <a:rPr b="1"/>
              <a:t>error handling</a:t>
            </a:r>
            <a:r>
              <a:rPr/>
              <a:t> (streams can fail)</a:t>
            </a:r>
          </a:p>
          <a:p>
            <a:pPr lvl="0"/>
            <a:r>
              <a:rPr/>
              <a:t>❌ Avoid </a:t>
            </a:r>
            <a:r>
              <a:rPr b="1"/>
              <a:t>memory leaks</a:t>
            </a:r>
            <a:r>
              <a:rPr/>
              <a:t> (use autoDispose)</a:t>
            </a:r>
          </a:p>
          <a:p>
            <a:pPr lvl="0"/>
            <a:r>
              <a:rPr/>
              <a:t>❌ Don’t emit </a:t>
            </a:r>
            <a:r>
              <a:rPr b="1"/>
              <a:t>too frequently</a:t>
            </a:r>
            <a:r>
              <a:rPr/>
              <a:t> (throttle if needed)</a:t>
            </a:r>
          </a:p>
          <a:p>
            <a:pPr lvl="0"/>
            <a:r>
              <a:rPr/>
              <a:t>❌ Never block the stream (keep processing fast)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Stream Lifecycle</a:t>
            </a:r>
          </a:p>
          <a:p>
            <a:pPr lvl="0" indent="0">
              <a:buNone/>
            </a:pPr>
            <a:r>
              <a:rPr>
                <a:latin typeface="Courier"/>
              </a:rPr>
              <a:t>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1. Setup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subscription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listen(</a:t>
            </a:r>
            <a:r>
              <a:rPr>
                <a:solidFill>
                  <a:srgbClr val="88000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2. Cleanup when widget unmounts</a:t>
            </a:r>
            <a:br/>
            <a:r>
              <a:rPr>
                <a:latin typeface="Courier"/>
              </a:rPr>
              <a:t>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onDispose(()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subscription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cancel();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3. Emit values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dataStream;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Performance: Throttling High-Frequency Streams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'package:rxdart/rxdart.dart'</a:t>
            </a:r>
            <a:r>
              <a:rPr>
                <a:latin typeface="Courier"/>
              </a:rPr>
              <a:t>;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throttledStreamProvider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SensorData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sensorDataStream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throttleTime(Duration(milliseconds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// Max 10 updates/sec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map((data)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SensorData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fromRaw(data));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Stream vs Future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FutureProvider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Updates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Subscription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Stays active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overhead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Lower overhead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When to Choose What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StreamProvider - Data updates continuously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liveStockPricesProvider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Stock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FutureProvider - Data loads once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productCatalogProvider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A common mistake is using StreamProvider for one-time data. If your data doesn’t update continuously, stick with FutureProvider - it’s simpler and more efficient.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6️⃣ AsyncNotifierProvider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🔄 </a:t>
            </a:r>
            <a:r>
              <a:rPr sz="2000" b="1"/>
              <a:t>Complex async state with mutations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What is AsyncNotifierProvider?</a:t>
            </a:r>
          </a:p>
          <a:p>
            <a:pPr lvl="0" indent="0" marL="0">
              <a:buNone/>
            </a:pPr>
            <a:r>
              <a:rPr b="1"/>
              <a:t>AsyncNotifierProvider</a:t>
            </a:r>
            <a:r>
              <a:rPr/>
              <a:t> combines async operations with mutable state, allowing </a:t>
            </a:r>
            <a:r>
              <a:rPr b="1"/>
              <a:t>custom methods to refresh, update, or mutate async data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When to Use</a:t>
            </a:r>
          </a:p>
          <a:p>
            <a:pPr lvl="0"/>
            <a:r>
              <a:rPr/>
              <a:t>✅ </a:t>
            </a:r>
            <a:r>
              <a:rPr b="1"/>
              <a:t>CRUD operations</a:t>
            </a:r>
            <a:r>
              <a:rPr/>
              <a:t> with async data</a:t>
            </a:r>
          </a:p>
          <a:p>
            <a:pPr lvl="0"/>
            <a:r>
              <a:rPr/>
              <a:t>✅ </a:t>
            </a:r>
            <a:r>
              <a:rPr b="1"/>
              <a:t>Refreshable</a:t>
            </a:r>
            <a:r>
              <a:rPr/>
              <a:t> remote data</a:t>
            </a:r>
          </a:p>
          <a:p>
            <a:pPr lvl="0"/>
            <a:r>
              <a:rPr/>
              <a:t>✅ </a:t>
            </a:r>
            <a:r>
              <a:rPr b="1"/>
              <a:t>Paginated</a:t>
            </a:r>
            <a:r>
              <a:rPr/>
              <a:t> data loading</a:t>
            </a:r>
          </a:p>
          <a:p>
            <a:pPr lvl="0"/>
            <a:r>
              <a:rPr/>
              <a:t>✅ </a:t>
            </a:r>
            <a:r>
              <a:rPr b="1"/>
              <a:t>Complex async workflows</a:t>
            </a:r>
            <a:r>
              <a:rPr/>
              <a:t> (multi-step operations)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Real-World Scenarios</a:t>
            </a:r>
          </a:p>
          <a:p>
            <a:pPr lvl="0"/>
            <a:r>
              <a:rPr/>
              <a:t>Shopping cart (add/remove with server sync)</a:t>
            </a:r>
          </a:p>
          <a:p>
            <a:pPr lvl="0"/>
            <a:r>
              <a:rPr/>
              <a:t>Paginated product list with filters</a:t>
            </a:r>
          </a:p>
          <a:p>
            <a:pPr lvl="0"/>
            <a:r>
              <a:rPr/>
              <a:t>User profile with update capabilities</a:t>
            </a:r>
          </a:p>
          <a:p>
            <a:pPr lvl="0"/>
            <a:r>
              <a:rPr/>
              <a:t>Todo list synced with backend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vs FutureProvider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AsyncNotifierProvider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 complex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When to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mutations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If FutureProvider is “fetch and display”, AsyncNotifierProvider is “fetch, display, and interact”. Use it when you need to do more than just read data.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Basic Pattern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1. Define AsyncNotifier class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MyAsyncNotifier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AsyncNotifier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StateType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StateType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Initial async load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fetchInitialData();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refresh()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loading();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guard(()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fetchUpdatedData();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customMutation()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Custom async operations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2. Create provider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myProvider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MyAsyncNotifier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StateType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MyAsyncNotifier()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Shopping Cart with Server Sync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ShoppingCartNotifier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AsyncNotifier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Load cart from server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CartRepository()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fetchCart();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addItem(Product product)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Optimistic update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currentCart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valueOrNull </a:t>
            </a:r>
            <a:r>
              <a:rPr>
                <a:solidFill>
                  <a:srgbClr val="666666"/>
                </a:solidFill>
                <a:latin typeface="Courier"/>
              </a:rPr>
              <a:t>??</a:t>
            </a:r>
            <a:r>
              <a:rPr>
                <a:latin typeface="Courier"/>
              </a:rPr>
              <a:t> [];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data([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currentCart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CartItem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fromProduct(product)]);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Sync with server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CartRepository()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addToCart(product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// Revert on error</a:t>
            </a:r>
            <a:br/>
            <a:r>
              <a:rPr>
                <a:latin typeface="Courier"/>
              </a:rPr>
              <a:t>  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data(currentCart);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rethrow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removeItem(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itemId)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currentCart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valueOrNull </a:t>
            </a:r>
            <a:r>
              <a:rPr>
                <a:solidFill>
                  <a:srgbClr val="666666"/>
                </a:solidFill>
                <a:latin typeface="Courier"/>
              </a:rPr>
              <a:t>??</a:t>
            </a:r>
            <a:r>
              <a:rPr>
                <a:latin typeface="Courier"/>
              </a:rPr>
              <a:t> [];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data(currentCart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where((item)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itemId)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CartRepository()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removeFromCart(itemId);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data(currentCart);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rethrow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refresh()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loading();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guard(()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CartRepository()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fetchCart());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shoppingCartProvider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ShoppingCartNotifier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ShoppingCartNotifier()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Example: Paginated Product List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PaginatedProductsNotifier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AsyncNotifier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_page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_hasMore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_fetchPage(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loadMore()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_hasMore)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currentProducts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valueOrNull </a:t>
            </a:r>
            <a:r>
              <a:rPr>
                <a:solidFill>
                  <a:srgbClr val="666666"/>
                </a:solidFill>
                <a:latin typeface="Courier"/>
              </a:rPr>
              <a:t>??</a:t>
            </a:r>
            <a:r>
              <a:rPr>
                <a:latin typeface="Courier"/>
              </a:rPr>
              <a:t> [];</a:t>
            </a:r>
            <a:br/>
            <a:r>
              <a:rPr>
                <a:latin typeface="Courier"/>
              </a:rPr>
              <a:t>    _page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newProducts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_fetchPage(_page);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(newProducts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isEmpty)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_hasMore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data([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currentProducts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newProducts]);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_fetchPage(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page)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http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Uri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parse(</a:t>
            </a:r>
            <a:r>
              <a:rPr>
                <a:solidFill>
                  <a:srgbClr val="4070A0"/>
                </a:solidFill>
                <a:latin typeface="Courier"/>
              </a:rPr>
              <a:t>'$baseUrl/products?page=$page&amp;limit=20'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... parse and return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Usage in Widget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CartScreen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cartAsync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watch(shoppingCartProvider);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Scaffold(</a:t>
            </a:r>
            <a:br/>
            <a:r>
              <a:rPr>
                <a:latin typeface="Courier"/>
              </a:rPr>
              <a:t>      body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cartAsync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(items)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ListView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builder(</a:t>
            </a:r>
            <a:br/>
            <a:r>
              <a:rPr>
                <a:latin typeface="Courier"/>
              </a:rPr>
              <a:t>          itemCount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itemBuilder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index)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item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items[index];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ListTile(</a:t>
            </a:r>
            <a:br/>
            <a:r>
              <a:rPr>
                <a:latin typeface="Courier"/>
              </a:rPr>
              <a:t>              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trailing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IconButton(</a:t>
            </a:r>
            <a:br/>
            <a:r>
              <a:rPr>
                <a:latin typeface="Courier"/>
              </a:rPr>
              <a:t>                icon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Icon(Icons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delete)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Call async method</a:t>
            </a:r>
            <a:br/>
            <a:r>
              <a:rPr>
                <a:latin typeface="Courier"/>
              </a:rPr>
              <a:t>                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read(shoppingCartProvider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removeItem(item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id);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);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Center(child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CircularProgressIndicator())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(error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ErrorScreen(error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error)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floatingActionButton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FloatingActionButton(</a:t>
            </a:r>
            <a:br/>
            <a:r>
              <a:rPr>
                <a:latin typeface="Courier"/>
              </a:rPr>
              <a:t>    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read(shoppingCartProvider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refresh();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Icon(Icons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Notice the optimistic update pattern - we update UI immediately, then sync with server. If server fails, we revert. This gives users instant feedback while maintaining data integrity.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Do’s</a:t>
            </a:r>
          </a:p>
          <a:p>
            <a:pPr lvl="0"/>
            <a:r>
              <a:rPr/>
              <a:t>✅ Use </a:t>
            </a:r>
            <a:r>
              <a:rPr b="1"/>
              <a:t>optimistic updates</a:t>
            </a:r>
            <a:r>
              <a:rPr/>
              <a:t> for better UX</a:t>
            </a:r>
          </a:p>
          <a:p>
            <a:pPr lvl="0"/>
            <a:r>
              <a:rPr/>
              <a:t>✅ Handle </a:t>
            </a:r>
            <a:r>
              <a:rPr b="1"/>
              <a:t>loading states</a:t>
            </a:r>
            <a:r>
              <a:rPr/>
              <a:t> during mutations</a:t>
            </a:r>
          </a:p>
          <a:p>
            <a:pPr lvl="0"/>
            <a:r>
              <a:rPr/>
              <a:t>✅ Implement </a:t>
            </a:r>
            <a:r>
              <a:rPr b="1"/>
              <a:t>error recovery</a:t>
            </a:r>
            <a:r>
              <a:rPr/>
              <a:t> (revert on failure)</a:t>
            </a:r>
          </a:p>
          <a:p>
            <a:pPr lvl="0"/>
            <a:r>
              <a:rPr/>
              <a:t>✅ Use </a:t>
            </a:r>
            <a:r>
              <a:rPr b="1">
                <a:latin typeface="Courier"/>
              </a:rPr>
              <a:t>AsyncValue.guard()</a:t>
            </a:r>
            <a:r>
              <a:rPr/>
              <a:t> for error handling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Don’ts</a:t>
            </a:r>
          </a:p>
          <a:p>
            <a:pPr lvl="0"/>
            <a:r>
              <a:rPr/>
              <a:t>❌ Don’t use for </a:t>
            </a:r>
            <a:r>
              <a:rPr b="1"/>
              <a:t>simple read-only</a:t>
            </a:r>
            <a:r>
              <a:rPr/>
              <a:t> data (use FutureProvider)</a:t>
            </a:r>
          </a:p>
          <a:p>
            <a:pPr lvl="0"/>
            <a:r>
              <a:rPr/>
              <a:t>❌ Avoid </a:t>
            </a:r>
            <a:r>
              <a:rPr b="1"/>
              <a:t>blocking UI</a:t>
            </a:r>
            <a:r>
              <a:rPr/>
              <a:t> during mutations</a:t>
            </a:r>
          </a:p>
          <a:p>
            <a:pPr lvl="0"/>
            <a:r>
              <a:rPr/>
              <a:t>❌ Don’t ignore </a:t>
            </a:r>
            <a:r>
              <a:rPr b="1"/>
              <a:t>partial states</a:t>
            </a:r>
            <a:r>
              <a:rPr/>
              <a:t> (loading, error)</a:t>
            </a:r>
          </a:p>
          <a:p>
            <a:pPr lvl="0"/>
            <a:r>
              <a:rPr/>
              <a:t>❌ Never assume </a:t>
            </a:r>
            <a:r>
              <a:rPr b="1"/>
              <a:t>network always succeeds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Error Handling Pattern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safeUpdate(Data data)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loading();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AsyncValue.guard automatically wraps in try-catch</a:t>
            </a:r>
            <a:br/>
            <a:r>
              <a:rPr>
                <a:latin typeface="Courier"/>
              </a:rPr>
              <a:t>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guard(()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update(data);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Check if error occurred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hasError)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Show snackbar, log, etc.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Optimistic Update Pattern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optimisticAdd(Item item)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1. Save current state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previousState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2. Update UI immediately</a:t>
            </a:r>
            <a:br/>
            <a:r>
              <a:rPr>
                <a:latin typeface="Courier"/>
              </a:rPr>
              <a:t>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data([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!,</a:t>
            </a:r>
            <a:r>
              <a:rPr>
                <a:latin typeface="Courier"/>
              </a:rPr>
              <a:t> item]);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3. Sync with server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add(item);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4. Revert on error</a:t>
            </a:r>
            <a:br/>
            <a:r>
              <a:rPr>
                <a:latin typeface="Courier"/>
              </a:rPr>
              <a:t>    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previousState;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rethrow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When to Use AsyncNotifierProvider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YES - Need mutations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cartProvider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YES - Need refresh/reload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ProductsNotifier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❌ NO - Just display data (use FutureProvider)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configProvider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🔥 Pro Tip: State Access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Get current value safely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currentValue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valueOrNull </a:t>
            </a:r>
            <a:r>
              <a:rPr>
                <a:solidFill>
                  <a:srgbClr val="666666"/>
                </a:solidFill>
                <a:latin typeface="Courier"/>
              </a:rPr>
              <a:t>??</a:t>
            </a:r>
            <a:r>
              <a:rPr>
                <a:latin typeface="Courier"/>
              </a:rPr>
              <a:t> [];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Check state status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isLoading)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hasError)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hasValue)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Transform state</a:t>
            </a:r>
            <a:br/>
            <a:r>
              <a:rPr>
                <a:latin typeface="Courier"/>
              </a:rPr>
              <a:t>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(data)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The key difference from FutureProvider is methods. If you need to refresh, update, or mutate your async data, AsyncNotifierProvider is your choice. Otherwise, stick with FutureProvider for simplicity.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🗺️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Choosing the Right Provider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Quick Decision Tree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🌳 Provider Selection Flowchart</a:t>
            </a:r>
          </a:p>
          <a:p>
            <a:pPr lvl="0" indent="0">
              <a:buNone/>
            </a:pPr>
            <a:r>
              <a:rPr>
                <a:latin typeface="Courier"/>
              </a:rPr>
              <a:t>Does the data change?
├─ NO → Provider (immutable)
└─ YES → Is it computed from other providers?
    ├─ YES → Provider (computed)
    └─ NO → Is it async?
        ├─ NO → NotifierProvider
        └─ YES → Is it a stream?
            ├─ YES → StreamProvider
            └─ NO → Need custom methods?
                ├─ NO → FutureProvider
                └─ YES → AsyncNotifierProvider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Quick Reference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/>
                <a:gridCol w="1231900"/>
                <a:gridCol w="232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 Type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Never changes?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config, constants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Provider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Derived from others?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Filtered list, statistics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Provider</a:t>
                      </a:r>
                      <a:r>
                        <a:rPr/>
                        <a:t> (computed)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mutable?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Counter, filter 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NotifierProvider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One-time async?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Fetch products once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FutureProvider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updates?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 news, WebSocket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StreamProvider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Async + mutations?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Cart, CRUD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AsyncNotifierProvider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Walk through the decision tree with examples. Most confusion happens between FutureProvider and AsyncNotifierProvider - the key is whether you need custom mutation methods.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Comparison Matrix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Comprehensive 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/>
                <a:gridCol w="571500"/>
                <a:gridCol w="1028700"/>
                <a:gridCol w="914400"/>
                <a:gridCol w="914400"/>
                <a:gridCol w="1143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NotifierProvider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AsyncNotifierProvider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Mutability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Continuous Updates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Auto-Dispose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Loading States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Error Handling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⚡⚡⚡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⚡⚡⚡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⚡⚡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⚡⚡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💡 Complexity Guide</a:t>
            </a:r>
          </a:p>
          <a:p>
            <a:pPr lvl="0"/>
            <a:r>
              <a:rPr/>
              <a:t>⭐ = Beginner-friendly</a:t>
            </a:r>
          </a:p>
          <a:p>
            <a:pPr lvl="0"/>
            <a:r>
              <a:rPr/>
              <a:t>⭐⭐ = Intermediate</a:t>
            </a:r>
          </a:p>
          <a:p>
            <a:pPr lvl="0"/>
            <a:r>
              <a:rPr/>
              <a:t>⭐⭐⭐ = Advanced</a:t>
            </a:r>
          </a:p>
          <a:p>
            <a:pPr lvl="0"/>
            <a:r>
              <a:rPr/>
              <a:t>⭐⭐⭐⭐ = Expert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Start with simple providers (Provider, NotifierProvider) and gradually move to async ones as needed. Don’t over-engineer - use the simplest provider that meets your needs.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Real-World Scenarios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🎬 Scenario-Based Recommendations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Scenario 1: E-Commerce App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Product catalog (read-only, cached)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Selected category filter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categoryProvider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CategoryNotifier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Filtered products (computed)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filteredProductsProvider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watch(productsProvider);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category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watch(categoryProvider);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... filtering logic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Shopping cart (CRUD operations)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cartProvider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CartItem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API config (immutable)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apiConfigProvider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ApiConfig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Scenario 2: Social Media Feed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Live feed updates (real-time)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feedProvider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Post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User profile (async with updates)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userProfileProvider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UserProfileNotifier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Like/unlike posts (mutations)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postInteractionsProvider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PostInteractionsNotifier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Feed filter (active, trending, following)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feedFilterProvider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FeedFilterNotifier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FeedFilter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Scenario 3: Todo Application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Todo list (local CRUD)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todoListProvider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TodoListNotifier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Filter (all, active, completed)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todoFilterProvider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TodoFilterNotifier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TodoFilter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Filtered todos (computed)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filteredTodosProvider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watch(todoListProvider);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watch(todoFilterProvider);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... filtering logic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Statistics (computed)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todoStatsProvider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TodoStats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todos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watch(todoListProvider);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TodoStats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from(todos);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Scenario 4: Weather App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Selected city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selectedCityProvider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CityNotifier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Weather data (re-fetches on city change)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weatherProvider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Weather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watch(selectedCityProvider);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WeatherAPI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fetchWeather(city);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City coordinates (immutable lookup)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cityCoordinatesProvider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Coordinates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Golden Rules</a:t>
            </a:r>
          </a:p>
          <a:p>
            <a:pPr lvl="0" indent="-342900" marL="342900">
              <a:buAutoNum type="arabicPeriod"/>
            </a:pPr>
            <a:r>
              <a:rPr b="1"/>
              <a:t>Start Simple</a:t>
            </a:r>
            <a:r>
              <a:rPr/>
              <a:t> → Use Provider or NotifierProvider first</a:t>
            </a:r>
          </a:p>
          <a:p>
            <a:pPr lvl="0" indent="-342900" marL="342900">
              <a:buAutoNum type="arabicPeriod"/>
            </a:pPr>
            <a:r>
              <a:rPr b="1"/>
              <a:t>Add Async</a:t>
            </a:r>
            <a:r>
              <a:rPr/>
              <a:t> → When you need network/database, add Future/Stream</a:t>
            </a:r>
          </a:p>
          <a:p>
            <a:pPr lvl="0" indent="-342900" marL="342900">
              <a:buAutoNum type="arabicPeriod"/>
            </a:pPr>
            <a:r>
              <a:rPr b="1"/>
              <a:t>Add Methods</a:t>
            </a:r>
            <a:r>
              <a:rPr/>
              <a:t> → When you need mutations, upgrade to Notifier variants</a:t>
            </a:r>
          </a:p>
          <a:p>
            <a:pPr lvl="0" indent="-342900" marL="342900">
              <a:buAutoNum type="arabicPeriod"/>
            </a:pPr>
            <a:r>
              <a:rPr b="1"/>
              <a:t>Compose</a:t>
            </a:r>
            <a:r>
              <a:rPr/>
              <a:t> → Use computed providers to combine data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Show how to evolve from simple to complex. Many apps start with NotifierProvider and only add async variants when actually needed. Don’t prematurely optimize.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🎨 Consuming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Using Providers in Your UI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Basic Consumption Patterns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📖 Three Ways to Consume Providers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1️⃣ ConsumerWidget (Recommended)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watch(myProvider);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'Value: $value'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2️⃣ Consumer (For Part of Widget Tree)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StatelessWidget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Column(</a:t>
            </a:r>
            <a:br/>
            <a:r>
              <a:rPr>
                <a:latin typeface="Courier"/>
              </a:rPr>
              <a:t>      children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Text(</a:t>
            </a:r>
            <a:r>
              <a:rPr>
                <a:solidFill>
                  <a:srgbClr val="4070A0"/>
                </a:solidFill>
                <a:latin typeface="Courier"/>
              </a:rPr>
              <a:t>'Static header'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Consumer(</a:t>
            </a:r>
            <a:br/>
            <a:r>
              <a:rPr>
                <a:latin typeface="Courier"/>
              </a:rPr>
              <a:t>          builder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child)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watch(myProvider);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'Value: $value'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]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3️⃣ ConsumerStatefulWidget (With State)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ConsumerStatefulWidget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ConsumerState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MyScreen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createState()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_MyScreenState();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_MyScreenState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ConsumerState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MyScreen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watch(myProvider);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'Value: $value'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When to Use Which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ConsumerWidget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Most cases, simple screens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Consumer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Only part of tree needs provider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ConsumerStatefulWidget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local state + providers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ConsumerWidget is your default choice. Only use Consumer when you want to minimize rebuilds to a specific part of the widget tree.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ref.watch() vs ref.read() vs ref.listen()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🔍 Understanding WidgetRef Methods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ref.watch() - Subscribe to Changes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Rebuilds when provider changes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watch(myProvider);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Use in build() method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watch(counterProvider); </a:t>
            </a:r>
            <a:r>
              <a:rPr i="1">
                <a:solidFill>
                  <a:srgbClr val="60A0B0"/>
                </a:solidFill>
                <a:latin typeface="Courier"/>
              </a:rPr>
              <a:t>// Rebuilds when count changes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'Count: $count'</a:t>
            </a:r>
            <a:r>
              <a:rPr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ref.read() - One-Time Read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Read without subscribing (no rebuild)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read(myProvider);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Use in event handlers, not build()</a:t>
            </a:r>
            <a:br/>
            <a:r>
              <a:rPr>
                <a:latin typeface="Courier"/>
              </a:rPr>
              <a:t>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read(counterProvider); </a:t>
            </a:r>
            <a:r>
              <a:rPr i="1">
                <a:solidFill>
                  <a:srgbClr val="60A0B0"/>
                </a:solidFill>
                <a:latin typeface="Courier"/>
              </a:rPr>
              <a:t>// Current value only</a:t>
            </a:r>
            <a:br/>
            <a:r>
              <a:rPr>
                <a:latin typeface="Courier"/>
              </a:rPr>
              <a:t>  print(</a:t>
            </a:r>
            <a:r>
              <a:rPr>
                <a:solidFill>
                  <a:srgbClr val="4070A0"/>
                </a:solidFill>
                <a:latin typeface="Courier"/>
              </a:rPr>
              <a:t>'Current count: $count'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Call methods on notifiers</a:t>
            </a:r>
            <a:br/>
            <a:r>
              <a:rPr>
                <a:latin typeface="Courier"/>
              </a:rPr>
              <a:t>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increment();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ref.listen() - Side Effects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React to changes without rebuilding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Listen for errors and show snackbar</a:t>
            </a:r>
            <a:br/>
            <a:r>
              <a:rPr>
                <a:latin typeface="Courier"/>
              </a:rPr>
              <a:t>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listen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AsyncValue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dataProvider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(previous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next)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(next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hasError)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ScaffoldMessenger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of(context)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showSnackBar(</a:t>
            </a:r>
            <a:br/>
            <a:r>
              <a:rPr>
                <a:latin typeface="Courier"/>
              </a:rPr>
              <a:t>          SnackBar(content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'Error: ${next.error}'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);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);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MyWidget();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Method 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0"/>
                <a:gridCol w="1219200"/>
                <a:gridCol w="12192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Rebuilds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to 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watch()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build() method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read()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 methods, one-time reads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 handlers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listen()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 effects (snackbars, navigation)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build() method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⚠️ Common Mistakes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BAD - ref.read() in build (won't rebuild)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read(counterProvider); </a:t>
            </a:r>
            <a:r>
              <a:rPr i="1">
                <a:solidFill>
                  <a:srgbClr val="60A0B0"/>
                </a:solidFill>
                <a:latin typeface="Courier"/>
              </a:rPr>
              <a:t>// Won't update!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'Count: $count'</a:t>
            </a:r>
            <a:r>
              <a:rPr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❌ BAD - ref.watch() in event handler (unnecessary subscription)</a:t>
            </a:r>
            <a:br/>
            <a:r>
              <a:rPr>
                <a:latin typeface="Courier"/>
              </a:rPr>
              <a:t>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watch(counterProvider); </a:t>
            </a:r>
            <a:r>
              <a:rPr i="1">
                <a:solidFill>
                  <a:srgbClr val="60A0B0"/>
                </a:solidFill>
                <a:latin typeface="Courier"/>
              </a:rPr>
              <a:t>// Wrong context!</a:t>
            </a:r>
            <a:br/>
            <a:r>
              <a:rPr>
                <a:latin typeface="Courier"/>
              </a:rPr>
              <a:t>  print(count);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GOOD - Correct usage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watch(counterProvider); </a:t>
            </a:r>
            <a:r>
              <a:rPr i="1">
                <a:solidFill>
                  <a:srgbClr val="60A0B0"/>
                </a:solidFill>
                <a:latin typeface="Courier"/>
              </a:rPr>
              <a:t>// Rebuilds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ElevatedButton(</a:t>
            </a:r>
            <a:br/>
            <a:r>
              <a:rPr>
                <a:latin typeface="Courier"/>
              </a:rPr>
              <a:t>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increment(); </a:t>
            </a:r>
            <a:r>
              <a:rPr i="1">
                <a:solidFill>
                  <a:srgbClr val="60A0B0"/>
                </a:solidFill>
                <a:latin typeface="Courier"/>
              </a:rPr>
              <a:t>// Call method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'Count: $count'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The golden rule - watch() in build, read() in callbacks. listen() is for side effects like showing snackbars or navigating.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Consuming Async Providers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⏳ Working with AsyncValue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Pattern 1: .when() Method (Recommended)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ProductsScreen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productsAsync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watch(productsProvider);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(products)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ListView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builder(</a:t>
            </a:r>
            <a:br/>
            <a:r>
              <a:rPr>
                <a:latin typeface="Courier"/>
              </a:rPr>
              <a:t>        itemCount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itemBuilder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ProductTile(product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products[i])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Center(child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CircularProgressIndicator())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(error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stackTrace)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Center(</a:t>
            </a:r>
            <a:br/>
            <a:r>
              <a:rPr>
                <a:latin typeface="Courier"/>
              </a:rPr>
              <a:t>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Column(</a:t>
            </a:r>
            <a:br/>
            <a:r>
              <a:rPr>
                <a:latin typeface="Courier"/>
              </a:rPr>
              <a:t>          mainAxisAlignment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MainAxisAlignment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center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children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    Icon(Icons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error_outline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size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Colors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red)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SizedBox(height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Text(</a:t>
            </a:r>
            <a:r>
              <a:rPr>
                <a:solidFill>
                  <a:srgbClr val="4070A0"/>
                </a:solidFill>
                <a:latin typeface="Courier"/>
              </a:rPr>
              <a:t>'Error: $error'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ElevatedButton(</a:t>
            </a:r>
            <a:br/>
            <a:r>
              <a:rPr>
                <a:latin typeface="Courier"/>
              </a:rPr>
              <a:t>          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refresh(productsProvider)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'Retry'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]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Pattern 2: .whenData() (When You Only Care About Data)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Shows loading indicator until data arrives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watch(productsProvider)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whenData((data)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data);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products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(list)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ProductsList(products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list)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LoadingIndicator()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ErrorWidget(error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Pattern 3: Manual State Checking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productsAsync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watch(productsProvider);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isLoading)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LoadingScreen();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hasError)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ErrorScreen(error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error);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ProductsList(products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AsyncValue Utilities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Check state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isLoading)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hasError)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hasValue)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Get value safely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valueOrNull </a:t>
            </a:r>
            <a:r>
              <a:rPr>
                <a:solidFill>
                  <a:srgbClr val="666666"/>
                </a:solidFill>
                <a:latin typeface="Courier"/>
              </a:rPr>
              <a:t>??</a:t>
            </a:r>
            <a:r>
              <a:rPr>
                <a:latin typeface="Courier"/>
              </a:rPr>
              <a:t> [];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Unwrap value (throws if error/loading)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products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requireValue;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Transform data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names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whenData((products)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products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map((p)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Handling Mutations with Async Notifiers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CartScreen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ConsumerWidget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cartAsync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watch(cartProvider);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Scaffold(</a:t>
            </a:r>
            <a:br/>
            <a:r>
              <a:rPr>
                <a:latin typeface="Courier"/>
              </a:rPr>
              <a:t>      body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cartAsync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(items)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ListView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builder(</a:t>
            </a:r>
            <a:br/>
            <a:r>
              <a:rPr>
                <a:latin typeface="Courier"/>
              </a:rPr>
              <a:t>          itemCount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itemBuilder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index)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item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items[index];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Dismissible(</a:t>
            </a:r>
            <a:br/>
            <a:r>
              <a:rPr>
                <a:latin typeface="Courier"/>
              </a:rPr>
              <a:t>              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Key(item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onDismissed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(_)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Call async method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ref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read(cartProvider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removeItem(item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id);</a:t>
            </a:r>
            <a:br/>
            <a:r>
              <a:rPr>
                <a:latin typeface="Courier"/>
              </a:rPr>
              <a:t>                    </a:t>
            </a:r>
            <a:br/>
            <a:r>
              <a:rPr>
                <a:latin typeface="Courier"/>
              </a:rPr>
              <a:t>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Show feedback</a:t>
            </a:r>
            <a:br/>
            <a:r>
              <a:rPr>
                <a:latin typeface="Courier"/>
              </a:rPr>
              <a:t>                ScaffoldMessenger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of(context)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showSnackBar(</a:t>
            </a:r>
            <a:br/>
            <a:r>
              <a:rPr>
                <a:latin typeface="Courier"/>
              </a:rPr>
              <a:t>                  SnackBar(content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'${item.name} removed'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);</a:t>
            </a:r>
            <a:br/>
            <a:r>
              <a:rPr>
                <a:latin typeface="Courier"/>
              </a:rPr>
              <a:t>      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CartItemTile(item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item)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);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LoadingShimmer()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ErrorWidget(error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floatingActionButton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FloatingActionButton(</a:t>
            </a:r>
            <a:br/>
            <a:r>
              <a:rPr>
                <a:latin typeface="Courier"/>
              </a:rPr>
              <a:t>    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read(cartProvider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refresh();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Icon(Icons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Pull to Refresh Pattern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RefreshIndicator(</a:t>
            </a:r>
            <a:br/>
            <a:r>
              <a:rPr>
                <a:latin typeface="Courier"/>
              </a:rPr>
              <a:t>  onRefresh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Refresh and wait for completion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refresh(productsProvider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future);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(products)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ProductsList(products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products)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LoadingIndicator()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ErrorWidget(error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The .when() method forces you to handle all states - this is good! It prevents forgetting error/loading states. Use .whenData() only when you’re confident about state handling elsewhere.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Key Takeaways &amp; Quick Reference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Provider Selection Checklist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Quick Decision Guide</a:t>
            </a:r>
          </a:p>
          <a:p>
            <a:pPr lvl="0" indent="0">
              <a:buNone/>
            </a:pPr>
            <a:r>
              <a:rPr>
                <a:latin typeface="Courier"/>
              </a:rPr>
              <a:t>1. Does the value ever change?
   NO  → Provider (immutable)
   YES → Continue to 2
2. Is it derived from other providers?
   YES → Provider (computed)
   NO  → Continue to 3
3. Does it involve async operations?
   NO  → NotifierProvider
   YES → Continue to 4
4. Is it a continuous stream of updates?
   YES → StreamProvider
   NO  → Continue to 5
5. Do you need custom methods to mutate the data?
   YES → AsyncNotifierProvider
   NO  → FutureProvider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Provider Types at a Glance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/>
                <a:gridCol w="9017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Provider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Immutable 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config, constants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Provider</a:t>
                      </a:r>
                      <a:r>
                        <a:rPr/>
                        <a:t> (computed)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Derived 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Filtered lists, statistics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NotifierProvider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Mutable 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Counter, selections, filters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FutureProvider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One-time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Fetch products, load config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StreamProvider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updates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 feed, WebSocket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AsyncNotifierProvider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🔄⏳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Async + mutations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Shopping cart, CRUD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🎓 Essential Patterns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1️⃣ Immutable Config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configProvider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((ref)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Config(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));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2️⃣ Computed State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filteredProvider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Provider((ref)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watch(dataProvider);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watch(filterProvider);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where((item)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matches(item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filter))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3️⃣ Simple Mutable State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CounterNotifier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increment()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4️⃣ Async Data Fetch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dataProvider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fetchData()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5️⃣ Real-Time Stream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liveProvider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autoDispose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(ref)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fetchLatest();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delayed(Duration(seconds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6️⃣ Async with Mutations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CartNotifier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AsyncNotifier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Item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build()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fetchCart();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add(Item item)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remove(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🔍 Consumption Patterns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 Build Method - Use </a:t>
            </a:r>
            <a:r>
              <a:rPr b="1">
                <a:latin typeface="Courier"/>
              </a:rPr>
              <a:t>ref.watch()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Widget build(BuildContext 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WidgetRef ref)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watch(myProvider); </a:t>
            </a:r>
            <a:r>
              <a:rPr i="1">
                <a:solidFill>
                  <a:srgbClr val="60A0B0"/>
                </a:solidFill>
                <a:latin typeface="Courier"/>
              </a:rPr>
              <a:t>// Subscribes to changes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'$value'</a:t>
            </a:r>
            <a:r>
              <a:rPr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 Event Handlers - Use </a:t>
            </a:r>
            <a:r>
              <a:rPr b="1">
                <a:latin typeface="Courier"/>
              </a:rPr>
              <a:t>ref.read()</a:t>
            </a:r>
          </a:p>
          <a:p>
            <a:pPr lvl="0" indent="0">
              <a:buNone/>
            </a:pPr>
            <a:r>
              <a:rPr>
                <a:latin typeface="Courier"/>
              </a:rPr>
              <a:t>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read(counterProvider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notifier)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increment(); </a:t>
            </a:r>
            <a:r>
              <a:rPr i="1">
                <a:solidFill>
                  <a:srgbClr val="60A0B0"/>
                </a:solidFill>
                <a:latin typeface="Courier"/>
              </a:rPr>
              <a:t>// No subscription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Side Effects - Use </a:t>
            </a:r>
            <a:r>
              <a:rPr b="1">
                <a:latin typeface="Courier"/>
              </a:rPr>
              <a:t>ref.listen()</a:t>
            </a:r>
          </a:p>
          <a:p>
            <a:pPr lvl="0" indent="0">
              <a:buNone/>
            </a:pPr>
            <a:r>
              <a:rPr>
                <a:latin typeface="Courier"/>
              </a:rPr>
              <a:t>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listen(errorProvider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(prev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next)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(next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hasError)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ScaffoldMessenger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of(context)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showSnackBar(</a:t>
            </a:r>
            <a:br/>
            <a:r>
              <a:rPr>
                <a:latin typeface="Courier"/>
              </a:rPr>
              <a:t>      SnackBar(content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'Error: ${next.error}'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Async Value Handling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watch(asyncProvider);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(data)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DataWidget(data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data)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loading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LoadingIndicator()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(error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stack)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ErrorWidget(error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error)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⚠️ Common Pitfalls to Avoid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ref.read()</a:t>
            </a:r>
            <a:r>
              <a:rPr/>
              <a:t> in build method</a:t>
            </a:r>
          </a:p>
          <a:p>
            <a:pPr lvl="0"/>
            <a:r>
              <a:rPr/>
              <a:t>Forget to handle loading/error states with async providers</a:t>
            </a:r>
          </a:p>
          <a:p>
            <a:pPr lvl="0"/>
            <a:r>
              <a:rPr/>
              <a:t>Mutate state directly (always create new objects)</a:t>
            </a:r>
          </a:p>
          <a:p>
            <a:pPr lvl="0"/>
            <a:r>
              <a:rPr/>
              <a:t>Use Provider for values that change</a:t>
            </a:r>
          </a:p>
          <a:p>
            <a:pPr lvl="0"/>
            <a:r>
              <a:rPr/>
              <a:t>Forget </a:t>
            </a:r>
            <a:r>
              <a:rPr>
                <a:latin typeface="Courier"/>
              </a:rPr>
              <a:t>.autoDispose()</a:t>
            </a:r>
            <a:r>
              <a:rPr/>
              <a:t> for screen-level streams</a:t>
            </a:r>
          </a:p>
          <a:p>
            <a:pPr lvl="0"/>
            <a:r>
              <a:rPr/>
              <a:t>Use StreamProvider for one-time data fetches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Do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ref.watch()</a:t>
            </a:r>
            <a:r>
              <a:rPr/>
              <a:t> for reactive UI updates</a:t>
            </a:r>
          </a:p>
          <a:p>
            <a:pPr lvl="0"/>
            <a:r>
              <a:rPr/>
              <a:t>Handle all AsyncValue states (loading, error, data)</a:t>
            </a:r>
          </a:p>
          <a:p>
            <a:pPr lvl="0"/>
            <a:r>
              <a:rPr/>
              <a:t>Keep state immutable (spread operators, copyWith)</a:t>
            </a:r>
          </a:p>
          <a:p>
            <a:pPr lvl="0"/>
            <a:r>
              <a:rPr/>
              <a:t>Choose the simplest provider for your needs</a:t>
            </a:r>
          </a:p>
          <a:p>
            <a:pPr lvl="0"/>
            <a:r>
              <a:rPr/>
              <a:t>Clean up streams and dispose resources</a:t>
            </a:r>
          </a:p>
          <a:p>
            <a:pPr lvl="0"/>
            <a:r>
              <a:rPr/>
              <a:t>Start simple and evolve complexity as needed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Golden Rules</a:t>
            </a:r>
          </a:p>
          <a:p>
            <a:pPr lvl="0" indent="-342900" marL="342900">
              <a:buAutoNum type="arabicPeriod"/>
            </a:pPr>
            <a:r>
              <a:rPr b="1"/>
              <a:t>Start Simple</a:t>
            </a:r>
            <a:r>
              <a:rPr/>
              <a:t> - Don’t over-engineer, use the simplest provider</a:t>
            </a:r>
          </a:p>
          <a:p>
            <a:pPr lvl="0" indent="-342900" marL="342900">
              <a:buAutoNum type="arabicPeriod"/>
            </a:pPr>
            <a:r>
              <a:rPr b="1"/>
              <a:t>Immutability</a:t>
            </a:r>
            <a:r>
              <a:rPr/>
              <a:t> - Always create new state objects, never mutate</a:t>
            </a:r>
          </a:p>
          <a:p>
            <a:pPr lvl="0" indent="-342900" marL="342900">
              <a:buAutoNum type="arabicPeriod"/>
            </a:pPr>
            <a:r>
              <a:rPr b="1"/>
              <a:t>Handle All States</a:t>
            </a:r>
            <a:r>
              <a:rPr/>
              <a:t> - Loading, error, and data for async providers</a:t>
            </a:r>
          </a:p>
          <a:p>
            <a:pPr lvl="0" indent="-342900" marL="342900">
              <a:buAutoNum type="arabicPeriod"/>
            </a:pPr>
            <a:r>
              <a:rPr b="1"/>
              <a:t>Compose</a:t>
            </a:r>
            <a:r>
              <a:rPr/>
              <a:t> - Build complex state from simple providers</a:t>
            </a:r>
          </a:p>
          <a:p>
            <a:pPr lvl="0" indent="-342900" marL="342900">
              <a:buAutoNum type="arabicPeriod"/>
            </a:pPr>
            <a:r>
              <a:rPr b="1"/>
              <a:t>Auto-Dispose</a:t>
            </a:r>
            <a:r>
              <a:rPr/>
              <a:t> - Clean up resources to prevent memory leaks</a:t>
            </a:r>
          </a:p>
          <a:p>
            <a:pPr lvl="0" indent="-342900" marL="342900">
              <a:buAutoNum type="arabicPeriod"/>
            </a:pPr>
            <a:r>
              <a:rPr b="1"/>
              <a:t>Test</a:t>
            </a:r>
            <a:r>
              <a:rPr/>
              <a:t> - Providers are easy to test in isolation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📚 Further Learning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Official Resources</a:t>
            </a:r>
          </a:p>
          <a:p>
            <a:pPr lvl="0"/>
            <a:r>
              <a:rPr>
                <a:hlinkClick r:id="rId2"/>
              </a:rPr>
              <a:t>Riverpod Documentation</a:t>
            </a:r>
          </a:p>
          <a:p>
            <a:pPr lvl="0"/>
            <a:r>
              <a:rPr>
                <a:hlinkClick r:id="rId3"/>
              </a:rPr>
              <a:t>Flutter Documentation</a:t>
            </a:r>
          </a:p>
          <a:p>
            <a:pPr lvl="0"/>
            <a:r>
              <a:rPr>
                <a:hlinkClick r:id="rId4"/>
              </a:rPr>
              <a:t>Riverpod GitHub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</a:t>
            </a:r>
          </a:p>
          <a:p>
            <a:pPr lvl="0"/>
            <a:r>
              <a:rPr/>
              <a:t>Follow Material Design 3 guidelines</a:t>
            </a:r>
          </a:p>
          <a:p>
            <a:pPr lvl="0"/>
            <a:r>
              <a:rPr/>
              <a:t>Use proper error handling</a:t>
            </a:r>
          </a:p>
          <a:p>
            <a:pPr lvl="0"/>
            <a:r>
              <a:rPr/>
              <a:t>Implement loading states</a:t>
            </a:r>
          </a:p>
          <a:p>
            <a:pPr lvl="0"/>
            <a:r>
              <a:rPr/>
              <a:t>Write unit tests for notifiers</a:t>
            </a:r>
          </a:p>
          <a:p>
            <a:pPr lvl="0"/>
            <a:r>
              <a:rPr/>
              <a:t>Keep business logic in providers, not widgets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🎬 Final Thoughts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Riverpod Philosophy</a:t>
            </a:r>
          </a:p>
          <a:p>
            <a:pPr lvl="0" indent="0" marL="1270000">
              <a:buNone/>
            </a:pPr>
            <a:r>
              <a:rPr sz="2000" b="1"/>
              <a:t>“Make the right thing easy, and the wrong thing hard”</a:t>
            </a:r>
          </a:p>
          <a:p>
            <a:pPr lvl="0" indent="0" marL="0">
              <a:buNone/>
            </a:pPr>
            <a:r>
              <a:rPr/>
              <a:t>Riverpod’s design guides you toward correct patterns: - ✅ Compile-time safety (no runtime errors) - ✅ Testability (easy to mock and test) - ✅ Composability (build complex from simple) - ✅ Performance (automatic optimization)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Remember</a:t>
            </a:r>
          </a:p>
          <a:p>
            <a:pPr lvl="0"/>
            <a:r>
              <a:rPr b="1"/>
              <a:t>Provider</a:t>
            </a:r>
            <a:r>
              <a:rPr/>
              <a:t> = Never changes</a:t>
            </a:r>
          </a:p>
          <a:p>
            <a:pPr lvl="0"/>
            <a:r>
              <a:rPr b="1"/>
              <a:t>Notifier</a:t>
            </a:r>
            <a:r>
              <a:rPr/>
              <a:t> = Changes locally</a:t>
            </a:r>
          </a:p>
          <a:p>
            <a:pPr lvl="0"/>
            <a:r>
              <a:rPr b="1"/>
              <a:t>Future</a:t>
            </a:r>
            <a:r>
              <a:rPr/>
              <a:t> = Changes once (async)</a:t>
            </a:r>
          </a:p>
          <a:p>
            <a:pPr lvl="0"/>
            <a:r>
              <a:rPr b="1"/>
              <a:t>Stream</a:t>
            </a:r>
            <a:r>
              <a:rPr/>
              <a:t> = Changes continuously</a:t>
            </a:r>
          </a:p>
          <a:p>
            <a:pPr lvl="0"/>
            <a:r>
              <a:rPr b="1"/>
              <a:t>Async + Notifier</a:t>
            </a:r>
            <a:r>
              <a:rPr/>
              <a:t> = Changes with control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💡 Quick Reference Card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Immutable config</a:t>
            </a:r>
            <a:br/>
            <a:r>
              <a:rPr>
                <a:latin typeface="Courier"/>
              </a:rPr>
              <a:t>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Computed/derived</a:t>
            </a:r>
            <a:br/>
            <a:r>
              <a:rPr>
                <a:latin typeface="Courier"/>
              </a:rPr>
              <a:t>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Mutable state</a:t>
            </a:r>
            <a:br/>
            <a:r>
              <a:rPr>
                <a:latin typeface="Courier"/>
              </a:rPr>
              <a:t>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One-time async</a:t>
            </a:r>
            <a:br/>
            <a:r>
              <a:rPr>
                <a:latin typeface="Courier"/>
              </a:rPr>
              <a:t>FutureProvider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Continuous async</a:t>
            </a:r>
            <a:br/>
            <a:r>
              <a:rPr>
                <a:latin typeface="Courier"/>
              </a:rPr>
              <a:t>StreamProvider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Async + mutations</a:t>
            </a:r>
            <a:br/>
            <a:r>
              <a:rPr>
                <a:latin typeface="Courier"/>
              </a:rPr>
              <a:t>AsyncNotifierProvider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AsyncNotifier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Consuming</a:t>
            </a:r>
            <a:br/>
            <a:r>
              <a:rPr>
                <a:latin typeface="Courier"/>
              </a:rPr>
              <a:t>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watch()   </a:t>
            </a:r>
            <a:r>
              <a:rPr i="1">
                <a:solidFill>
                  <a:srgbClr val="60A0B0"/>
                </a:solidFill>
                <a:latin typeface="Courier"/>
              </a:rPr>
              <a:t>// in build</a:t>
            </a:r>
            <a:br/>
            <a:r>
              <a:rPr>
                <a:latin typeface="Courier"/>
              </a:rPr>
              <a:t>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read()    </a:t>
            </a:r>
            <a:r>
              <a:rPr i="1">
                <a:solidFill>
                  <a:srgbClr val="60A0B0"/>
                </a:solidFill>
                <a:latin typeface="Courier"/>
              </a:rPr>
              <a:t>// in callbacks</a:t>
            </a:r>
            <a:br/>
            <a:r>
              <a:rPr>
                <a:latin typeface="Courier"/>
              </a:rPr>
              <a:t>ref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listen()  </a:t>
            </a:r>
            <a:r>
              <a:rPr i="1">
                <a:solidFill>
                  <a:srgbClr val="60A0B0"/>
                </a:solidFill>
                <a:latin typeface="Courier"/>
              </a:rPr>
              <a:t>// side effects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Async handling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when</a:t>
            </a:r>
            <a:r>
              <a:rPr>
                <a:latin typeface="Courier"/>
              </a:rPr>
              <a:t>()       </a:t>
            </a:r>
            <a:r>
              <a:rPr i="1">
                <a:solidFill>
                  <a:srgbClr val="60A0B0"/>
                </a:solidFill>
                <a:latin typeface="Courier"/>
              </a:rPr>
              <a:t>// Handle all states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whenData()   </a:t>
            </a:r>
            <a:r>
              <a:rPr i="1">
                <a:solidFill>
                  <a:srgbClr val="60A0B0"/>
                </a:solidFill>
                <a:latin typeface="Courier"/>
              </a:rPr>
              <a:t>// Transform data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valueOrNull  </a:t>
            </a:r>
            <a:r>
              <a:rPr i="1">
                <a:solidFill>
                  <a:srgbClr val="60A0B0"/>
                </a:solidFill>
                <a:latin typeface="Courier"/>
              </a:rPr>
              <a:t>// Safe access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🚀 You’re Ready!</a:t>
            </a:r>
          </a:p>
          <a:p>
            <a:pPr lvl="0" indent="0" marL="0">
              <a:buNone/>
            </a:pPr>
            <a:r>
              <a:rPr/>
              <a:t>Armed with this knowledge, you can now: - ✅ Choose the right provider for any scenario - ✅ Build reactive, performant Flutter apps - ✅ Handle async operations gracefully - ✅ Compose complex state from simple pieces - ✅ Test your state management logic</a:t>
            </a:r>
          </a:p>
          <a:p>
            <a:pPr lvl="0" indent="0" marL="0">
              <a:buNone/>
            </a:pPr>
            <a:r>
              <a:rPr b="1"/>
              <a:t>Happy coding with Riverpod! 🎉</a:t>
            </a:r>
          </a:p>
          <a:p>
            <a:pPr lvl="0" indent="0" marL="1270000">
              <a:buNone/>
            </a:pPr>
            <a:r>
              <a:rPr sz="2000"/>
              <a:t>💬 </a:t>
            </a:r>
            <a:r>
              <a:rPr sz="2000" b="1"/>
              <a:t>Speaker Note</a:t>
            </a:r>
            <a:r>
              <a:rPr sz="2000"/>
              <a:t>: End with encouragement. Riverpod seems complex at first, but once you understand the patterns, it becomes intuitive. The key is starting simple and gradually adding complexity only when needed.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2025-10-19T04:31:05Z</dcterms:created>
  <dcterms:modified xsi:type="dcterms:W3CDTF">2025-10-19T04:31:05Z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