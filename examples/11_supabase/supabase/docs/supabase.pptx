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60" r:id="rId3"/>
    <p:sldId id="261" r:id="rId4"/>
    <p:sldId id="262" r:id="rId5"/>
    <p:sldId id="264" r:id="rId6"/>
    <p:sldId id="265" r:id="rId7"/>
    <p:sldId id="266" r:id="rId8"/>
    <p:sldId id="267" r:id="rId9"/>
    <p:sldId id="263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81871" autoAdjust="0"/>
  </p:normalViewPr>
  <p:slideViewPr>
    <p:cSldViewPr snapToGrid="0" snapToObjects="1">
      <p:cViewPr varScale="1">
        <p:scale>
          <a:sx n="85" d="100"/>
          <a:sy n="85" d="100"/>
        </p:scale>
        <p:origin x="744" y="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84621-981C-4108-AE57-16395554A086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EF90B-661D-4384-B162-0657BF690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47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Migrations for versioning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Best Practices - Design with explicit constraints and </a:t>
            </a:r>
            <a:r>
              <a:rPr lang="en-US" dirty="0" err="1"/>
              <a:t>enums</a:t>
            </a:r>
            <a:r>
              <a:rPr lang="en-US" dirty="0"/>
              <a:t> (or check constraints) for data quality - Always enable RLS; craft least-privilege policies - Use views/functions for complex reads and aggregations</a:t>
            </a:r>
          </a:p>
          <a:p>
            <a:pPr marL="0" lvl="0" indent="0">
              <a:buNone/>
            </a:pPr>
            <a:r>
              <a:rPr lang="en-US" dirty="0"/>
              <a:t>Notes (speaker): Stress testing policies early; avoid broad ‘true’ policies.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F90B-661D-4384-B162-0657BF690E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72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Realtime Channels: </a:t>
            </a:r>
            <a:r>
              <a:rPr lang="en-US" dirty="0" err="1">
                <a:latin typeface="Courier"/>
              </a:rPr>
              <a:t>client.channel</a:t>
            </a:r>
            <a:r>
              <a:rPr lang="en-US" dirty="0">
                <a:latin typeface="Courier"/>
              </a:rPr>
              <a:t>(...).</a:t>
            </a:r>
            <a:r>
              <a:rPr lang="en-US" dirty="0" err="1">
                <a:latin typeface="Courier"/>
              </a:rPr>
              <a:t>onPostgresChanges</a:t>
            </a:r>
            <a:r>
              <a:rPr lang="en-US" dirty="0">
                <a:latin typeface="Courier"/>
              </a:rPr>
              <a:t>(...)</a:t>
            </a:r>
          </a:p>
          <a:p>
            <a:pPr marL="0" lvl="0" indent="0">
              <a:spcBef>
                <a:spcPts val="3000"/>
              </a:spcBef>
              <a:buNone/>
            </a:pPr>
            <a:endParaRPr lang="en-US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US" i="1" dirty="0">
                <a:solidFill>
                  <a:srgbClr val="60A0B0"/>
                </a:solidFill>
                <a:latin typeface="Courier"/>
              </a:rPr>
              <a:t>// Later: await </a:t>
            </a:r>
            <a:r>
              <a:rPr lang="en-US" i="1" dirty="0" err="1">
                <a:solidFill>
                  <a:srgbClr val="60A0B0"/>
                </a:solidFill>
                <a:latin typeface="Courier"/>
              </a:rPr>
              <a:t>channel.unsubscribe</a:t>
            </a:r>
            <a:r>
              <a:rPr lang="en-US" i="1" dirty="0">
                <a:solidFill>
                  <a:srgbClr val="60A0B0"/>
                </a:solidFill>
                <a:latin typeface="Courier"/>
              </a:rPr>
              <a:t>();</a:t>
            </a:r>
          </a:p>
          <a:p>
            <a:pPr marL="0" lvl="0" indent="0">
              <a:buNone/>
            </a:pPr>
            <a:r>
              <a:rPr lang="en-US" dirty="0"/>
              <a:t>Best Practices - Prefer stream() for lists; Channels for targeted events or multi-table logic - Debounce UI updates when batching changes - Guard with auth checks; RLS applies to </a:t>
            </a:r>
            <a:r>
              <a:rPr lang="en-US" dirty="0" err="1"/>
              <a:t>realtime</a:t>
            </a:r>
            <a:r>
              <a:rPr lang="en-US" dirty="0"/>
              <a:t> too</a:t>
            </a:r>
          </a:p>
          <a:p>
            <a:pPr marL="0" lvl="0" indent="0">
              <a:buNone/>
            </a:pPr>
            <a:r>
              <a:rPr lang="en-US" dirty="0"/>
              <a:t>Notes (speaker): Demo toggling a todo and seeing UI auto-refresh.</a:t>
            </a:r>
          </a:p>
          <a:p>
            <a:pPr marL="0" lvl="0" indent="0">
              <a:spcBef>
                <a:spcPts val="3000"/>
              </a:spcBef>
              <a:buNone/>
            </a:pPr>
            <a:endParaRPr lang="en-US" b="1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Implementation (Realtime Channel – fine-grained)</a:t>
            </a:r>
          </a:p>
          <a:p>
            <a:pPr lvl="0" indent="0">
              <a:buNone/>
            </a:pPr>
            <a:r>
              <a:rPr lang="en-US" dirty="0">
                <a:solidFill>
                  <a:srgbClr val="7D9029"/>
                </a:solidFill>
                <a:latin typeface="Courier"/>
              </a:rPr>
              <a:t>final</a:t>
            </a:r>
            <a:r>
              <a:rPr lang="en-US" dirty="0">
                <a:latin typeface="Courier"/>
              </a:rPr>
              <a:t> channel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Supabase</a:t>
            </a:r>
            <a:r>
              <a:rPr lang="en-US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instance</a:t>
            </a:r>
            <a:r>
              <a:rPr lang="en-US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client</a:t>
            </a:r>
            <a:r>
              <a:rPr lang="en-US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channel</a:t>
            </a:r>
            <a:r>
              <a:rPr lang="en-US" dirty="0">
                <a:latin typeface="Courier"/>
              </a:rPr>
              <a:t>(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</a:t>
            </a:r>
            <a:r>
              <a:rPr lang="en-US" dirty="0" err="1">
                <a:solidFill>
                  <a:srgbClr val="4070A0"/>
                </a:solidFill>
                <a:latin typeface="Courier"/>
              </a:rPr>
              <a:t>public:todos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</a:t>
            </a:r>
            <a:r>
              <a:rPr lang="en-US" dirty="0">
                <a:latin typeface="Courier"/>
              </a:rPr>
              <a:t>);</a:t>
            </a:r>
            <a:br>
              <a:rPr lang="en-US" dirty="0"/>
            </a:br>
            <a:br>
              <a:rPr lang="en-US" dirty="0"/>
            </a:br>
            <a:r>
              <a:rPr lang="en-US" dirty="0" err="1">
                <a:latin typeface="Courier"/>
              </a:rPr>
              <a:t>RealtimeChannelSubscription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?</a:t>
            </a:r>
            <a:r>
              <a:rPr lang="en-US" dirty="0">
                <a:latin typeface="Courier"/>
              </a:rPr>
              <a:t> sub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US" dirty="0">
                <a:latin typeface="Courier"/>
              </a:rPr>
              <a:t> channel</a:t>
            </a:r>
            <a:br>
              <a:rPr lang="en-US" dirty="0"/>
            </a:br>
            <a:r>
              <a:rPr lang="en-US" dirty="0">
                <a:latin typeface="Courier"/>
              </a:rPr>
              <a:t> 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onPostgresChanges</a:t>
            </a:r>
            <a:r>
              <a:rPr lang="en-US" dirty="0">
                <a:latin typeface="Courier"/>
              </a:rPr>
              <a:t>(</a:t>
            </a:r>
            <a:br>
              <a:rPr lang="en-US" dirty="0"/>
            </a:br>
            <a:r>
              <a:rPr lang="en-US" dirty="0">
                <a:latin typeface="Courier"/>
              </a:rPr>
              <a:t>    event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PostgresChangeEvent</a:t>
            </a:r>
            <a:r>
              <a:rPr lang="en-US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insert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schema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'public'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table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'todos'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callback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(payload)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US" dirty="0"/>
            </a:br>
            <a:r>
              <a:rPr lang="en-US" dirty="0">
                <a:latin typeface="Courier"/>
              </a:rPr>
              <a:t>      </a:t>
            </a:r>
            <a:r>
              <a:rPr lang="en-US" i="1" dirty="0">
                <a:solidFill>
                  <a:srgbClr val="60A0B0"/>
                </a:solidFill>
                <a:latin typeface="Courier"/>
              </a:rPr>
              <a:t>// </a:t>
            </a:r>
            <a:r>
              <a:rPr lang="en-US" i="1" dirty="0" err="1">
                <a:solidFill>
                  <a:srgbClr val="60A0B0"/>
                </a:solidFill>
                <a:latin typeface="Courier"/>
              </a:rPr>
              <a:t>payload.newRecord</a:t>
            </a:r>
            <a:r>
              <a:rPr lang="en-US" i="1" dirty="0">
                <a:solidFill>
                  <a:srgbClr val="60A0B0"/>
                </a:solidFill>
                <a:latin typeface="Courier"/>
              </a:rPr>
              <a:t> / </a:t>
            </a:r>
            <a:r>
              <a:rPr lang="en-US" i="1" dirty="0" err="1">
                <a:solidFill>
                  <a:srgbClr val="60A0B0"/>
                </a:solidFill>
                <a:latin typeface="Courier"/>
              </a:rPr>
              <a:t>payload.oldRecord</a:t>
            </a:r>
            <a:br>
              <a:rPr lang="en-US" dirty="0"/>
            </a:br>
            <a:r>
              <a:rPr lang="en-US" dirty="0">
                <a:latin typeface="Courier"/>
              </a:rPr>
              <a:t>   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},</a:t>
            </a:r>
            <a:br>
              <a:rPr lang="en-US" dirty="0"/>
            </a:br>
            <a:r>
              <a:rPr lang="en-US" dirty="0">
                <a:latin typeface="Courier"/>
              </a:rPr>
              <a:t>  )</a:t>
            </a:r>
            <a:br>
              <a:rPr lang="en-US" dirty="0"/>
            </a:br>
            <a:r>
              <a:rPr lang="en-US" dirty="0">
                <a:latin typeface="Courier"/>
              </a:rPr>
              <a:t> 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onPostgresChanges</a:t>
            </a:r>
            <a:r>
              <a:rPr lang="en-US" dirty="0">
                <a:latin typeface="Courier"/>
              </a:rPr>
              <a:t>(</a:t>
            </a:r>
            <a:br>
              <a:rPr lang="en-US" dirty="0"/>
            </a:br>
            <a:r>
              <a:rPr lang="en-US" dirty="0">
                <a:latin typeface="Courier"/>
              </a:rPr>
              <a:t>    event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PostgresChangeEvent</a:t>
            </a:r>
            <a:r>
              <a:rPr lang="en-US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 err="1">
                <a:latin typeface="Courier"/>
              </a:rPr>
              <a:t>update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schema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'public'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table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'todos'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,</a:t>
            </a:r>
            <a:br>
              <a:rPr lang="en-US" dirty="0"/>
            </a:br>
            <a:r>
              <a:rPr lang="en-US" dirty="0">
                <a:latin typeface="Courier"/>
              </a:rPr>
              <a:t>    callback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(payload)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{},</a:t>
            </a:r>
            <a:br>
              <a:rPr lang="en-US" dirty="0"/>
            </a:br>
            <a:r>
              <a:rPr lang="en-US" dirty="0">
                <a:latin typeface="Courier"/>
              </a:rPr>
              <a:t>  )</a:t>
            </a:r>
            <a:br>
              <a:rPr lang="en-US" dirty="0"/>
            </a:br>
            <a:r>
              <a:rPr lang="en-US" dirty="0">
                <a:latin typeface="Courier"/>
              </a:rPr>
              <a:t>  </a:t>
            </a:r>
            <a:r>
              <a:rPr lang="en-US" dirty="0">
                <a:solidFill>
                  <a:srgbClr val="666666"/>
                </a:solidFill>
                <a:latin typeface="Courier"/>
              </a:rPr>
              <a:t>.</a:t>
            </a:r>
            <a:r>
              <a:rPr lang="en-US" dirty="0">
                <a:latin typeface="Courier"/>
              </a:rPr>
              <a:t>subscribe();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F90B-661D-4384-B162-0657BF690E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9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Best Practices - Use hashed/UUID file names; avoid collisions - Keep buckets private and use signed URLs where possible - Clean up old files when entities are deleted</a:t>
            </a:r>
          </a:p>
          <a:p>
            <a:pPr marL="0" lvl="0" indent="0">
              <a:buNone/>
            </a:pPr>
            <a:r>
              <a:rPr lang="en-US" dirty="0"/>
              <a:t>Notes (speaker): Mention CDN caching and image resizing (Edge Functions/Transformations).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F90B-661D-4384-B162-0657BF690E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25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Best Practices - Never store service role keys in the client - Use SSO where possible; prefer </a:t>
            </a:r>
            <a:r>
              <a:rPr lang="en-US" dirty="0" err="1"/>
              <a:t>passwordless</a:t>
            </a:r>
            <a:r>
              <a:rPr lang="en-US" dirty="0"/>
              <a:t> for UX - Implement token refresh-aware network layers - Keep auth UI accessible and localize error messages</a:t>
            </a:r>
          </a:p>
          <a:p>
            <a:pPr marL="0" lvl="0" indent="0">
              <a:buNone/>
            </a:pPr>
            <a:r>
              <a:rPr lang="en-US" dirty="0"/>
              <a:t>Notes (speaker): Highlight policies tied to </a:t>
            </a:r>
            <a:r>
              <a:rPr lang="en-US" dirty="0" err="1"/>
              <a:t>auth.uid</a:t>
            </a:r>
            <a:r>
              <a:rPr lang="en-US" dirty="0"/>
              <a:t>() and testing RLS with SQL.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F90B-661D-4384-B162-0657BF690E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52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Monitor quotas (</a:t>
            </a:r>
            <a:r>
              <a:rPr lang="en-US" dirty="0" err="1"/>
              <a:t>realtime</a:t>
            </a:r>
            <a:r>
              <a:rPr lang="en-US" dirty="0"/>
              <a:t> connections, storage egress)</a:t>
            </a:r>
          </a:p>
          <a:p>
            <a:pPr marL="342900" lvl="0" indent="-342900">
              <a:buAutoNum type="arabicParenR" startAt="4"/>
            </a:pPr>
            <a:r>
              <a:rPr lang="en-US" dirty="0"/>
              <a:t>Testing</a:t>
            </a:r>
          </a:p>
          <a:p>
            <a:pPr lvl="0"/>
            <a:r>
              <a:rPr lang="en-US" dirty="0"/>
              <a:t>Unit test repositories with mocked Supabase client</a:t>
            </a:r>
          </a:p>
          <a:p>
            <a:pPr lvl="0"/>
            <a:r>
              <a:rPr lang="en-US" dirty="0"/>
              <a:t>Add integration tests hitting a staging Supabase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EF90B-661D-4384-B162-0657BF690E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3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🛢️ Supabase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3118"/>
            <a:ext cx="8229600" cy="4279692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dirty="0"/>
              <a:t>Description: A fully managed Postgres with SQL, views, triggers, policies, </a:t>
            </a:r>
            <a:r>
              <a:rPr lang="en-US" dirty="0"/>
              <a:t>and </a:t>
            </a:r>
            <a:r>
              <a:rPr dirty="0"/>
              <a:t>functions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Schema-first: design tables in SQL or the Supabase dashboard</a:t>
            </a:r>
          </a:p>
          <a:p>
            <a:pPr lvl="0"/>
            <a:r>
              <a:rPr lang="en-US" dirty="0"/>
              <a:t>Security via Row Level Security (RLS) + policies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Implementation (Skeleton)</a:t>
            </a:r>
          </a:p>
          <a:p>
            <a:pPr lvl="0" indent="0">
              <a:buNone/>
            </a:pPr>
            <a:r>
              <a:rPr sz="2200" i="1" dirty="0">
                <a:solidFill>
                  <a:srgbClr val="60A0B0"/>
                </a:solidFill>
                <a:latin typeface="Courier"/>
              </a:rPr>
              <a:t>-- Example table: todos</a:t>
            </a:r>
            <a:br>
              <a:rPr sz="2200" dirty="0"/>
            </a:br>
            <a:r>
              <a:rPr sz="2200" b="1" dirty="0">
                <a:solidFill>
                  <a:srgbClr val="007020"/>
                </a:solidFill>
                <a:latin typeface="Courier"/>
              </a:rPr>
              <a:t>create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table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if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exists</a:t>
            </a:r>
            <a:r>
              <a:rPr sz="2200" dirty="0">
                <a:latin typeface="Courier"/>
              </a:rPr>
              <a:t> </a:t>
            </a:r>
            <a:r>
              <a:rPr sz="2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sz="2200" dirty="0" err="1">
                <a:latin typeface="Courier"/>
              </a:rPr>
              <a:t>.todos</a:t>
            </a:r>
            <a:r>
              <a:rPr sz="2200" dirty="0">
                <a:latin typeface="Courier"/>
              </a:rPr>
              <a:t> (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id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uuid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primary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key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default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gen_random_uuid</a:t>
            </a:r>
            <a:r>
              <a:rPr sz="2200" dirty="0">
                <a:latin typeface="Courier"/>
              </a:rPr>
              <a:t>(),</a:t>
            </a:r>
            <a:br>
              <a:rPr sz="2200" dirty="0"/>
            </a:br>
            <a:r>
              <a:rPr sz="2200" dirty="0">
                <a:latin typeface="Courier"/>
              </a:rPr>
              <a:t>  description text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2200" dirty="0">
                <a:latin typeface="Courier"/>
              </a:rPr>
              <a:t>,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type</a:t>
            </a:r>
            <a:r>
              <a:rPr sz="2200" dirty="0">
                <a:latin typeface="Courier"/>
              </a:rPr>
              <a:t> text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check</a:t>
            </a:r>
            <a:r>
              <a:rPr sz="2200" dirty="0">
                <a:latin typeface="Courier"/>
              </a:rPr>
              <a:t> (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type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2200" dirty="0">
                <a:latin typeface="Courier"/>
              </a:rPr>
              <a:t> (</a:t>
            </a:r>
            <a:r>
              <a:rPr sz="2200" dirty="0">
                <a:solidFill>
                  <a:srgbClr val="4070A0"/>
                </a:solidFill>
                <a:latin typeface="Courier"/>
              </a:rPr>
              <a:t>'</a:t>
            </a:r>
            <a:r>
              <a:rPr sz="2200" dirty="0" err="1">
                <a:solidFill>
                  <a:srgbClr val="4070A0"/>
                </a:solidFill>
                <a:latin typeface="Courier"/>
              </a:rPr>
              <a:t>personal'</a:t>
            </a:r>
            <a:r>
              <a:rPr sz="2200" dirty="0" err="1">
                <a:latin typeface="Courier"/>
              </a:rPr>
              <a:t>,</a:t>
            </a:r>
            <a:r>
              <a:rPr sz="2200" dirty="0" err="1">
                <a:solidFill>
                  <a:srgbClr val="4070A0"/>
                </a:solidFill>
                <a:latin typeface="Courier"/>
              </a:rPr>
              <a:t>'work'</a:t>
            </a:r>
            <a:r>
              <a:rPr sz="2200" dirty="0" err="1">
                <a:latin typeface="Courier"/>
              </a:rPr>
              <a:t>,</a:t>
            </a:r>
            <a:r>
              <a:rPr sz="2200" dirty="0" err="1">
                <a:solidFill>
                  <a:srgbClr val="4070A0"/>
                </a:solidFill>
                <a:latin typeface="Courier"/>
              </a:rPr>
              <a:t>'family</a:t>
            </a:r>
            <a:r>
              <a:rPr sz="2200" dirty="0">
                <a:solidFill>
                  <a:srgbClr val="4070A0"/>
                </a:solidFill>
                <a:latin typeface="Courier"/>
              </a:rPr>
              <a:t>'</a:t>
            </a:r>
            <a:r>
              <a:rPr sz="2200" dirty="0">
                <a:latin typeface="Courier"/>
              </a:rPr>
              <a:t>)),</a:t>
            </a:r>
            <a:br>
              <a:rPr sz="2200" dirty="0"/>
            </a:br>
            <a:r>
              <a:rPr sz="2200" dirty="0">
                <a:latin typeface="Courier"/>
              </a:rPr>
              <a:t>  completed </a:t>
            </a:r>
            <a:r>
              <a:rPr sz="2200" dirty="0" err="1">
                <a:solidFill>
                  <a:srgbClr val="902000"/>
                </a:solidFill>
                <a:latin typeface="Courier"/>
              </a:rPr>
              <a:t>boolean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default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false</a:t>
            </a:r>
            <a:r>
              <a:rPr sz="2200" dirty="0">
                <a:latin typeface="Courier"/>
              </a:rPr>
              <a:t>,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dirty="0" err="1">
                <a:latin typeface="Courier"/>
              </a:rPr>
              <a:t>created_at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timestamptz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not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default</a:t>
            </a:r>
            <a:r>
              <a:rPr sz="2200" dirty="0">
                <a:latin typeface="Courier"/>
              </a:rPr>
              <a:t> now(),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dirty="0" err="1">
                <a:latin typeface="Courier"/>
              </a:rPr>
              <a:t>user_id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uuid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references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auth.users</a:t>
            </a:r>
            <a:r>
              <a:rPr sz="2200" dirty="0">
                <a:latin typeface="Courier"/>
              </a:rPr>
              <a:t>(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id</a:t>
            </a:r>
            <a:r>
              <a:rPr sz="2200" dirty="0">
                <a:latin typeface="Courier"/>
              </a:rPr>
              <a:t>)</a:t>
            </a:r>
            <a:br>
              <a:rPr sz="2200" dirty="0"/>
            </a:br>
            <a:r>
              <a:rPr sz="2200" dirty="0">
                <a:latin typeface="Courier"/>
              </a:rPr>
              <a:t>);</a:t>
            </a:r>
            <a:br>
              <a:rPr sz="2200" dirty="0"/>
            </a:br>
            <a:br>
              <a:rPr sz="2200" dirty="0"/>
            </a:br>
            <a:r>
              <a:rPr sz="2200" i="1" dirty="0">
                <a:solidFill>
                  <a:srgbClr val="60A0B0"/>
                </a:solidFill>
                <a:latin typeface="Courier"/>
              </a:rPr>
              <a:t>-- Enable RLS and add a basic policy</a:t>
            </a:r>
            <a:br>
              <a:rPr sz="2200" dirty="0"/>
            </a:br>
            <a:r>
              <a:rPr sz="2200" b="1" dirty="0">
                <a:solidFill>
                  <a:srgbClr val="007020"/>
                </a:solidFill>
                <a:latin typeface="Courier"/>
              </a:rPr>
              <a:t>alter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table</a:t>
            </a:r>
            <a:r>
              <a:rPr sz="2200" dirty="0">
                <a:latin typeface="Courier"/>
              </a:rPr>
              <a:t> </a:t>
            </a:r>
            <a:r>
              <a:rPr sz="2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sz="2200" dirty="0" err="1">
                <a:latin typeface="Courier"/>
              </a:rPr>
              <a:t>.todos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enable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row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level</a:t>
            </a:r>
            <a:r>
              <a:rPr sz="2200" dirty="0">
                <a:latin typeface="Courier"/>
              </a:rPr>
              <a:t> security;</a:t>
            </a:r>
            <a:br>
              <a:rPr sz="2200" dirty="0"/>
            </a:br>
            <a:r>
              <a:rPr sz="2200" b="1" dirty="0">
                <a:solidFill>
                  <a:srgbClr val="007020"/>
                </a:solidFill>
                <a:latin typeface="Courier"/>
              </a:rPr>
              <a:t>create</a:t>
            </a:r>
            <a:r>
              <a:rPr sz="2200" dirty="0">
                <a:latin typeface="Courier"/>
              </a:rPr>
              <a:t> policy </a:t>
            </a:r>
            <a:r>
              <a:rPr sz="2200" dirty="0">
                <a:solidFill>
                  <a:srgbClr val="007020"/>
                </a:solidFill>
                <a:latin typeface="Courier"/>
              </a:rPr>
              <a:t>"read own"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on</a:t>
            </a:r>
            <a:r>
              <a:rPr sz="2200" dirty="0">
                <a:latin typeface="Courier"/>
              </a:rPr>
              <a:t> </a:t>
            </a:r>
            <a:r>
              <a:rPr sz="2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sz="2200" dirty="0" err="1">
                <a:latin typeface="Courier"/>
              </a:rPr>
              <a:t>.todos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select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using</a:t>
            </a:r>
            <a:r>
              <a:rPr sz="2200" dirty="0">
                <a:latin typeface="Courier"/>
              </a:rPr>
              <a:t> (</a:t>
            </a:r>
            <a:r>
              <a:rPr sz="2200" dirty="0" err="1">
                <a:latin typeface="Courier"/>
              </a:rPr>
              <a:t>auth.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uid</a:t>
            </a:r>
            <a:r>
              <a:rPr sz="2200" dirty="0">
                <a:latin typeface="Courier"/>
              </a:rPr>
              <a:t>()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user_id</a:t>
            </a:r>
            <a:r>
              <a:rPr sz="2200" dirty="0">
                <a:latin typeface="Courier"/>
              </a:rPr>
              <a:t>);</a:t>
            </a:r>
            <a:br>
              <a:rPr sz="2200" dirty="0"/>
            </a:br>
            <a:r>
              <a:rPr sz="2200" b="1" dirty="0">
                <a:solidFill>
                  <a:srgbClr val="007020"/>
                </a:solidFill>
                <a:latin typeface="Courier"/>
              </a:rPr>
              <a:t>create</a:t>
            </a:r>
            <a:r>
              <a:rPr sz="2200" dirty="0">
                <a:latin typeface="Courier"/>
              </a:rPr>
              <a:t> policy </a:t>
            </a:r>
            <a:r>
              <a:rPr sz="2200" dirty="0">
                <a:solidFill>
                  <a:srgbClr val="007020"/>
                </a:solidFill>
                <a:latin typeface="Courier"/>
              </a:rPr>
              <a:t>"modify own"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on</a:t>
            </a:r>
            <a:r>
              <a:rPr sz="2200" dirty="0">
                <a:latin typeface="Courier"/>
              </a:rPr>
              <a:t> </a:t>
            </a:r>
            <a:r>
              <a:rPr sz="2200" b="1" dirty="0" err="1">
                <a:solidFill>
                  <a:srgbClr val="007020"/>
                </a:solidFill>
                <a:latin typeface="Courier"/>
              </a:rPr>
              <a:t>public</a:t>
            </a:r>
            <a:r>
              <a:rPr sz="2200" dirty="0" err="1">
                <a:latin typeface="Courier"/>
              </a:rPr>
              <a:t>.todos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for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all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using</a:t>
            </a:r>
            <a:r>
              <a:rPr sz="2200" dirty="0">
                <a:latin typeface="Courier"/>
              </a:rPr>
              <a:t> (</a:t>
            </a:r>
            <a:r>
              <a:rPr sz="2200" dirty="0" err="1">
                <a:latin typeface="Courier"/>
              </a:rPr>
              <a:t>auth.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uid</a:t>
            </a:r>
            <a:r>
              <a:rPr sz="2200" dirty="0">
                <a:latin typeface="Courier"/>
              </a:rPr>
              <a:t>()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user_id</a:t>
            </a:r>
            <a:r>
              <a:rPr sz="2200" dirty="0"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✍️ Database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/>
            <a:r>
              <a:t>Use Postgrest-style queries from the Flutter SDK</a:t>
            </a:r>
          </a:p>
          <a:p>
            <a:pPr lvl="0"/>
            <a:r>
              <a:t>Keep queries in repositories; keep widgets thin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Implementation (Flutter)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Supabase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instance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client;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CREATE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addTodo(Todo todo)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insert(todo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toJson());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READ (list)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getTodos()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select()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order(</a:t>
            </a:r>
            <a:r>
              <a:rPr>
                <a:solidFill>
                  <a:srgbClr val="4070A0"/>
                </a:solidFill>
                <a:latin typeface="Courier"/>
              </a:rPr>
              <a:t>'created_at'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ascending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(data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map((j)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fromJson(j))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toList();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READ (single)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Todo</a:t>
            </a:r>
            <a:r>
              <a:rPr>
                <a:solidFill>
                  <a:srgbClr val="666666"/>
                </a:solidFill>
                <a:latin typeface="Courier"/>
              </a:rPr>
              <a:t>?&gt;</a:t>
            </a:r>
            <a:r>
              <a:rPr>
                <a:latin typeface="Courier"/>
              </a:rPr>
              <a:t> getTodoById(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json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select()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eq(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maybeSingle();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json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fromJson(json);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UPDATE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updateTodo(Todo todo)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update(todo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toJson())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eq(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todo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DELETE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deleteTodo(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id)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delete()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eq(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COUNT</a:t>
            </a:r>
            <a:br/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getTodosCount()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from(</a:t>
            </a:r>
            <a:r>
              <a:rPr>
                <a:solidFill>
                  <a:srgbClr val="4070A0"/>
                </a:solidFill>
                <a:latin typeface="Courier"/>
              </a:rPr>
              <a:t>'todos'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select()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count(CountOption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exact);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count; </a:t>
            </a:r>
            <a:r>
              <a:rPr i="1">
                <a:solidFill>
                  <a:srgbClr val="60A0B0"/>
                </a:solidFill>
                <a:latin typeface="Courier"/>
              </a:rPr>
              <a:t>// supabase_flutter 2.x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t>Best Practices - Centralize data access in repositories; inject SupabaseClient - Paginate with range() for large lists - Use select() projections to limit payload - Always handle errors (try/catch) and show user-friendly messages</a:t>
            </a:r>
          </a:p>
          <a:p>
            <a:pPr marL="0" lvl="0" indent="0">
              <a:buNone/>
            </a:pPr>
            <a:r>
              <a:t>Notes (speaker): Mention retries/backoff for flaky networks and offline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🔔 Listen to Database Realtime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lvl="1" indent="0">
              <a:buNone/>
            </a:pPr>
            <a:r>
              <a:rPr dirty="0" err="1"/>
              <a:t>Postgrest</a:t>
            </a:r>
            <a:r>
              <a:rPr dirty="0"/>
              <a:t> Stream: </a:t>
            </a:r>
            <a:r>
              <a:rPr dirty="0">
                <a:latin typeface="Courier"/>
              </a:rPr>
              <a:t>.from('table').stream(</a:t>
            </a:r>
            <a:r>
              <a:rPr dirty="0" err="1">
                <a:latin typeface="Courier"/>
              </a:rPr>
              <a:t>primaryKey</a:t>
            </a:r>
            <a:r>
              <a:rPr dirty="0">
                <a:latin typeface="Courier"/>
              </a:rPr>
              <a:t>: ['id'])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Implementation (Stream for simple lists)</a:t>
            </a:r>
          </a:p>
          <a:p>
            <a:pPr lvl="0" indent="0">
              <a:buNone/>
            </a:pPr>
            <a:r>
              <a:rPr dirty="0">
                <a:solidFill>
                  <a:srgbClr val="902000"/>
                </a:solidFill>
                <a:latin typeface="Courier"/>
              </a:rPr>
              <a:t>Stream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solidFill>
                  <a:srgbClr val="902000"/>
                </a:solidFill>
                <a:latin typeface="Courier"/>
              </a:rPr>
              <a:t>List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Todo</a:t>
            </a:r>
            <a:r>
              <a:rPr dirty="0">
                <a:solidFill>
                  <a:srgbClr val="666666"/>
                </a:solidFill>
                <a:latin typeface="Courier"/>
              </a:rPr>
              <a:t>&gt;&gt;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observeTodos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client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Supabase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instance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client</a:t>
            </a:r>
            <a:r>
              <a:rPr dirty="0"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client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from(</a:t>
            </a:r>
            <a:r>
              <a:rPr dirty="0">
                <a:solidFill>
                  <a:srgbClr val="4070A0"/>
                </a:solidFill>
                <a:latin typeface="Courier"/>
              </a:rPr>
              <a:t>'todos'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stream(</a:t>
            </a:r>
            <a:r>
              <a:rPr dirty="0" err="1">
                <a:latin typeface="Courier"/>
              </a:rPr>
              <a:t>primaryKey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[</a:t>
            </a:r>
            <a:r>
              <a:rPr dirty="0">
                <a:solidFill>
                  <a:srgbClr val="4070A0"/>
                </a:solidFill>
                <a:latin typeface="Courier"/>
              </a:rPr>
              <a:t>'id'</a:t>
            </a:r>
            <a:r>
              <a:rPr dirty="0">
                <a:latin typeface="Courier"/>
              </a:rPr>
              <a:t>])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order(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created_at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ascending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880000"/>
                </a:solidFill>
                <a:latin typeface="Courier"/>
              </a:rPr>
              <a:t>false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map((rows) </a:t>
            </a:r>
            <a:r>
              <a:rPr dirty="0">
                <a:solidFill>
                  <a:srgbClr val="666666"/>
                </a:solidFill>
                <a:latin typeface="Courier"/>
              </a:rPr>
              <a:t>=&gt;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rows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map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Todo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fromJson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toList</a:t>
            </a:r>
            <a:r>
              <a:rPr dirty="0">
                <a:latin typeface="Courier"/>
              </a:rPr>
              <a:t>());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spcBef>
                <a:spcPts val="3000"/>
              </a:spcBef>
              <a:buNone/>
            </a:pP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🗂️ File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99069"/>
          </a:xfrm>
        </p:spPr>
        <p:txBody>
          <a:bodyPr>
            <a:normAutofit fontScale="40000" lnSpcReduction="20000"/>
          </a:bodyPr>
          <a:lstStyle/>
          <a:p>
            <a:pPr marL="0" lvl="0" indent="0">
              <a:buNone/>
            </a:pPr>
            <a:r>
              <a:rPr dirty="0"/>
              <a:t>Description: S3-like buckets with public/private access and signed URLs.</a:t>
            </a:r>
            <a:endParaRPr lang="en-US" dirty="0"/>
          </a:p>
          <a:p>
            <a:pPr lvl="0"/>
            <a:r>
              <a:rPr lang="en-US" dirty="0"/>
              <a:t>Create buckets in the Supabase dashboard</a:t>
            </a:r>
          </a:p>
          <a:p>
            <a:pPr lvl="0"/>
            <a:r>
              <a:rPr lang="en-US" dirty="0"/>
              <a:t>Store images, documents, or media; serve via public or signed URLs</a:t>
            </a:r>
          </a:p>
          <a:p>
            <a:pPr lvl="0"/>
            <a:r>
              <a:rPr lang="en-US" dirty="0"/>
              <a:t>Secure with RLS-like bucket policies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Implementation</a:t>
            </a:r>
          </a:p>
          <a:p>
            <a:pPr lvl="0" indent="0">
              <a:buNone/>
            </a:pP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storage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Supabase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instance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client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storage</a:t>
            </a:r>
            <a:r>
              <a:rPr dirty="0"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Upload bytes (e.g., from picker)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Future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uploadAvatar</a:t>
            </a:r>
            <a:r>
              <a:rPr dirty="0">
                <a:latin typeface="Courier"/>
              </a:rPr>
              <a:t>(Uint8List bytes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userId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7D9029"/>
                </a:solidFill>
                <a:latin typeface="Courier"/>
              </a:rPr>
              <a:t>async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path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'avatars/$</a:t>
            </a:r>
            <a:r>
              <a:rPr dirty="0" err="1">
                <a:solidFill>
                  <a:srgbClr val="4070A0"/>
                </a:solidFill>
                <a:latin typeface="Courier"/>
              </a:rPr>
              <a:t>userId</a:t>
            </a:r>
            <a:r>
              <a:rPr dirty="0">
                <a:solidFill>
                  <a:srgbClr val="4070A0"/>
                </a:solidFill>
                <a:latin typeface="Courier"/>
              </a:rPr>
              <a:t>-${</a:t>
            </a:r>
            <a:r>
              <a:rPr dirty="0" err="1">
                <a:solidFill>
                  <a:srgbClr val="4070A0"/>
                </a:solidFill>
                <a:latin typeface="Courier"/>
              </a:rPr>
              <a:t>DateTime.now</a:t>
            </a:r>
            <a:r>
              <a:rPr dirty="0">
                <a:solidFill>
                  <a:srgbClr val="4070A0"/>
                </a:solidFill>
                <a:latin typeface="Courier"/>
              </a:rPr>
              <a:t>().</a:t>
            </a:r>
            <a:r>
              <a:rPr dirty="0" err="1">
                <a:solidFill>
                  <a:srgbClr val="4070A0"/>
                </a:solidFill>
                <a:latin typeface="Courier"/>
              </a:rPr>
              <a:t>millisecondsSinceEpoch</a:t>
            </a:r>
            <a:r>
              <a:rPr dirty="0">
                <a:solidFill>
                  <a:srgbClr val="4070A0"/>
                </a:solidFill>
                <a:latin typeface="Courier"/>
              </a:rPr>
              <a:t>}.</a:t>
            </a:r>
            <a:r>
              <a:rPr dirty="0" err="1">
                <a:solidFill>
                  <a:srgbClr val="4070A0"/>
                </a:solidFill>
                <a:latin typeface="Courier"/>
              </a:rPr>
              <a:t>png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await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storage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from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'avatars'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uploadBinary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path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bytes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 err="1">
                <a:latin typeface="Courier"/>
              </a:rPr>
              <a:t>fileOptions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7D9029"/>
                </a:solidFill>
                <a:latin typeface="Courier"/>
              </a:rPr>
              <a:t>const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FileOptions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contentType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'image/</a:t>
            </a:r>
            <a:r>
              <a:rPr dirty="0" err="1">
                <a:solidFill>
                  <a:srgbClr val="4070A0"/>
                </a:solidFill>
                <a:latin typeface="Courier"/>
              </a:rPr>
              <a:t>png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);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i="1" dirty="0">
                <a:solidFill>
                  <a:srgbClr val="60A0B0"/>
                </a:solidFill>
                <a:latin typeface="Courier"/>
              </a:rPr>
              <a:t>// Return public URL (if bucket is public) or create a signed URL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storage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from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'avatars'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getPublicUrl</a:t>
            </a:r>
            <a:r>
              <a:rPr dirty="0">
                <a:latin typeface="Courier"/>
              </a:rPr>
              <a:t>(path);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Signed URL (private bucket)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Future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latin typeface="Courier"/>
              </a:rPr>
              <a:t>Uri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getSignedUrl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path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Duration </a:t>
            </a:r>
            <a:r>
              <a:rPr dirty="0" err="1">
                <a:latin typeface="Courier"/>
              </a:rPr>
              <a:t>ttl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7D9029"/>
                </a:solidFill>
                <a:latin typeface="Courier"/>
              </a:rPr>
              <a:t>const</a:t>
            </a:r>
            <a:r>
              <a:rPr dirty="0">
                <a:latin typeface="Courier"/>
              </a:rPr>
              <a:t> Duration(minutes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5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) </a:t>
            </a:r>
            <a:r>
              <a:rPr dirty="0">
                <a:solidFill>
                  <a:srgbClr val="7D9029"/>
                </a:solidFill>
                <a:latin typeface="Courier"/>
              </a:rPr>
              <a:t>async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url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7D9029"/>
                </a:solidFill>
                <a:latin typeface="Courier"/>
              </a:rPr>
              <a:t>await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storage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from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'avatars'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createSignedUrl</a:t>
            </a:r>
            <a:r>
              <a:rPr dirty="0">
                <a:latin typeface="Courier"/>
              </a:rPr>
              <a:t>(path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ttl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inSeconds</a:t>
            </a:r>
            <a:r>
              <a:rPr dirty="0"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Uri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parse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url</a:t>
            </a:r>
            <a:r>
              <a:rPr dirty="0">
                <a:latin typeface="Courier"/>
              </a:rPr>
              <a:t>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🔐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62777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dirty="0"/>
              <a:t>Description: Email/password, OTP/magic links, and OAuth providers (Google, Apple, etc.)</a:t>
            </a:r>
            <a:r>
              <a:rPr lang="en-US" dirty="0"/>
              <a:t>:</a:t>
            </a:r>
          </a:p>
          <a:p>
            <a:pPr lvl="0"/>
            <a:r>
              <a:rPr lang="en-US" dirty="0"/>
              <a:t>Session-based auth with refresh tokens</a:t>
            </a:r>
          </a:p>
          <a:p>
            <a:pPr lvl="0"/>
            <a:r>
              <a:rPr lang="en-US" dirty="0"/>
              <a:t>Auth state stream for UI guards</a:t>
            </a:r>
          </a:p>
          <a:p>
            <a:pPr lvl="0"/>
            <a:r>
              <a:rPr lang="en-US" dirty="0"/>
              <a:t>Policies use </a:t>
            </a:r>
            <a:r>
              <a:rPr lang="en-US" dirty="0" err="1"/>
              <a:t>auth.uid</a:t>
            </a:r>
            <a:r>
              <a:rPr lang="en-US" dirty="0"/>
              <a:t>() to restrict access</a:t>
            </a:r>
          </a:p>
          <a:p>
            <a:pPr marL="0" lvl="0" indent="0">
              <a:buNone/>
            </a:pPr>
            <a:endParaRPr dirty="0"/>
          </a:p>
          <a:p>
            <a:pPr lvl="0" indent="0">
              <a:buNone/>
            </a:pP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auth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Supabase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instance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client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auth</a:t>
            </a:r>
            <a:r>
              <a:rPr dirty="0"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Sign up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Future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signUp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email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password) </a:t>
            </a:r>
            <a:r>
              <a:rPr dirty="0">
                <a:solidFill>
                  <a:srgbClr val="7D9029"/>
                </a:solidFill>
                <a:latin typeface="Courier"/>
              </a:rPr>
              <a:t>async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await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auth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signUp</a:t>
            </a:r>
            <a:r>
              <a:rPr dirty="0">
                <a:latin typeface="Courier"/>
              </a:rPr>
              <a:t>(email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email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password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password);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Sign in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Future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signIn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email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password) </a:t>
            </a:r>
            <a:r>
              <a:rPr dirty="0">
                <a:solidFill>
                  <a:srgbClr val="7D9029"/>
                </a:solidFill>
                <a:latin typeface="Courier"/>
              </a:rPr>
              <a:t>async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await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auth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signInWithPassword</a:t>
            </a:r>
            <a:r>
              <a:rPr dirty="0">
                <a:latin typeface="Courier"/>
              </a:rPr>
              <a:t>(email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email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password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password);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Sign out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Future</a:t>
            </a:r>
            <a:r>
              <a:rPr dirty="0">
                <a:solidFill>
                  <a:srgbClr val="666666"/>
                </a:solidFill>
                <a:latin typeface="Courier"/>
              </a:rPr>
              <a:t>&lt;</a:t>
            </a: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solidFill>
                  <a:srgbClr val="666666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signOut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7D9029"/>
                </a:solidFill>
                <a:latin typeface="Courier"/>
              </a:rPr>
              <a:t>async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7D9029"/>
                </a:solidFill>
                <a:latin typeface="Courier"/>
              </a:rPr>
              <a:t>await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auth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signOut</a:t>
            </a:r>
            <a:r>
              <a:rPr dirty="0">
                <a:latin typeface="Courier"/>
              </a:rPr>
              <a:t>();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// Listen to auth state</a:t>
            </a:r>
            <a:br>
              <a:rPr dirty="0"/>
            </a:br>
            <a:r>
              <a:rPr dirty="0">
                <a:solidFill>
                  <a:srgbClr val="902000"/>
                </a:solidFill>
                <a:latin typeface="Courier"/>
              </a:rPr>
              <a:t>void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listenAuth</a:t>
            </a:r>
            <a:r>
              <a:rPr dirty="0">
                <a:latin typeface="Courier"/>
              </a:rPr>
              <a:t>()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 err="1">
                <a:latin typeface="Courier"/>
              </a:rPr>
              <a:t>auth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onAuthStateChange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listen</a:t>
            </a:r>
            <a:r>
              <a:rPr dirty="0">
                <a:latin typeface="Courier"/>
              </a:rPr>
              <a:t>((event)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session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event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session</a:t>
            </a:r>
            <a:r>
              <a:rPr dirty="0"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 navigate or rebuild providers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Auth Guard (</a:t>
            </a:r>
            <a:r>
              <a:rPr dirty="0" err="1"/>
              <a:t>GoRouter</a:t>
            </a:r>
            <a:r>
              <a:rPr dirty="0"/>
              <a:t> + Riverpod skeleton)</a:t>
            </a:r>
          </a:p>
          <a:p>
            <a:pPr lvl="0" indent="0">
              <a:buNone/>
            </a:pP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authStateProvider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StreamProvider((ref)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Supabase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instance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client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auth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onAuthStateChange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map((e) </a:t>
            </a:r>
            <a:r>
              <a:rPr dirty="0">
                <a:solidFill>
                  <a:srgbClr val="666666"/>
                </a:solidFill>
                <a:latin typeface="Courier"/>
              </a:rPr>
              <a:t>=&gt;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session</a:t>
            </a:r>
            <a:r>
              <a:rPr dirty="0">
                <a:latin typeface="Courier"/>
              </a:rPr>
              <a:t>);</a:t>
            </a:r>
            <a:br>
              <a:rPr dirty="0"/>
            </a:b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);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authGuard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GoRoute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path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'/account'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builder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(context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state) </a:t>
            </a:r>
            <a:r>
              <a:rPr dirty="0">
                <a:solidFill>
                  <a:srgbClr val="666666"/>
                </a:solidFill>
                <a:latin typeface="Courier"/>
              </a:rPr>
              <a:t>=&gt;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7D9029"/>
                </a:solidFill>
                <a:latin typeface="Courier"/>
              </a:rPr>
              <a:t>const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AccountScreen</a:t>
            </a:r>
            <a:r>
              <a:rPr dirty="0">
                <a:latin typeface="Courier"/>
              </a:rPr>
              <a:t>()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redirect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(context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state)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7D9029"/>
                </a:solidFill>
                <a:latin typeface="Courier"/>
              </a:rPr>
              <a:t>final</a:t>
            </a:r>
            <a:r>
              <a:rPr dirty="0">
                <a:latin typeface="Courier"/>
              </a:rPr>
              <a:t> session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context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read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authStateProvider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latin typeface="Courier"/>
              </a:rPr>
              <a:t>maybeWhen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  data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(s) </a:t>
            </a:r>
            <a:r>
              <a:rPr dirty="0">
                <a:solidFill>
                  <a:srgbClr val="666666"/>
                </a:solidFill>
                <a:latin typeface="Courier"/>
              </a:rPr>
              <a:t>=&gt;</a:t>
            </a:r>
            <a:r>
              <a:rPr dirty="0">
                <a:latin typeface="Courier"/>
              </a:rPr>
              <a:t> s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  </a:t>
            </a:r>
            <a:r>
              <a:rPr dirty="0" err="1">
                <a:latin typeface="Courier"/>
              </a:rPr>
              <a:t>orElse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() </a:t>
            </a:r>
            <a:r>
              <a:rPr dirty="0">
                <a:solidFill>
                  <a:srgbClr val="666666"/>
                </a:solidFill>
                <a:latin typeface="Courier"/>
              </a:rPr>
              <a:t>=&gt;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880000"/>
                </a:solidFill>
                <a:latin typeface="Courier"/>
              </a:rPr>
              <a:t>null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);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session </a:t>
            </a:r>
            <a:r>
              <a:rPr dirty="0">
                <a:solidFill>
                  <a:srgbClr val="666666"/>
                </a:solidFill>
                <a:latin typeface="Courier"/>
              </a:rPr>
              <a:t>==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880000"/>
                </a:solidFill>
                <a:latin typeface="Courier"/>
              </a:rPr>
              <a:t>null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?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'/</a:t>
            </a:r>
            <a:r>
              <a:rPr dirty="0" err="1">
                <a:solidFill>
                  <a:srgbClr val="4070A0"/>
                </a:solidFill>
                <a:latin typeface="Courier"/>
              </a:rPr>
              <a:t>signin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880000"/>
                </a:solidFill>
                <a:latin typeface="Courier"/>
              </a:rPr>
              <a:t>null</a:t>
            </a:r>
            <a:r>
              <a:rPr dirty="0"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666666"/>
                </a:solidFill>
                <a:latin typeface="Courier"/>
              </a:rPr>
              <a:t>},</a:t>
            </a:r>
            <a:br>
              <a:rPr dirty="0"/>
            </a:br>
            <a:r>
              <a:rPr dirty="0"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🧭 Architecture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sz="1800" dirty="0"/>
              <a:t>Repositories wrap Supabase client (clean separation from UI)</a:t>
            </a:r>
          </a:p>
          <a:p>
            <a:pPr lvl="0"/>
            <a:r>
              <a:rPr sz="1800" dirty="0"/>
              <a:t>Riverpod providers expose repositories and view models</a:t>
            </a:r>
          </a:p>
          <a:p>
            <a:pPr lvl="0"/>
            <a:r>
              <a:rPr sz="1800" dirty="0" err="1"/>
              <a:t>GoRouter</a:t>
            </a:r>
            <a:r>
              <a:rPr sz="1800" dirty="0"/>
              <a:t> for navigation; use guards tied to auth state</a:t>
            </a:r>
          </a:p>
          <a:p>
            <a:pPr lvl="0"/>
            <a:r>
              <a:rPr sz="1800" dirty="0"/>
              <a:t>Keep widgets presentational; avoid direct DB calls from UI</a:t>
            </a:r>
          </a:p>
          <a:p>
            <a:pPr lvl="0" indent="0">
              <a:buNone/>
            </a:pPr>
            <a:r>
              <a:rPr sz="1800" dirty="0">
                <a:solidFill>
                  <a:srgbClr val="7D9029"/>
                </a:solidFill>
                <a:latin typeface="Courier"/>
              </a:rPr>
              <a:t>final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supabaseClientProvider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Provider((ref)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=&gt;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Supabase</a:t>
            </a:r>
            <a:r>
              <a:rPr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800" dirty="0" err="1">
                <a:latin typeface="Courier"/>
              </a:rPr>
              <a:t>instance</a:t>
            </a:r>
            <a:r>
              <a:rPr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800" dirty="0" err="1">
                <a:latin typeface="Courier"/>
              </a:rPr>
              <a:t>client</a:t>
            </a:r>
            <a:r>
              <a:rPr sz="1800" dirty="0">
                <a:latin typeface="Courier"/>
              </a:rPr>
              <a:t>);</a:t>
            </a:r>
            <a:br>
              <a:rPr sz="1800" dirty="0"/>
            </a:br>
            <a:br>
              <a:rPr sz="1800" dirty="0"/>
            </a:br>
            <a:r>
              <a:rPr sz="1800" dirty="0">
                <a:solidFill>
                  <a:srgbClr val="7D9029"/>
                </a:solidFill>
                <a:latin typeface="Courier"/>
              </a:rPr>
              <a:t>final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todoRepositoryProvider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Provider((ref)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{</a:t>
            </a:r>
            <a:br>
              <a:rPr sz="1800" dirty="0"/>
            </a:br>
            <a:r>
              <a:rPr sz="1800" dirty="0">
                <a:latin typeface="Courier"/>
              </a:rPr>
              <a:t>  </a:t>
            </a:r>
            <a:r>
              <a:rPr sz="1800" dirty="0">
                <a:solidFill>
                  <a:srgbClr val="7D9029"/>
                </a:solidFill>
                <a:latin typeface="Courier"/>
              </a:rPr>
              <a:t>final</a:t>
            </a:r>
            <a:r>
              <a:rPr sz="1800" dirty="0">
                <a:latin typeface="Courier"/>
              </a:rPr>
              <a:t> client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ref</a:t>
            </a:r>
            <a:r>
              <a:rPr sz="1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1800" dirty="0" err="1">
                <a:latin typeface="Courier"/>
              </a:rPr>
              <a:t>watch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supabaseClientProvider</a:t>
            </a:r>
            <a:r>
              <a:rPr sz="1800" dirty="0">
                <a:latin typeface="Courier"/>
              </a:rPr>
              <a:t>);</a:t>
            </a:r>
            <a:br>
              <a:rPr sz="1800" dirty="0"/>
            </a:br>
            <a:r>
              <a:rPr sz="1800" dirty="0">
                <a:latin typeface="Courier"/>
              </a:rPr>
              <a:t>  </a:t>
            </a:r>
            <a:r>
              <a:rPr sz="1800"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TodoRepository</a:t>
            </a:r>
            <a:r>
              <a:rPr sz="1800" dirty="0">
                <a:latin typeface="Courier"/>
              </a:rPr>
              <a:t>(client);</a:t>
            </a:r>
            <a:br>
              <a:rPr sz="1800" dirty="0"/>
            </a:br>
            <a:r>
              <a:rPr sz="1800" dirty="0">
                <a:solidFill>
                  <a:srgbClr val="666666"/>
                </a:solidFill>
                <a:latin typeface="Courier"/>
              </a:rPr>
              <a:t>}</a:t>
            </a:r>
            <a:r>
              <a:rPr sz="1800" dirty="0">
                <a:latin typeface="Courier"/>
              </a:rP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✅ Best Practices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840292"/>
          </a:xfrm>
        </p:spPr>
        <p:txBody>
          <a:bodyPr>
            <a:normAutofit fontScale="92500"/>
          </a:bodyPr>
          <a:lstStyle/>
          <a:p>
            <a:pPr marL="342900" lvl="0" indent="-342900">
              <a:buAutoNum type="arabicParenR"/>
            </a:pPr>
            <a:r>
              <a:rPr dirty="0"/>
              <a:t>Security</a:t>
            </a:r>
          </a:p>
          <a:p>
            <a:pPr lvl="0"/>
            <a:r>
              <a:rPr dirty="0"/>
              <a:t>Enable RLS on every table; write least-privilege policies</a:t>
            </a:r>
          </a:p>
          <a:p>
            <a:pPr lvl="0"/>
            <a:r>
              <a:rPr dirty="0"/>
              <a:t>Use signed URLs for private assets; short TTLs for sensitive files</a:t>
            </a:r>
          </a:p>
          <a:p>
            <a:pPr marL="342900" lvl="0" indent="-342900">
              <a:buAutoNum type="arabicParenR" startAt="2"/>
            </a:pPr>
            <a:r>
              <a:rPr dirty="0"/>
              <a:t>Performance</a:t>
            </a:r>
          </a:p>
          <a:p>
            <a:pPr lvl="0"/>
            <a:r>
              <a:rPr dirty="0"/>
              <a:t>Use projections and pagination; avoid select(’*’) in production</a:t>
            </a:r>
          </a:p>
          <a:p>
            <a:pPr lvl="0"/>
            <a:r>
              <a:rPr dirty="0"/>
              <a:t>Prefer streams for live lists; batch UI updates</a:t>
            </a:r>
          </a:p>
          <a:p>
            <a:pPr marL="342900" lvl="0" indent="-342900">
              <a:buAutoNum type="arabicParenR" startAt="3"/>
            </a:pPr>
            <a:r>
              <a:rPr dirty="0"/>
              <a:t>DX &amp; Ops</a:t>
            </a:r>
          </a:p>
          <a:p>
            <a:pPr lvl="0"/>
            <a:r>
              <a:rPr dirty="0"/>
              <a:t>Keep migration SQL in version control</a:t>
            </a:r>
          </a:p>
          <a:p>
            <a:pPr lvl="0"/>
            <a:r>
              <a:rPr dirty="0"/>
              <a:t>Use Edge Functions for server-side logic (secrets, webhooks)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📚 References (Authoritative)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Supabase Flutter Docs: https://supabase.com/docs/guides/getting-started/quickstarts/flutter</a:t>
            </a:r>
          </a:p>
          <a:p>
            <a:pPr lvl="0"/>
            <a:r>
              <a:t>Realtime: https://supabase.com/docs/guides/realtime</a:t>
            </a:r>
          </a:p>
          <a:p>
            <a:pPr lvl="0"/>
            <a:r>
              <a:t>Storage: https://supabase.com/docs/guides/storage</a:t>
            </a:r>
          </a:p>
          <a:p>
            <a:pPr lvl="0"/>
            <a:r>
              <a:t>Auth: https://supabase.com/docs/guides/auth</a:t>
            </a:r>
          </a:p>
          <a:p>
            <a:pPr lvl="0"/>
            <a:r>
              <a:t>RLS Policies: https://supabase.com/docs/guides/auth/row-level-security</a:t>
            </a:r>
          </a:p>
          <a:p>
            <a:pPr marL="0" lvl="0" indent="0">
              <a:buNone/>
            </a:pPr>
            <a:r>
              <a:t>Notes (speaker): Encourage reading policy recipes and the table editor’s policy debugger.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📸 Access Image Gallery &amp; Camera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/>
            <a:r>
              <a:t>Use image_picker for mobile camera/gallery</a:t>
            </a:r>
          </a:p>
          <a:p>
            <a:pPr lvl="0"/>
            <a:r>
              <a:t>On web/desktop, file_picker is often more ergonomic</a:t>
            </a:r>
          </a:p>
          <a:p>
            <a:pPr lvl="0"/>
            <a:r>
              <a:t>Convert to bytes, upload to Storage; persist path in DB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Implementation (Flutter Material 3)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'dart:Uint8List'</a:t>
            </a:r>
            <a:r>
              <a:rPr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'package:flutter/material.dart'</a:t>
            </a:r>
            <a:r>
              <a:rPr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'package:image_picker/image_picker.dart'</a:t>
            </a:r>
            <a:r>
              <a:rPr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AvatarUploader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StatefulWidget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AvatarUploader(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 b="1">
                <a:solidFill>
                  <a:srgbClr val="007020"/>
                </a:solidFill>
                <a:latin typeface="Courier"/>
              </a:rPr>
              <a:t>super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State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AvatarUploader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createState()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_AvatarUploaderState();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_AvatarUploaderState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State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AvatarUploader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_picker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ImagePicker();</a:t>
            </a:r>
            <a:br/>
            <a:r>
              <a:rPr>
                <a:latin typeface="Courier"/>
              </a:rPr>
              <a:t>  Uint8List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_preview;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_busy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Future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_pickAndUpload() </a:t>
            </a:r>
            <a:r>
              <a:rPr>
                <a:solidFill>
                  <a:srgbClr val="7D9029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setState(()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_busy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file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_picker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pickImage(source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ImageSource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gallery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imageQuality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85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(file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bytes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file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readAsBytes();</a:t>
            </a:r>
            <a:br/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7D9029"/>
                </a:solidFill>
                <a:latin typeface="Courier"/>
              </a:rPr>
              <a:t>final</a:t>
            </a:r>
            <a:r>
              <a:rPr>
                <a:latin typeface="Courier"/>
              </a:rPr>
              <a:t> url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uploadAvatar(bytes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'currentUserId'</a:t>
            </a:r>
            <a:r>
              <a:rPr>
                <a:latin typeface="Courier"/>
              </a:rPr>
              <a:t>); </a:t>
            </a:r>
            <a:r>
              <a:rPr i="1">
                <a:solidFill>
                  <a:srgbClr val="60A0B0"/>
                </a:solidFill>
                <a:latin typeface="Courier"/>
              </a:rPr>
              <a:t>// call repository method</a:t>
            </a:r>
            <a:br/>
            <a:r>
              <a:rPr>
                <a:latin typeface="Courier"/>
              </a:rPr>
              <a:t>      setState(()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_preview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bytes);</a:t>
            </a:r>
            <a:br/>
            <a:r>
              <a:rPr>
                <a:latin typeface="Courier"/>
              </a:rPr>
              <a:t>      ScaffoldMessenger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of(context)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showSnackBar(</a:t>
            </a:r>
            <a:br/>
            <a:r>
              <a:rPr>
                <a:latin typeface="Courier"/>
              </a:rPr>
              <a:t>        SnackBar(content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'Uploaded! $url'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catch</a:t>
            </a:r>
            <a:r>
              <a:rPr>
                <a:latin typeface="Courier"/>
              </a:rPr>
              <a:t> (e)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ScaffoldMessenger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of(context)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showSnackBar(</a:t>
            </a:r>
            <a:br/>
            <a:r>
              <a:rPr>
                <a:latin typeface="Courier"/>
              </a:rPr>
              <a:t>        SnackBar(content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'Upload failed: $e'</a:t>
            </a:r>
            <a:r>
              <a:rPr>
                <a:latin typeface="Courier"/>
              </a:rPr>
              <a:t>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finally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(mounted) setState(()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_busy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@override</a:t>
            </a:r>
            <a:br/>
            <a:r>
              <a:rPr>
                <a:latin typeface="Courier"/>
              </a:rPr>
              <a:t>  Widget build(BuildContext context)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Column(</a:t>
            </a:r>
            <a:br/>
            <a:r>
              <a:rPr>
                <a:latin typeface="Courier"/>
              </a:rPr>
              <a:t>      children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(_preview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ClipOval(child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Image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memory(_preview</a:t>
            </a:r>
            <a:r>
              <a:rPr>
                <a:solidFill>
                  <a:srgbClr val="666666"/>
                </a:solidFill>
                <a:latin typeface="Courier"/>
              </a:rPr>
              <a:t>!,</a:t>
            </a:r>
            <a:r>
              <a:rPr>
                <a:latin typeface="Courier"/>
              </a:rPr>
              <a:t> width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height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fit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BoxFit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cover))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SizedBox(height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FilledButton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icon(</a:t>
            </a:r>
            <a:br/>
            <a:r>
              <a:rPr>
                <a:latin typeface="Courier"/>
              </a:rPr>
              <a:t>          onPressed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_busy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_pickAndUpload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icon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Icon(Icons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upload)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label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Text(</a:t>
            </a:r>
            <a:r>
              <a:rPr>
                <a:solidFill>
                  <a:srgbClr val="4070A0"/>
                </a:solidFill>
                <a:latin typeface="Courier"/>
              </a:rPr>
              <a:t>'Upload Avatar'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]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);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t>Best Practices - Respect platform storage permissions and privacy - Compress images; consider WebP/AVIF for web - Store only the storage path in DB; render via public/signed URL</a:t>
            </a:r>
          </a:p>
          <a:p>
            <a:pPr marL="0" lvl="0" indent="0">
              <a:buNone/>
            </a:pPr>
            <a:r>
              <a:t>Notes (speaker): On iOS, add NSPhotoLibraryUsageDescription/NSCameraUsageDescription.</a:t>
            </a:r>
          </a:p>
        </p:txBody>
      </p:sp>
    </p:spTree>
    <p:extLst>
      <p:ext uri="{BB962C8B-B14F-4D97-AF65-F5344CB8AC3E}">
        <p14:creationId xmlns:p14="http://schemas.microsoft.com/office/powerpoint/2010/main" val="256731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2336</Words>
  <Application>Microsoft Office PowerPoint</Application>
  <PresentationFormat>On-screen Show (16:9)</PresentationFormat>
  <Paragraphs>93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Courier</vt:lpstr>
      <vt:lpstr>Office Theme</vt:lpstr>
      <vt:lpstr>🛢️ Supabase Database</vt:lpstr>
      <vt:lpstr>✍️ Database CRUD Operations</vt:lpstr>
      <vt:lpstr>🔔 Listen to Database Realtime Updates</vt:lpstr>
      <vt:lpstr>🗂️ File Storage</vt:lpstr>
      <vt:lpstr>🔐 Authentication</vt:lpstr>
      <vt:lpstr>🧭 Architecture &amp; Patterns</vt:lpstr>
      <vt:lpstr>✅ Best Practices &amp; Recommendations</vt:lpstr>
      <vt:lpstr>📚 References (Authoritative)</vt:lpstr>
      <vt:lpstr>📸 Access Image Gallery &amp; Camera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Abdelkarim Erradi</cp:lastModifiedBy>
  <cp:revision>1</cp:revision>
  <dcterms:created xsi:type="dcterms:W3CDTF">2025-11-16T06:20:09Z</dcterms:created>
  <dcterms:modified xsi:type="dcterms:W3CDTF">2025-11-16T06:28:01Z</dcterms:modified>
</cp:coreProperties>
</file>